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5fb7aa8b7f4f44" /><Relationship Type="http://schemas.openxmlformats.org/officeDocument/2006/relationships/extended-properties" Target="/docProps/app.xml" Id="R2b79338c485a4f3f" /><Relationship Type="http://schemas.openxmlformats.org/officeDocument/2006/relationships/officeDocument" Target="/ppt/presentation.xml" Id="Rfe8630b6982b427f" /></Relationships>
</file>

<file path=ppt/presentation.xml><?xml version="1.0" encoding="utf-8"?>
<p:presentation xmlns:p="http://schemas.openxmlformats.org/presentationml/2006/main">
  <p:sldMasterIdLst>
    <p:sldMasterId xmlns:r="http://schemas.openxmlformats.org/officeDocument/2006/relationships" id="2147483648" r:id="Rbbbdcc4644974e89"/>
  </p:sldMasterIdLst>
  <p:notesMasterIdLst>
    <p:notesMasterId xmlns:r="http://schemas.openxmlformats.org/officeDocument/2006/relationships" r:id="R624e2f81a5dd471e"/>
  </p:notesMasterIdLst>
  <p:sldIdLst>
    <p:sldId xmlns:r="http://schemas.openxmlformats.org/officeDocument/2006/relationships" id="256" r:id="R16ed02304ef64d1c"/>
    <p:sldId xmlns:r="http://schemas.openxmlformats.org/officeDocument/2006/relationships" id="257" r:id="R6e4b7e1e78f143ee"/>
    <p:sldId xmlns:r="http://schemas.openxmlformats.org/officeDocument/2006/relationships" id="258" r:id="R8dbe06f4a69a4240"/>
    <p:sldId xmlns:r="http://schemas.openxmlformats.org/officeDocument/2006/relationships" id="259" r:id="Rf8054bcbb8c14576"/>
    <p:sldId xmlns:r="http://schemas.openxmlformats.org/officeDocument/2006/relationships" id="260" r:id="R68cf12ede3014aae"/>
    <p:sldId xmlns:r="http://schemas.openxmlformats.org/officeDocument/2006/relationships" id="261" r:id="Re9de9eeac2a74549"/>
    <p:sldId xmlns:r="http://schemas.openxmlformats.org/officeDocument/2006/relationships" id="262" r:id="R52ea04a64ccd40c2"/>
    <p:sldId xmlns:r="http://schemas.openxmlformats.org/officeDocument/2006/relationships" id="263" r:id="Rf3a73472c0d848ac"/>
    <p:sldId xmlns:r="http://schemas.openxmlformats.org/officeDocument/2006/relationships" id="264" r:id="R24373df33b2b4c2f"/>
    <p:sldId xmlns:r="http://schemas.openxmlformats.org/officeDocument/2006/relationships" id="265" r:id="Rb3d79e867e3246a1"/>
    <p:sldId xmlns:r="http://schemas.openxmlformats.org/officeDocument/2006/relationships" id="266" r:id="R0c813913bb7a4717"/>
    <p:sldId xmlns:r="http://schemas.openxmlformats.org/officeDocument/2006/relationships" id="267" r:id="Rb14f4ed6436b4883"/>
    <p:sldId xmlns:r="http://schemas.openxmlformats.org/officeDocument/2006/relationships" id="268" r:id="R23d69b1136c94a30"/>
    <p:sldId xmlns:r="http://schemas.openxmlformats.org/officeDocument/2006/relationships" id="269" r:id="R7f306050cc244359"/>
    <p:sldId xmlns:r="http://schemas.openxmlformats.org/officeDocument/2006/relationships" id="270" r:id="R385923def56642f5"/>
    <p:sldId xmlns:r="http://schemas.openxmlformats.org/officeDocument/2006/relationships" id="271" r:id="R681b534abe294805"/>
    <p:sldId xmlns:r="http://schemas.openxmlformats.org/officeDocument/2006/relationships" id="272" r:id="Rd12e172ae32142a1"/>
    <p:sldId xmlns:r="http://schemas.openxmlformats.org/officeDocument/2006/relationships" id="273" r:id="R51eb78680bc44d47"/>
    <p:sldId xmlns:r="http://schemas.openxmlformats.org/officeDocument/2006/relationships" id="274" r:id="R3056c990a37b465a"/>
    <p:sldId xmlns:r="http://schemas.openxmlformats.org/officeDocument/2006/relationships" id="275" r:id="Ra7312cc8a8074b54"/>
    <p:sldId xmlns:r="http://schemas.openxmlformats.org/officeDocument/2006/relationships" id="276" r:id="R1806c78ca1d2494d"/>
    <p:sldId xmlns:r="http://schemas.openxmlformats.org/officeDocument/2006/relationships" id="277" r:id="R4adeba975ce443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7ab79cdbd14df1" /><Relationship Type="http://schemas.openxmlformats.org/officeDocument/2006/relationships/slideMaster" Target="/ppt/slideMasters/slideMaster1.xml" Id="Rbbbdcc4644974e89" /><Relationship Type="http://schemas.openxmlformats.org/officeDocument/2006/relationships/notesMaster" Target="/ppt/notesMasters/notesMaster1.xml" Id="R624e2f81a5dd471e" /><Relationship Type="http://schemas.openxmlformats.org/officeDocument/2006/relationships/presProps" Target="/ppt/presProps.xml" Id="R9d330e175f274f6a" /><Relationship Type="http://schemas.openxmlformats.org/officeDocument/2006/relationships/tableStyles" Target="/ppt/tableStyles.xml" Id="Rfb84dc350e484eba" /><Relationship Type="http://schemas.openxmlformats.org/officeDocument/2006/relationships/slide" Target="/ppt/slides/slide1.xml" Id="R16ed02304ef64d1c" /><Relationship Type="http://schemas.openxmlformats.org/officeDocument/2006/relationships/slide" Target="/ppt/slides/slide2.xml" Id="R6e4b7e1e78f143ee" /><Relationship Type="http://schemas.openxmlformats.org/officeDocument/2006/relationships/slide" Target="/ppt/slides/slide3.xml" Id="R8dbe06f4a69a4240" /><Relationship Type="http://schemas.openxmlformats.org/officeDocument/2006/relationships/slide" Target="/ppt/slides/slide4.xml" Id="Rf8054bcbb8c14576" /><Relationship Type="http://schemas.openxmlformats.org/officeDocument/2006/relationships/slide" Target="/ppt/slides/slide5.xml" Id="R68cf12ede3014aae" /><Relationship Type="http://schemas.openxmlformats.org/officeDocument/2006/relationships/slide" Target="/ppt/slides/slide6.xml" Id="Re9de9eeac2a74549" /><Relationship Type="http://schemas.openxmlformats.org/officeDocument/2006/relationships/slide" Target="/ppt/slides/slide7.xml" Id="R52ea04a64ccd40c2" /><Relationship Type="http://schemas.openxmlformats.org/officeDocument/2006/relationships/slide" Target="/ppt/slides/slide8.xml" Id="Rf3a73472c0d848ac" /><Relationship Type="http://schemas.openxmlformats.org/officeDocument/2006/relationships/slide" Target="/ppt/slides/slide9.xml" Id="R24373df33b2b4c2f" /><Relationship Type="http://schemas.openxmlformats.org/officeDocument/2006/relationships/slide" Target="/ppt/slides/slide10.xml" Id="Rb3d79e867e3246a1" /><Relationship Type="http://schemas.openxmlformats.org/officeDocument/2006/relationships/slide" Target="/ppt/slides/slide11.xml" Id="R0c813913bb7a4717" /><Relationship Type="http://schemas.openxmlformats.org/officeDocument/2006/relationships/slide" Target="/ppt/slides/slide12.xml" Id="Rb14f4ed6436b4883" /><Relationship Type="http://schemas.openxmlformats.org/officeDocument/2006/relationships/slide" Target="/ppt/slides/slide13.xml" Id="R23d69b1136c94a30" /><Relationship Type="http://schemas.openxmlformats.org/officeDocument/2006/relationships/slide" Target="/ppt/slides/slide14.xml" Id="R7f306050cc244359" /><Relationship Type="http://schemas.openxmlformats.org/officeDocument/2006/relationships/slide" Target="/ppt/slides/slide15.xml" Id="R385923def56642f5" /><Relationship Type="http://schemas.openxmlformats.org/officeDocument/2006/relationships/slide" Target="/ppt/slides/slide16.xml" Id="R681b534abe294805" /><Relationship Type="http://schemas.openxmlformats.org/officeDocument/2006/relationships/slide" Target="/ppt/slides/slide17.xml" Id="Rd12e172ae32142a1" /><Relationship Type="http://schemas.openxmlformats.org/officeDocument/2006/relationships/slide" Target="/ppt/slides/slide18.xml" Id="R51eb78680bc44d47" /><Relationship Type="http://schemas.openxmlformats.org/officeDocument/2006/relationships/slide" Target="/ppt/slides/slide19.xml" Id="R3056c990a37b465a" /><Relationship Type="http://schemas.openxmlformats.org/officeDocument/2006/relationships/slide" Target="/ppt/slides/slide20.xml" Id="Ra7312cc8a8074b54" /><Relationship Type="http://schemas.openxmlformats.org/officeDocument/2006/relationships/slide" Target="/ppt/slides/slide21.xml" Id="R1806c78ca1d2494d" /><Relationship Type="http://schemas.openxmlformats.org/officeDocument/2006/relationships/slide" Target="/ppt/slides/slide22.xml" Id="R4adeba975ce443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e93b3cf61d42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0fb07461014d07" /><Relationship Type="http://schemas.openxmlformats.org/officeDocument/2006/relationships/notesMaster" Target="/ppt/notesMasters/notesMaster1.xml" Id="Rb5993b7f856e4c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2d6e3f567240a1" /><Relationship Type="http://schemas.openxmlformats.org/officeDocument/2006/relationships/notesMaster" Target="/ppt/notesMasters/notesMaster1.xml" Id="Rff4bee2e79e347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3029dec8df4f9a" /><Relationship Type="http://schemas.openxmlformats.org/officeDocument/2006/relationships/notesMaster" Target="/ppt/notesMasters/notesMaster1.xml" Id="R764a2bc2d8864a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e7565a82a644b1" /><Relationship Type="http://schemas.openxmlformats.org/officeDocument/2006/relationships/notesMaster" Target="/ppt/notesMasters/notesMaster1.xml" Id="Ree8849da8eee4f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25eedafb254f51" /><Relationship Type="http://schemas.openxmlformats.org/officeDocument/2006/relationships/notesMaster" Target="/ppt/notesMasters/notesMaster1.xml" Id="R18e940bb2cc846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dd3a48166c4d76" /><Relationship Type="http://schemas.openxmlformats.org/officeDocument/2006/relationships/notesMaster" Target="/ppt/notesMasters/notesMaster1.xml" Id="R5f0cb60ed5464d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9e65bdac564ce0" /><Relationship Type="http://schemas.openxmlformats.org/officeDocument/2006/relationships/notesMaster" Target="/ppt/notesMasters/notesMaster1.xml" Id="Ra228363f7ee94a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93aeb7030d4919" /><Relationship Type="http://schemas.openxmlformats.org/officeDocument/2006/relationships/notesMaster" Target="/ppt/notesMasters/notesMaster1.xml" Id="Rc0a8c6f0347344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edf0c0820b44af" /><Relationship Type="http://schemas.openxmlformats.org/officeDocument/2006/relationships/notesMaster" Target="/ppt/notesMasters/notesMaster1.xml" Id="R724fcfaa11fa40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0a7bd00fa94026" /><Relationship Type="http://schemas.openxmlformats.org/officeDocument/2006/relationships/notesMaster" Target="/ppt/notesMasters/notesMaster1.xml" Id="R37061cf0f42c4b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7374350db44af5" /><Relationship Type="http://schemas.openxmlformats.org/officeDocument/2006/relationships/notesMaster" Target="/ppt/notesMasters/notesMaster1.xml" Id="R16c383c8b89041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f6e27099df4902" /><Relationship Type="http://schemas.openxmlformats.org/officeDocument/2006/relationships/notesMaster" Target="/ppt/notesMasters/notesMaster1.xml" Id="R6a70e9f7447b41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38c743d01642dc" /><Relationship Type="http://schemas.openxmlformats.org/officeDocument/2006/relationships/notesMaster" Target="/ppt/notesMasters/notesMaster1.xml" Id="R7223f7af0f7d46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7c0847c79b40f8" /><Relationship Type="http://schemas.openxmlformats.org/officeDocument/2006/relationships/notesMaster" Target="/ppt/notesMasters/notesMaster1.xml" Id="R8b15f34f6a0948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77f60c050a450f" /><Relationship Type="http://schemas.openxmlformats.org/officeDocument/2006/relationships/notesMaster" Target="/ppt/notesMasters/notesMaster1.xml" Id="Reedc3bc041e542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20bb61d7054385" /><Relationship Type="http://schemas.openxmlformats.org/officeDocument/2006/relationships/notesMaster" Target="/ppt/notesMasters/notesMaster1.xml" Id="Rbe88a077f7064f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741c791e8394445" /><Relationship Type="http://schemas.openxmlformats.org/officeDocument/2006/relationships/notesMaster" Target="/ppt/notesMasters/notesMaster1.xml" Id="R0b303de5dc5540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f7093e15ed4cdc" /><Relationship Type="http://schemas.openxmlformats.org/officeDocument/2006/relationships/notesMaster" Target="/ppt/notesMasters/notesMaster1.xml" Id="Rb86d7d63484741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aea7fe571d4631" /><Relationship Type="http://schemas.openxmlformats.org/officeDocument/2006/relationships/notesMaster" Target="/ppt/notesMasters/notesMaster1.xml" Id="R477ba36ea2e9455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fe388cfadb4a8e" /><Relationship Type="http://schemas.openxmlformats.org/officeDocument/2006/relationships/notesMaster" Target="/ppt/notesMasters/notesMaster1.xml" Id="Rf2579734cd5d4f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a136155ce764c6e" /><Relationship Type="http://schemas.openxmlformats.org/officeDocument/2006/relationships/notesMaster" Target="/ppt/notesMasters/notesMaster1.xml" Id="R459d4179a69441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46e5bf665b4656" /><Relationship Type="http://schemas.openxmlformats.org/officeDocument/2006/relationships/notesMaster" Target="/ppt/notesMasters/notesMaster1.xml" Id="R8cd632c6355c4e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cô. Em là Nguyễn Thanh Chiến, lớp 24GITe. Em xin trình bày đề tài tìm hiểu hệ thống khuyến nghị bằng phương pháp lai và xây dựng nguyên mẫu ứng dụng phim ảnh. Đề tài do TS. Trần Uyên Trang hướng dẫn. Trọng tâm của bản V2 là quy trình nghiên cứu có thể tái lập và nguyên mẫu phần mềm có kiểm thử.</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Thông tin cá nhân lấy từ bìa báo cáo và mã sinh viên trong hồ sơ đề tài. Ảnh nền minh họa tạo bằng công cụ image_gen, không phải ảnh hệ thống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có năm phần theo báo cáo: tổng quan, đối tượng nghiên cứu, công nghệ sử dụng, phân tích thiết kế và sản phẩm. Trong phần sản phẩm, em trình bày cả giao diện lẫn kết quả nghiên cứu để phân biệt mức độ hoàn thiện phần mềm với chất lượng mô hình.</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ML-25M có 62.423 phim trong catalog nguồn. Vì mỗi người chỉ đánh giá một phần nhỏ, hệ thống cần xếp hạng các ứng viên chưa tương tác. Hai khó khăn chính là dữ liệu thưa và người dùng có ít hoặc chưa có lịch sử. Em phân biệt dự đoán số sao với chất lượng danh sách khuyến nghị.</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https://files.grouplens.org/datasets/movielens/ml-25m-README.html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đánh giá thành công ở hai mặt độc lập. Mặt nghiên cứu là so sánh có giao thức, không mặc định hybrid phải thắng. Mặt phần mềm là luồng ứng dụng đúng, dữ liệu có nguồn và thao tác nhất quán. Player tiếp tục mô phỏng, nên dự án chưa kiểm chứng trải nghiệm xem video thật hay mức hài lòng người dùng.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trình đọc toàn bộ ratings.csv theo chunk, xếp user theo SHA256 của chuỗi 20261015:userId rồi chọn 8.000 user. Em giữ toàn bộ lịch sử của từng user thay vì cắt các rating mới nhất. Mẫu có 1.237.592 rating và 27.498 phim được đánh giá. Cách chọn xác định giúp tái lập, nhưng không chứng minh đại diện cho mọi nhóm khán giả.</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D:\Users\BT\N3_K1\ThucTapThucTe\MovieRS\configs\research.toml</a:t>
            </a:r>
          </a:p>
          <a:p xmlns:a="http://schemas.openxmlformats.org/drawingml/2006/main">
            <a:r>
              <a:t>D:\Users\BT\N3_K1\ThucTapThucTe\MovieRS\src\data\snapshots.py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Cutoff cố định T1=2016-07-25T17:31:14Z và T2=2018-01-23T19:51:49Z. Runner fit TRAIN, chọn siêu tham số trên VAL, khóa selection rồi refit TRAIN+VAL và chấm TEST. Kết quả chính là macro NDCG@10 trên 900 user có positive, threshold 3,5. Ba seed 42, 43, 44 được trung bình trước paired user bootstrap 2.000 lần. Không sample negative item.</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D:\Users\BT\N3_K1\ThucTapThucTe\MovieRS\src\evaluation\protocol.py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nghiên cứu kết hợp điểm chuẩn hóa của BiasedSVD, genre content và Bayesian item mean. Trọng số w phụ thuộc độ dài lịch sử, cold user dùng fallback. VAL chọn tau 20, beta 0,75. MMR chọn trọng số 0 theo mục tiêu NDCG. Kết quả ablation sẽ kiểm tra riêng đóng góp fallback, genre và trọng số, thay vì quy mọi lợi ích cho hybrid.</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D:\Users\BT\N3_K1\ThucTapThucTe\MovieRS\src\models\research.py</a:t>
            </a:r>
          </a:p>
          <a:p xmlns:a="http://schemas.openxmlformats.org/drawingml/2006/main">
            <a:r>
              <a:t>D:\Users\BT\N3_K1\ThucTapThucTe\MovieRS\report\experiments\v2\selection.json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 chịu trách nhiệm giao diện và trạng thái phiên. FastAPI kiểm tra hợp đồng, bearer và quyền sở hữu. PostgreSQL trên Supabase lưu dữ liệu ứng dụng bằng Psycopg. Pipeline nghiên cứu dùng Surprise, NumPy, SciPy và Parquet. Streamlit đọc các artifact hoàn tất, không huấn luyện khi người dùng mở dashboard. Secrets ở backend, Flutter chỉ nhận API_URL.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D:\Users\BT\N3_K1\ThucTapThucTe\MovieRS\requirements.lock.txt</a:t>
            </a:r>
          </a:p>
          <a:p xmlns:a="http://schemas.openxmlformats.org/drawingml/2006/main">
            <a:r>
              <a:t>D:\Users\BT\N3_K1\ThucTapThucTe\MovieRS\mobile_app\pubspec.lock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Ứng dụng đi qua API. API đọc và ghi runtime PostgreSQL đồng thời dùng một snapshot model nhất quán. Worker chạy thủ công ngoài API, tạo bundle rồi đổi con trỏ nguyên tử sau gate. Dashboard đọc artifact nghiên cứu V2 riêng. Dữ liệu MovieLens và model lớn ở local, không upload toàn bộ tập ML-25M vào PostgreSQL.</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D:\Users\BT\N3_K1\ThucTapThucTe\MovieRS\api\services\recommender.py</a:t>
            </a:r>
          </a:p>
          <a:p xmlns:a="http://schemas.openxmlformats.org/drawingml/2006/main">
            <a:r>
              <a:t>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MovieRS có ba nhóm tác nhân. Tài khoản app có ID từ 200000 và chỉ truy cập dữ liệu thuộc mình. Bearer opaque có hạn 12 giờ, server lưu digest và hỗ trợ logout. Endpoint reload yêu cầu X-Admin-Token. Schema riêng có RLS, nhưng backend SQL owner bypass RLS nên middleware và ownership API là ranh giới xác thực thực tế.</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D:\Users\BT\N3_K1\ThucTapThucTe\MovieRS\api\security.py</a:t>
            </a:r>
          </a:p>
          <a:p xmlns:a="http://schemas.openxmlformats.org/drawingml/2006/main">
            <a:r>
              <a:t>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ERD tóm tắt đủ tám bảng runtime. Feedback, favorite và progress có PK ghép user_id, movie_id và FK tới hai bảng cha. Sessions và idempotency_keys tham chiếu app_users. schema_version độc lập. Giao dịch, unique và check bảo vệ tính nhất quán. Registry model nằm trong artifact local, không có bảng model_registry SQL.</a:t>
            </a:r>
          </a:p>
          <a:p xmlns:a="http://schemas.openxmlformats.org/drawingml/2006/main">
            <a:r>
              <a:t/>
            </a:r>
          </a:p>
          <a:p xmlns:a="http://schemas.openxmlformats.org/drawingml/2006/main">
            <a:r>
              <a:t>Nguồn: D:\Users\BT\N3_K1\ThucTapThucTe\MovieRS\supabase\schema.sql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V2 tạo snapshot bất biến từ raw và runner có watchdog ở tiến trình riêng. Cấu hình nghiên cứu nằm trong research.toml. Resume yêu cầu cùng code, config, dataset và checksum. Run lưu source_code.zip tại thời điểm chạy. Bộ metric nghiên cứu không đọc feedback ứng dụng, TMDB votes hiện tại hay model đang serving.</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D:\Users\BT\N3_K1\ThucTapThucTe\MovieRS\src\experiments\runner.py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lần favorite hoặc watch ghi dữ liệu nghiệp vụ cùng feedback và ledger trong một transaction PostgreSQL. Nguồn mạnh hơn được giữ. Bỏ favorite rút proxy favorite, không xóa sao chủ động. Xem dở không phải dislike. Online update chỉ áp dụng khi feedback thay đổi và model hỗ trợ. Mất database trả lỗi, không ghi fallback CSV.</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D:\Users\BT\N3_K1\ThucTapThucTe\MovieRS\api\repositories\postgres.py</a:t>
            </a:r>
          </a:p>
          <a:p xmlns:a="http://schemas.openxmlformats.org/drawingml/2006/main">
            <a:r>
              <a:t>D:\Users\BT\N3_K1\ThucTapThucTe\MovieRS\api\idempotency.py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so candidate và incumbent trên cùng dữ liệu validation. Gate yêu cầu NDCG không giảm, cohort trong guardrail, latency hữu hạn và RMSE không xấu đi khi cả hai hỗ trợ rating. Sau gate, worker fit lịch sử serving riêng gồm TRAIN+VAL và feedback app. Bundle hợp lệ mới thay current.json. Rollback xác minh bundle cũ trước khi đổi pointer.</a:t>
            </a:r>
          </a:p>
          <a:p xmlns:a="http://schemas.openxmlformats.org/drawingml/2006/main">
            <a:r>
              <a:t/>
            </a:r>
          </a:p>
          <a:p xmlns:a="http://schemas.openxmlformats.org/drawingml/2006/main">
            <a:r>
              <a:t>Nguồn: D:\Users\BT\N3_K1\ThucTapThucTe\MovieRS\src\pipeline\worker.py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ảnh giữ từ báo cáo gốc và chỉ minh họa bố cục nguyên mẫu V1. Ở V2, app dùng bearer, xử lý lỗi rõ và không gửi hai request để lưu favorite. Player mô phỏng chạy một giây thực tương ứng một giây phim, heartbeat năm giây, có resume và xác nhận lưu khi thoát. Model hiện phục vụ là MostPopular kết hợp genre rerank, không suy ra model V2 từ nhãn SVD trong ảnh V1.</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17, 21 và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đọc run complete và xác minh checksum. Bảy trang gồm tổng quan, dữ liệu và provenance, tính đại diện, so sánh model, phân tích đóng góp, khuyến nghị minh họa và vận hành. Loader từ chối so delta giữa các run khác dataset, protocol hoặc user. Dashboard cũng hiển thị kết quả âm và cohort để tránh chỉ chọn metric đẹp.</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report/refactor/dashboard_overview.jpg và dashboard_comparison.jpg.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sánh chính lấy baseline mạnh nhất đã chọn trên VAL là MostPopular. MostPopular đạt NDCG@10 0,280358, AdaptiveHybrid 0,118589. Delta âm 0,161770, tương đối giảm 57,70%, CI95 không chứa 0. Vì vậy kết quả hiện tại cho thấy hybrid giảm chất lượng xếp hạng theo protocol này. BiasedSVD có RMSE 0,955751 nhưng NDCG thấp, cho thấy hai mục tiêu rating và ranking khác nhau.</a:t>
            </a:r>
          </a:p>
          <a:p xmlns:a="http://schemas.openxmlformats.org/drawingml/2006/main">
            <a:r>
              <a:t/>
            </a:r>
          </a:p>
          <a:p xmlns:a="http://schemas.openxmlformats.org/drawingml/2006/main">
            <a:r>
              <a:t>Nguồn: D:\Users\BT\N3_K1\ThucTapThucTe\MovieRS\report\experiments\v2\metrics.json</a:t>
            </a:r>
          </a:p>
          <a:p xmlns:a="http://schemas.openxmlformats.org/drawingml/2006/main">
            <a:r>
              <a:t>D:\Users\BT\N3_K1\ThucTapThucTe\MovieRS\report\experiments\v2\comparisons.json</a:t>
            </a:r>
          </a:p>
          <a:p xmlns:a="http://schemas.openxmlformats.org/drawingml/2006/main">
            <a:r>
              <a:t>Run run_20261015T235317064101Z, snapshot 0bf8337c28f8baeb49a9.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với BiasedSVD thuần, hybrid có delta dương lớn. Nhưng khi đối chứng SVDSharedFallback dùng cùng cold fallback, khoảng tin cậy chứa 0. Genre cũng chưa có bằng chứng riêng. Trọng số thích ứng hơn fixed hybrid một lượng nhỏ trong phân tích thăm dò. Các đối chứng chưa hiệu chỉnh đa kiểm định nên không dùng mỗi CI dương để tuyên bố một cải tiến xác nhận.</a:t>
            </a:r>
          </a:p>
          <a:p xmlns:a="http://schemas.openxmlformats.org/drawingml/2006/main">
            <a:r>
              <a:t/>
            </a:r>
          </a:p>
          <a:p xmlns:a="http://schemas.openxmlformats.org/drawingml/2006/main">
            <a:r>
              <a:t>Nguồn: D:\Users\BT\N3_K1\ThucTapThucTe\MovieRS\report\experiments\v2\ablations.json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quét 25.000.095 dòng nguồn, không thấy null cột bắt buộc, rating sai miền hoặc cặp trùng. Tuy vậy checksum và schema không chứng minh rating phản ánh sở thích khách quan. TEST có 903 user, 561 cold user và 900 user có positive để xếp hạng. Khoảng 75,29% rating TEST thuộc cold user. Giữ positive ngoài catalog giúp headline không che phần hệ thống chưa phục vụ được.</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D:\Users\BT\N3_K1\ThucTapThucTe\MovieRS\report\experiments\v2\quality.json</a:t>
            </a:r>
          </a:p>
          <a:p xmlns:a="http://schemas.openxmlformats.org/drawingml/2006/main">
            <a:r>
              <a:t>D:\Users\BT\N3_K1\ThucTapThucTe\MovieRS\report\experiments\v2\metrics.json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con số là biên bản đã lưu ngày 16/10/2026, không phải một lần chạy mới khi tạo slide. Python 66 test passed, DB opt-in 9 passed, Flutter 9 passed. Dashboard smoke cả bảy trang, analyzer sạch và build web thành công. HTTP smoke xác nhận hợp đồng đọc, checksum trước sau giữ nguyên. Chưa thử Android/iOS vật lý, A/B test hoặc load test production.</a:t>
            </a:r>
          </a:p>
          <a:p xmlns:a="http://schemas.openxmlformats.org/drawingml/2006/main">
            <a:r>
              <a:t/>
            </a:r>
          </a:p>
          <a:p xmlns:a="http://schemas.openxmlformats.org/drawingml/2006/main">
            <a:r>
              <a:t>Nguồn: D:\Users\BT\N3_K1\ThucTapThucTe\MovieRS\report\refactor\verification_v2.json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demo, em bắt đầu ở dashboard để xác định run và nguồn số liệu. Sau bảng so sánh, em giải thích kết quả âm và ablation. Tiếp theo em đăng nhập app, thay đổi genre, ghi sao hoặc favorite rồi mô phỏng xem và resume. Cuối cùng kiểm tra health và phiên bản bundle. Demo runtime không sửa holdout nghiên cứu và không thay kết quả benchmark. Ảnh trong slide là bố cục V1 từ báo cáo.</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báo cáo Word, hình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Đóng góp chính là quy trình nghiên cứu có thể tái lập và nguyên mẫu phần mềm vận hành nhất quán. Với protocol hiện tại, MostPopular mạnh hơn hybrid. Hướng tiếp theo là tối ưu mục tiêu ranking, đối chứng BPR hoặc ALS và xác nhận trên mẫu hay cửa sổ mới đã đăng ký trước. Em cũng cần khảo sát người dùng hoặc A/B test trước khi kết luận về hài lòng thực tế. Em xin cảm ơn và mong nhận góp ý.</a:t>
            </a:r>
          </a:p>
          <a:p xmlns:a="http://schemas.openxmlformats.org/drawingml/2006/main">
            <a:r>
              <a:t/>
            </a:r>
          </a:p>
          <a:p xmlns:a="http://schemas.openxmlformats.org/drawingml/2006/main">
            <a:r>
              <a:t>Nguồn: Báo cáo MovieRS V2 đã cập nhật, các chương 4–6. Nguồn nội bộ: D:\Users\BT\N3_K1\ThucTapThucTe\MovieRS\report\REFACTOR_ACCEPTANCE.md</a:t>
            </a:r>
          </a:p>
          <a:p xmlns:a="http://schemas.openxmlformats.org/drawingml/2006/main">
            <a:r>
              <a:t>Ảnh nền tạo bằng image_gen cho bộ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acc792aea14a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422c0a069f49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54823467c044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ff85e453044c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160359bf0f47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cc24440f1441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D45A8D-D3BD-44E6-8C96-74C2FAF936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4534D5-122F-47E0-BDB2-53D8909897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9ACDA0-AFA7-4531-86CE-44EA15B224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00ED71-B68E-415B-98FD-9611E8A73D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82E3A9-C8EB-4D69-A502-C263A14251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54A0EB-E0A3-4540-8713-EC861978C8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20A238-4C38-4830-AB1B-240D0131EB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EA6541-B11E-48A7-9118-E1A0262176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A1E5C0-2E93-4E27-97A8-8D05B7EE96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8B118B-A8E7-4DA3-BAAB-2B1125DCBD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70eda79e17458d" /><Relationship Type="http://schemas.openxmlformats.org/officeDocument/2006/relationships/slideLayout" Target="/ppt/slideLayouts/slideLayout1.xml" Id="Rf9114010771f463e" /><Relationship Type="http://schemas.openxmlformats.org/officeDocument/2006/relationships/slideLayout" Target="/ppt/slideLayouts/slideLayout2.xml" Id="Rb9b912858f724e29" /><Relationship Type="http://schemas.openxmlformats.org/officeDocument/2006/relationships/slideLayout" Target="/ppt/slideLayouts/slideLayout3.xml" Id="Rc28aef4ad67e4452" /><Relationship Type="http://schemas.openxmlformats.org/officeDocument/2006/relationships/slideLayout" Target="/ppt/slideLayouts/slideLayout4.xml" Id="Rc2426e4839c04cd3" /><Relationship Type="http://schemas.openxmlformats.org/officeDocument/2006/relationships/slideLayout" Target="/ppt/slideLayouts/slideLayout5.xml" Id="R06095e9fc50247aa" /><Relationship Type="http://schemas.openxmlformats.org/officeDocument/2006/relationships/slideLayout" Target="/ppt/slideLayouts/slideLayout6.xml" Id="R6f9f17f4408243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114010771f463e"/>
    <p:sldLayoutId xmlns:r="http://schemas.openxmlformats.org/officeDocument/2006/relationships" id="2147483650" r:id="Rb9b912858f724e29"/>
    <p:sldLayoutId xmlns:r="http://schemas.openxmlformats.org/officeDocument/2006/relationships" id="2147483651" r:id="Rc28aef4ad67e4452"/>
    <p:sldLayoutId xmlns:r="http://schemas.openxmlformats.org/officeDocument/2006/relationships" id="2147483652" r:id="Rc2426e4839c04cd3"/>
    <p:sldLayoutId xmlns:r="http://schemas.openxmlformats.org/officeDocument/2006/relationships" id="2147483653" r:id="R06095e9fc50247aa"/>
    <p:sldLayoutId xmlns:r="http://schemas.openxmlformats.org/officeDocument/2006/relationships" id="2147483654" r:id="R6f9f17f4408243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f1df4467774a65" /><Relationship Type="http://schemas.openxmlformats.org/officeDocument/2006/relationships/image" Target="/ppt/media/image.png" Id="Rc8e7ca04f3634e7b" /><Relationship Type="http://schemas.openxmlformats.org/officeDocument/2006/relationships/image" Target="/ppt/media/image2.png" Id="R17de6f902fdd470b" /><Relationship Type="http://schemas.openxmlformats.org/officeDocument/2006/relationships/notesSlide" Target="/ppt/notesSlides/notesSlide1.xml" Id="R77b8c1762ec843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d63d6376dda4245" /><Relationship Type="http://schemas.openxmlformats.org/officeDocument/2006/relationships/notesSlide" Target="/ppt/notesSlides/notesSlide2.xml" Id="R4dc51296663442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ff00724076455e" /><Relationship Type="http://schemas.openxmlformats.org/officeDocument/2006/relationships/notesSlide" Target="/ppt/notesSlides/notesSlide3.xml" Id="R6efc8202110846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7ac3b102a84525" /><Relationship Type="http://schemas.openxmlformats.org/officeDocument/2006/relationships/notesSlide" Target="/ppt/notesSlides/notesSlide4.xml" Id="R2655a5ed6d7c4a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f7c8a244cbe42ef" /><Relationship Type="http://schemas.openxmlformats.org/officeDocument/2006/relationships/notesSlide" Target="/ppt/notesSlides/notesSlide5.xml" Id="Ra19263c43d2848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498eccd1fa41d3" /><Relationship Type="http://schemas.openxmlformats.org/officeDocument/2006/relationships/notesSlide" Target="/ppt/notesSlides/notesSlide6.xml" Id="R17c040bafe4e41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de5c9cfff14263" /><Relationship Type="http://schemas.openxmlformats.org/officeDocument/2006/relationships/notesSlide" Target="/ppt/notesSlides/notesSlide7.xml" Id="Ra167dea3e1194f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96673c4b6c4582" /><Relationship Type="http://schemas.openxmlformats.org/officeDocument/2006/relationships/notesSlide" Target="/ppt/notesSlides/notesSlide8.xml" Id="R164431c9fcb94c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c32d71e4fc4af7" /><Relationship Type="http://schemas.openxmlformats.org/officeDocument/2006/relationships/notesSlide" Target="/ppt/notesSlides/notesSlide9.xml" Id="R36cb5bc2ea6c4b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6e4366f17b4f5f" /><Relationship Type="http://schemas.openxmlformats.org/officeDocument/2006/relationships/notesSlide" Target="/ppt/notesSlides/notesSlide10.xml" Id="R066461377d3041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013201470b42b1" /><Relationship Type="http://schemas.openxmlformats.org/officeDocument/2006/relationships/notesSlide" Target="/ppt/notesSlides/notesSlide11.xml" Id="Rc544836bd63b41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e0cb50838a448fd" /><Relationship Type="http://schemas.openxmlformats.org/officeDocument/2006/relationships/notesSlide" Target="/ppt/notesSlides/notesSlide12.xml" Id="Rd5da3d26d0b742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d1528b02f9a4505" /><Relationship Type="http://schemas.openxmlformats.org/officeDocument/2006/relationships/notesSlide" Target="/ppt/notesSlides/notesSlide13.xml" Id="R6a3bc585e6554d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4e81f10770486c" /><Relationship Type="http://schemas.openxmlformats.org/officeDocument/2006/relationships/notesSlide" Target="/ppt/notesSlides/notesSlide14.xml" Id="R66b7ef98b8ec46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ddb5acfa37d4f3c" /><Relationship Type="http://schemas.openxmlformats.org/officeDocument/2006/relationships/image" Target="/ppt/media/image.jpeg" Id="R3bfed6e7b6e94e07" /><Relationship Type="http://schemas.openxmlformats.org/officeDocument/2006/relationships/image" Target="/ppt/media/image2.jpeg" Id="Rd112567c6ee44665" /><Relationship Type="http://schemas.openxmlformats.org/officeDocument/2006/relationships/image" Target="/ppt/media/image3.jpeg" Id="R52d8e4f8d4be4b38" /><Relationship Type="http://schemas.openxmlformats.org/officeDocument/2006/relationships/notesSlide" Target="/ppt/notesSlides/notesSlide15.xml" Id="R9bbfa6b679bd42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d326bf7fc664526" /><Relationship Type="http://schemas.openxmlformats.org/officeDocument/2006/relationships/image" Target="/ppt/media/image4.jpeg" Id="R485315c20a634347" /><Relationship Type="http://schemas.openxmlformats.org/officeDocument/2006/relationships/image" Target="/ppt/media/image5.jpeg" Id="Rc6b8d090980d4511" /><Relationship Type="http://schemas.openxmlformats.org/officeDocument/2006/relationships/notesSlide" Target="/ppt/notesSlides/notesSlide16.xml" Id="R04e3eca6c20647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745d1c545f743b1" /><Relationship Type="http://schemas.openxmlformats.org/officeDocument/2006/relationships/chart" Target="/ppt/slides/charts/chart1.xml" Id="R688d575551e24bcd" /><Relationship Type="http://schemas.openxmlformats.org/officeDocument/2006/relationships/notesSlide" Target="/ppt/notesSlides/notesSlide17.xml" Id="Re882addcf2524e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c93f5e167524da0" /><Relationship Type="http://schemas.openxmlformats.org/officeDocument/2006/relationships/notesSlide" Target="/ppt/notesSlides/notesSlide18.xml" Id="Ra6e678ac087645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41d098e459435c" /><Relationship Type="http://schemas.openxmlformats.org/officeDocument/2006/relationships/notesSlide" Target="/ppt/notesSlides/notesSlide19.xml" Id="Rb2f29a00675c4b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3ccfba7e1f4a66" /><Relationship Type="http://schemas.openxmlformats.org/officeDocument/2006/relationships/notesSlide" Target="/ppt/notesSlides/notesSlide20.xml" Id="Rab6a9c4c4bf947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08e2c3a6d5a4e78" /><Relationship Type="http://schemas.openxmlformats.org/officeDocument/2006/relationships/image" Target="/ppt/media/image6.jpeg" Id="R9634978a8d2e442d" /><Relationship Type="http://schemas.openxmlformats.org/officeDocument/2006/relationships/notesSlide" Target="/ppt/notesSlides/notesSlide21.xml" Id="R0101c69f542444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2b612b529e346af" /><Relationship Type="http://schemas.openxmlformats.org/officeDocument/2006/relationships/image" Target="/ppt/media/image3.png" Id="R989482b16035488e" /><Relationship Type="http://schemas.openxmlformats.org/officeDocument/2006/relationships/notesSlide" Target="/ppt/notesSlides/notesSlide22.xml" Id="R7afa64aad24247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NDCG@10</c:v>
          </c:tx>
          <c:spPr>
            <a:solidFill xmlns:a="http://schemas.openxmlformats.org/drawingml/2006/main">
              <a:srgbClr val="172D3D"/>
            </a:solidFill>
          </c:spPr>
          <c:invertIfNegative val="0"/>
          <c:dPt>
            <c:idx val="0"/>
            <c:invertIfNegative val="0"/>
            <c:spPr>
              <a:solidFill xmlns:a="http://schemas.openxmlformats.org/drawingml/2006/main">
                <a:srgbClr val="879DA2"/>
              </a:solidFill>
            </c:spPr>
          </c:dPt>
          <c:dPt>
            <c:idx val="1"/>
            <c:invertIfNegative val="0"/>
            <c:spPr>
              <a:solidFill xmlns:a="http://schemas.openxmlformats.org/drawingml/2006/main">
                <a:srgbClr val="879DA2"/>
              </a:solidFill>
            </c:spPr>
          </c:dPt>
          <c:dPt>
            <c:idx val="2"/>
            <c:invertIfNegative val="0"/>
            <c:spPr>
              <a:solidFill xmlns:a="http://schemas.openxmlformats.org/drawingml/2006/main">
                <a:srgbClr val="879DA2"/>
              </a:solidFill>
            </c:spPr>
          </c:dPt>
          <c:dPt>
            <c:idx val="3"/>
            <c:invertIfNegative val="0"/>
            <c:spPr>
              <a:solidFill xmlns:a="http://schemas.openxmlformats.org/drawingml/2006/main">
                <a:srgbClr val="879DA2"/>
              </a:solidFill>
            </c:spPr>
          </c:dPt>
          <c:dPt>
            <c:idx val="4"/>
            <c:invertIfNegative val="0"/>
            <c:spPr>
              <a:solidFill xmlns:a="http://schemas.openxmlformats.org/drawingml/2006/main">
                <a:srgbClr val="297E7C"/>
              </a:solidFill>
            </c:spPr>
          </c:dPt>
          <c:dPt>
            <c:idx val="5"/>
            <c:invertIfNegative val="0"/>
            <c:spPr>
              <a:solidFill xmlns:a="http://schemas.openxmlformats.org/drawingml/2006/main">
                <a:srgbClr val="879DA2"/>
              </a:solidFill>
            </c:spPr>
          </c:dPt>
          <c:dPt>
            <c:idx val="6"/>
            <c:invertIfNegative val="0"/>
            <c:spPr>
              <a:solidFill xmlns:a="http://schemas.openxmlformats.org/drawingml/2006/main">
                <a:srgbClr val="879DA2"/>
              </a:solidFill>
            </c:spPr>
          </c:dPt>
          <c:dPt>
            <c:idx val="7"/>
            <c:invertIfNegative val="0"/>
            <c:spPr>
              <a:solidFill xmlns:a="http://schemas.openxmlformats.org/drawingml/2006/main">
                <a:srgbClr val="879DA2"/>
              </a:solidFill>
            </c:spPr>
          </c:dPt>
          <c:dPt>
            <c:idx val="8"/>
            <c:invertIfNegative val="0"/>
            <c:spPr>
              <a:solidFill xmlns:a="http://schemas.openxmlformats.org/drawingml/2006/main">
                <a:srgbClr val="879DA2"/>
              </a:solidFill>
            </c:spPr>
          </c:dPt>
          <c:dPt>
            <c:idx val="9"/>
            <c:invertIfNegative val="0"/>
            <c:spPr>
              <a:solidFill xmlns:a="http://schemas.openxmlformats.org/drawingml/2006/main">
                <a:srgbClr val="879DA2"/>
              </a:solidFill>
            </c:spPr>
          </c:dPt>
          <c:dPt>
            <c:idx val="10"/>
            <c:invertIfNegative val="0"/>
            <c:spPr>
              <a:solidFill xmlns:a="http://schemas.openxmlformats.org/drawingml/2006/main">
                <a:srgbClr val="879DA2"/>
              </a:solidFill>
            </c:spPr>
          </c:dPt>
          <c:dPt>
            <c:idx val="11"/>
            <c:invertIfNegative val="0"/>
            <c:spPr>
              <a:solidFill xmlns:a="http://schemas.openxmlformats.org/drawingml/2006/main">
                <a:srgbClr val="D6AA67"/>
              </a:solidFill>
            </c:spPr>
          </c:dPt>
          <c:cat>
            <c:strRef>
              <c:f>'Chart Data'!$A$2:$A$13</c:f>
              <c:strCache>
                <c:ptCount val="12"/>
                <c:pt idx="0">
                  <c:v>BiasedSVD</c:v>
                </c:pt>
                <c:pt idx="1">
                  <c:v>GlobalMean</c:v>
                </c:pt>
                <c:pt idx="2">
                  <c:v>GenreContent</c:v>
                </c:pt>
                <c:pt idx="3">
                  <c:v>FixedHybrid</c:v>
                </c:pt>
                <c:pt idx="4">
                  <c:v>AdaptiveHybrid</c:v>
                </c:pt>
                <c:pt idx="5">
                  <c:v>AdaptiveMMR</c:v>
                </c:pt>
                <c:pt idx="6">
                  <c:v>BayesianItemMean</c:v>
                </c:pt>
                <c:pt idx="7">
                  <c:v>AdaptiveWithoutGenre</c:v>
                </c:pt>
                <c:pt idx="8">
                  <c:v>SVDSharedFallback</c:v>
                </c:pt>
                <c:pt idx="9">
                  <c:v>RegularizedBias</c:v>
                </c:pt>
                <c:pt idx="10">
                  <c:v>SparseItemKNN</c:v>
                </c:pt>
                <c:pt idx="11">
                  <c:v>MostPopular</c:v>
                </c:pt>
              </c:strCache>
            </c:strRef>
          </c:cat>
          <c:val>
            <c:numRef>
              <c:f>'Chart Data'!$B$2:$B$13</c:f>
              <c:numCache>
                <c:formatCode>0.0000</c:formatCode>
                <c:ptCount val="12"/>
                <c:pt idx="0">
                  <c:v>0.027047</c:v>
                </c:pt>
                <c:pt idx="1">
                  <c:v>0.054245</c:v>
                </c:pt>
                <c:pt idx="2">
                  <c:v>0.107684</c:v>
                </c:pt>
                <c:pt idx="3">
                  <c:v>0.11617</c:v>
                </c:pt>
                <c:pt idx="4">
                  <c:v>0.118589</c:v>
                </c:pt>
                <c:pt idx="5">
                  <c:v>0.118589</c:v>
                </c:pt>
                <c:pt idx="6">
                  <c:v>0.118847</c:v>
                </c:pt>
                <c:pt idx="7">
                  <c:v>0.12024</c:v>
                </c:pt>
                <c:pt idx="8">
                  <c:v>0.12102</c:v>
                </c:pt>
                <c:pt idx="9">
                  <c:v>0.14636</c:v>
                </c:pt>
                <c:pt idx="10">
                  <c:v>0.1577</c:v>
                </c:pt>
                <c:pt idx="11">
                  <c:v>0.280358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275">
                  <a:solidFill>
                    <a:srgbClr val="172D3D"/>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6668">
              <a:solidFill>
                <a:srgbClr val="DAD9CF"/>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526674"/>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172D3D"/>
                </a:solidFill>
                <a:latin typeface="Arial"/>
                <a:ea typeface="Arial"/>
                <a:cs typeface="Arial"/>
              </a:defRPr>
            </a:pPr>
          </a:p>
        </c:txPr>
        <c:crossAx val="48650112"/>
        <c:crossBetween val="between"/>
      </c:valAx>
      <c:spPr>
        <a:solidFill xmlns:a="http://schemas.openxmlformats.org/drawingml/2006/main">
          <a:srgbClr val="F5F1E9"/>
        </a:solidFill>
        <a:ln xmlns:a="http://schemas.openxmlformats.org/drawingml/2006/main" w="0">
          <a:noFill/>
        </a:ln>
      </c:spPr>
    </c:plotArea>
    <c:plotVisOnly val="1"/>
  </c:chart>
  <c:spPr>
    <a:solidFill xmlns:a="http://schemas.openxmlformats.org/drawingml/2006/main">
      <a:srgbClr val="F5F1E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1803645-A9CC-4D13-BC74-79DC791B8635}"/>
              </a:ext>
            </a:extLst>
          </p:cNvPr>
          <p:cNvPicPr>
            <a:picLocks xmlns:a="http://schemas.openxmlformats.org/drawingml/2006/main" noChangeAspect="1"/>
          </p:cNvPicPr>
          <p:nvPr/>
        </p:nvPicPr>
        <p:blipFill>
          <a:blip xmlns:r="http://schemas.openxmlformats.org/officeDocument/2006/relationships" xmlns:a="http://schemas.openxmlformats.org/drawingml/2006/main" r:embed="Rc8e7ca04f3634e7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EC6598C-B716-480C-8390-0B0B0ACB5672}"/>
              </a:ext>
            </a:extLst>
          </p:cNvPr>
          <p:cNvPicPr>
            <a:picLocks xmlns:a="http://schemas.openxmlformats.org/drawingml/2006/main" noChangeAspect="1"/>
          </p:cNvPicPr>
          <p:nvPr/>
        </p:nvPicPr>
        <p:blipFill>
          <a:blip xmlns:r="http://schemas.openxmlformats.org/officeDocument/2006/relationships" xmlns:a="http://schemas.openxmlformats.org/drawingml/2006/main" r:embed="R17de6f902fdd470b"/>
          <a:stretch xmlns:a="http://schemas.openxmlformats.org/drawingml/2006/main"/>
        </p:blipFill>
        <p:spPr>
          <a:xfrm xmlns:a="http://schemas.openxmlformats.org/drawingml/2006/main">
            <a:off x="571500" y="268665"/>
            <a:ext cx="4762500" cy="491369"/>
          </a:xfrm>
          <a:prstGeom xmlns:a="http://schemas.openxmlformats.org/drawingml/2006/main" prst="rect">
            <a:avLst/>
          </a:prstGeom>
        </p:spPr>
      </p:pic>
      <p:sp>
        <p:nvSpPr>
          <p:cNvPr id="3" name="BÁO CÁO THỰC TẬP THỰC TẾ">
            <a:extLst xmlns:a="http://schemas.openxmlformats.org/drawingml/2006/main">
              <a:ext uri="{FF2B5EF4-FFF2-40B4-BE49-F238E27FC236}">
                <a16:creationId xmlns:a16="http://schemas.microsoft.com/office/drawing/2014/main" id="{5CA8BC1A-8F5E-44EF-9D80-57994E36616A}"/>
              </a:ext>
            </a:extLst>
          </p:cNvPr>
          <p:cNvSpPr>
            <a:spLocks xmlns:a="http://schemas.openxmlformats.org/drawingml/2006/main" noGrp="1"/>
          </p:cNvSpPr>
          <p:nvPr/>
        </p:nvSpPr>
        <p:spPr>
          <a:xfrm xmlns:a="http://schemas.openxmlformats.org/drawingml/2006/main">
            <a:off x="590550" y="1076325"/>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D6AA67"/>
                </a:solidFill>
                <a:latin typeface="Arial"/>
                <a:ea typeface="Arial"/>
                <a:cs typeface="Arial"/>
              </a:defRPr>
            </a:defPPr>
            <a:lvl1pPr algn="l">
              <a:defRPr sz="1350" b="1">
                <a:solidFill>
                  <a:srgbClr val="D6AA67"/>
                </a:solidFill>
                <a:latin typeface="Arial"/>
                <a:ea typeface="Arial"/>
                <a:cs typeface="Arial"/>
              </a:defRPr>
            </a:lvl1pPr>
            <a:lvl2pPr algn="l">
              <a:defRPr sz="1350" b="1">
                <a:solidFill>
                  <a:srgbClr val="D6AA67"/>
                </a:solidFill>
                <a:latin typeface="Arial"/>
                <a:ea typeface="Arial"/>
                <a:cs typeface="Arial"/>
              </a:defRPr>
            </a:lvl2pPr>
            <a:lvl3pPr algn="l">
              <a:defRPr sz="1350" b="1">
                <a:solidFill>
                  <a:srgbClr val="D6AA67"/>
                </a:solidFill>
                <a:latin typeface="Arial"/>
                <a:ea typeface="Arial"/>
                <a:cs typeface="Arial"/>
              </a:defRPr>
            </a:lvl3pPr>
            <a:lvl4pPr algn="l">
              <a:defRPr sz="1350" b="1">
                <a:solidFill>
                  <a:srgbClr val="D6AA67"/>
                </a:solidFill>
                <a:latin typeface="Arial"/>
                <a:ea typeface="Arial"/>
                <a:cs typeface="Arial"/>
              </a:defRPr>
            </a:lvl4pPr>
            <a:lvl5pPr algn="l">
              <a:defRPr sz="1350" b="1">
                <a:solidFill>
                  <a:srgbClr val="D6AA67"/>
                </a:solidFill>
                <a:latin typeface="Arial"/>
                <a:ea typeface="Arial"/>
                <a:cs typeface="Arial"/>
              </a:defRPr>
            </a:lvl5pPr>
            <a:lvl6pPr algn="l">
              <a:defRPr sz="1350" b="1">
                <a:solidFill>
                  <a:srgbClr val="D6AA67"/>
                </a:solidFill>
                <a:latin typeface="Arial"/>
                <a:ea typeface="Arial"/>
                <a:cs typeface="Arial"/>
              </a:defRPr>
            </a:lvl6pPr>
            <a:lvl7pPr algn="l">
              <a:defRPr sz="1350" b="1">
                <a:solidFill>
                  <a:srgbClr val="D6AA67"/>
                </a:solidFill>
                <a:latin typeface="Arial"/>
                <a:ea typeface="Arial"/>
                <a:cs typeface="Arial"/>
              </a:defRPr>
            </a:lvl7pPr>
            <a:lvl8pPr algn="l">
              <a:defRPr sz="1350" b="1">
                <a:solidFill>
                  <a:srgbClr val="D6AA67"/>
                </a:solidFill>
                <a:latin typeface="Arial"/>
                <a:ea typeface="Arial"/>
                <a:cs typeface="Arial"/>
              </a:defRPr>
            </a:lvl8pPr>
            <a:lvl9pPr algn="l">
              <a:defRPr sz="1350" b="1">
                <a:solidFill>
                  <a:srgbClr val="D6AA67"/>
                </a:solidFill>
                <a:latin typeface="Arial"/>
                <a:ea typeface="Arial"/>
                <a:cs typeface="Arial"/>
              </a:defRPr>
            </a:lvl9pPr>
          </a:lstStyle>
          <a:p xmlns:a="http://schemas.openxmlformats.org/drawingml/2006/main">
            <a:pPr algn="l">
              <a:defRPr sz="1350" b="1">
                <a:solidFill>
                  <a:srgbClr val="D6AA67"/>
                </a:solidFill>
                <a:latin typeface="Arial"/>
                <a:ea typeface="Arial"/>
                <a:cs typeface="Arial"/>
              </a:defRPr>
            </a:pPr>
            <a:r>
              <a:rPr sz="1350" b="1">
                <a:solidFill>
                  <a:srgbClr val="D6AA67"/>
                </a:solidFill>
                <a:latin typeface="Arial"/>
                <a:ea typeface="Arial"/>
                <a:cs typeface="Arial"/>
              </a:rPr>
              <a:t>BÁO CÁO THỰC TẬP THỰC TẾ</a:t>
            </a:r>
          </a:p>
        </p:txBody>
      </p:sp>
      <p:sp>
        <p:nvSpPr>
          <p:cNvPr id="4" name="MovieRS">
            <a:extLst xmlns:a="http://schemas.openxmlformats.org/drawingml/2006/main">
              <a:ext uri="{FF2B5EF4-FFF2-40B4-BE49-F238E27FC236}">
                <a16:creationId xmlns:a16="http://schemas.microsoft.com/office/drawing/2014/main" id="{7EE0F488-8E22-4A3D-BD4A-5EA3AEF96D65}"/>
              </a:ext>
            </a:extLst>
          </p:cNvPr>
          <p:cNvSpPr>
            <a:spLocks xmlns:a="http://schemas.openxmlformats.org/drawingml/2006/main" noGrp="1"/>
          </p:cNvSpPr>
          <p:nvPr/>
        </p:nvSpPr>
        <p:spPr>
          <a:xfrm xmlns:a="http://schemas.openxmlformats.org/drawingml/2006/main">
            <a:off x="552450" y="15240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MovieRS</a:t>
            </a:r>
          </a:p>
        </p:txBody>
      </p:sp>
      <p:sp>
        <p:nvSpPr>
          <p:cNvPr id="5" name="Tìm hiểu hệ thống khuyến nghị sử dụng&#10;phương pháp lai và xây dựng">
            <a:extLst xmlns:a="http://schemas.openxmlformats.org/drawingml/2006/main">
              <a:ext uri="{FF2B5EF4-FFF2-40B4-BE49-F238E27FC236}">
                <a16:creationId xmlns:a16="http://schemas.microsoft.com/office/drawing/2014/main" id="{9EA49FFF-7224-4580-B53B-DE04B6BA9DC1}"/>
              </a:ext>
            </a:extLst>
          </p:cNvPr>
          <p:cNvSpPr>
            <a:spLocks xmlns:a="http://schemas.openxmlformats.org/drawingml/2006/main" noGrp="1"/>
          </p:cNvSpPr>
          <p:nvPr/>
        </p:nvSpPr>
        <p:spPr>
          <a:xfrm xmlns:a="http://schemas.openxmlformats.org/drawingml/2006/main">
            <a:off x="590550" y="2724150"/>
            <a:ext cx="700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1E9"/>
                </a:solidFill>
                <a:latin typeface="Arial"/>
                <a:ea typeface="Arial"/>
                <a:cs typeface="Arial"/>
              </a:defRPr>
            </a:defPPr>
            <a:lvl1pPr algn="l">
              <a:defRPr sz="2400" b="1">
                <a:solidFill>
                  <a:srgbClr val="F5F1E9"/>
                </a:solidFill>
                <a:latin typeface="Arial"/>
                <a:ea typeface="Arial"/>
                <a:cs typeface="Arial"/>
              </a:defRPr>
            </a:lvl1pPr>
            <a:lvl2pPr algn="l">
              <a:defRPr sz="2400" b="1">
                <a:solidFill>
                  <a:srgbClr val="F5F1E9"/>
                </a:solidFill>
                <a:latin typeface="Arial"/>
                <a:ea typeface="Arial"/>
                <a:cs typeface="Arial"/>
              </a:defRPr>
            </a:lvl2pPr>
            <a:lvl3pPr algn="l">
              <a:defRPr sz="2400" b="1">
                <a:solidFill>
                  <a:srgbClr val="F5F1E9"/>
                </a:solidFill>
                <a:latin typeface="Arial"/>
                <a:ea typeface="Arial"/>
                <a:cs typeface="Arial"/>
              </a:defRPr>
            </a:lvl3pPr>
            <a:lvl4pPr algn="l">
              <a:defRPr sz="2400" b="1">
                <a:solidFill>
                  <a:srgbClr val="F5F1E9"/>
                </a:solidFill>
                <a:latin typeface="Arial"/>
                <a:ea typeface="Arial"/>
                <a:cs typeface="Arial"/>
              </a:defRPr>
            </a:lvl4pPr>
            <a:lvl5pPr algn="l">
              <a:defRPr sz="2400" b="1">
                <a:solidFill>
                  <a:srgbClr val="F5F1E9"/>
                </a:solidFill>
                <a:latin typeface="Arial"/>
                <a:ea typeface="Arial"/>
                <a:cs typeface="Arial"/>
              </a:defRPr>
            </a:lvl5pPr>
            <a:lvl6pPr algn="l">
              <a:defRPr sz="2400" b="1">
                <a:solidFill>
                  <a:srgbClr val="F5F1E9"/>
                </a:solidFill>
                <a:latin typeface="Arial"/>
                <a:ea typeface="Arial"/>
                <a:cs typeface="Arial"/>
              </a:defRPr>
            </a:lvl6pPr>
            <a:lvl7pPr algn="l">
              <a:defRPr sz="2400" b="1">
                <a:solidFill>
                  <a:srgbClr val="F5F1E9"/>
                </a:solidFill>
                <a:latin typeface="Arial"/>
                <a:ea typeface="Arial"/>
                <a:cs typeface="Arial"/>
              </a:defRPr>
            </a:lvl7pPr>
            <a:lvl8pPr algn="l">
              <a:defRPr sz="2400" b="1">
                <a:solidFill>
                  <a:srgbClr val="F5F1E9"/>
                </a:solidFill>
                <a:latin typeface="Arial"/>
                <a:ea typeface="Arial"/>
                <a:cs typeface="Arial"/>
              </a:defRPr>
            </a:lvl8pPr>
            <a:lvl9pPr algn="l">
              <a:defRPr sz="2400" b="1">
                <a:solidFill>
                  <a:srgbClr val="F5F1E9"/>
                </a:solidFill>
                <a:latin typeface="Arial"/>
                <a:ea typeface="Arial"/>
                <a:cs typeface="Arial"/>
              </a:defRPr>
            </a:lvl9pPr>
          </a:lstStyle>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Tìm hiểu hệ thống khuyến nghị sử dụng</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phương pháp lai và xây dựng nguyên mẫu</a:t>
            </a:r>
          </a:p>
          <a:p xmlns:a="http://schemas.openxmlformats.org/drawingml/2006/main">
            <a:pPr algn="l">
              <a:defRPr sz="2400" b="1">
                <a:solidFill>
                  <a:srgbClr val="F5F1E9"/>
                </a:solidFill>
                <a:latin typeface="Arial"/>
                <a:ea typeface="Arial"/>
                <a:cs typeface="Arial"/>
              </a:defRPr>
            </a:pPr>
            <a:r>
              <a:rPr sz="2400" b="1">
                <a:solidFill>
                  <a:srgbClr val="F5F1E9"/>
                </a:solidFill>
                <a:latin typeface="Arial"/>
                <a:ea typeface="Arial"/>
                <a:cs typeface="Arial"/>
              </a:rPr>
              <a:t>ứng dụng phim ảnh</a:t>
            </a:r>
          </a:p>
        </p:txBody>
      </p:sp>
      <p:sp>
        <p:nvSpPr>
          <p:cNvPr id="6" name="Sinh viên thực hiện">
            <a:extLst xmlns:a="http://schemas.openxmlformats.org/drawingml/2006/main">
              <a:ext uri="{FF2B5EF4-FFF2-40B4-BE49-F238E27FC236}">
                <a16:creationId xmlns:a16="http://schemas.microsoft.com/office/drawing/2014/main" id="{564F11B6-5AF5-4BB3-8120-D686A4D115E8}"/>
              </a:ext>
            </a:extLst>
          </p:cNvPr>
          <p:cNvSpPr>
            <a:spLocks xmlns:a="http://schemas.openxmlformats.org/drawingml/2006/main" noGrp="1"/>
          </p:cNvSpPr>
          <p:nvPr/>
        </p:nvSpPr>
        <p:spPr>
          <a:xfrm xmlns:a="http://schemas.openxmlformats.org/drawingml/2006/main">
            <a:off x="609600" y="4438650"/>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7C6CD"/>
                </a:solidFill>
                <a:latin typeface="Arial"/>
                <a:ea typeface="Arial"/>
                <a:cs typeface="Arial"/>
              </a:defRPr>
            </a:defPPr>
            <a:lvl1pPr algn="l">
              <a:defRPr sz="1425" b="0">
                <a:solidFill>
                  <a:srgbClr val="B7C6CD"/>
                </a:solidFill>
                <a:latin typeface="Arial"/>
                <a:ea typeface="Arial"/>
                <a:cs typeface="Arial"/>
              </a:defRPr>
            </a:lvl1pPr>
            <a:lvl2pPr algn="l">
              <a:defRPr sz="1425" b="0">
                <a:solidFill>
                  <a:srgbClr val="B7C6CD"/>
                </a:solidFill>
                <a:latin typeface="Arial"/>
                <a:ea typeface="Arial"/>
                <a:cs typeface="Arial"/>
              </a:defRPr>
            </a:lvl2pPr>
            <a:lvl3pPr algn="l">
              <a:defRPr sz="1425" b="0">
                <a:solidFill>
                  <a:srgbClr val="B7C6CD"/>
                </a:solidFill>
                <a:latin typeface="Arial"/>
                <a:ea typeface="Arial"/>
                <a:cs typeface="Arial"/>
              </a:defRPr>
            </a:lvl3pPr>
            <a:lvl4pPr algn="l">
              <a:defRPr sz="1425" b="0">
                <a:solidFill>
                  <a:srgbClr val="B7C6CD"/>
                </a:solidFill>
                <a:latin typeface="Arial"/>
                <a:ea typeface="Arial"/>
                <a:cs typeface="Arial"/>
              </a:defRPr>
            </a:lvl4pPr>
            <a:lvl5pPr algn="l">
              <a:defRPr sz="1425" b="0">
                <a:solidFill>
                  <a:srgbClr val="B7C6CD"/>
                </a:solidFill>
                <a:latin typeface="Arial"/>
                <a:ea typeface="Arial"/>
                <a:cs typeface="Arial"/>
              </a:defRPr>
            </a:lvl5pPr>
            <a:lvl6pPr algn="l">
              <a:defRPr sz="1425" b="0">
                <a:solidFill>
                  <a:srgbClr val="B7C6CD"/>
                </a:solidFill>
                <a:latin typeface="Arial"/>
                <a:ea typeface="Arial"/>
                <a:cs typeface="Arial"/>
              </a:defRPr>
            </a:lvl6pPr>
            <a:lvl7pPr algn="l">
              <a:defRPr sz="1425" b="0">
                <a:solidFill>
                  <a:srgbClr val="B7C6CD"/>
                </a:solidFill>
                <a:latin typeface="Arial"/>
                <a:ea typeface="Arial"/>
                <a:cs typeface="Arial"/>
              </a:defRPr>
            </a:lvl7pPr>
            <a:lvl8pPr algn="l">
              <a:defRPr sz="1425" b="0">
                <a:solidFill>
                  <a:srgbClr val="B7C6CD"/>
                </a:solidFill>
                <a:latin typeface="Arial"/>
                <a:ea typeface="Arial"/>
                <a:cs typeface="Arial"/>
              </a:defRPr>
            </a:lvl8pPr>
            <a:lvl9pPr algn="l">
              <a:defRPr sz="1425" b="0">
                <a:solidFill>
                  <a:srgbClr val="B7C6CD"/>
                </a:solidFill>
                <a:latin typeface="Arial"/>
                <a:ea typeface="Arial"/>
                <a:cs typeface="Arial"/>
              </a:defRPr>
            </a:lvl9pPr>
          </a:lstStyle>
          <a:p xmlns:a="http://schemas.openxmlformats.org/drawingml/2006/main">
            <a:pPr algn="l">
              <a:defRPr sz="1425" b="0">
                <a:solidFill>
                  <a:srgbClr val="B7C6CD"/>
                </a:solidFill>
                <a:latin typeface="Arial"/>
                <a:ea typeface="Arial"/>
                <a:cs typeface="Arial"/>
              </a:defRPr>
            </a:pPr>
            <a:r>
              <a:rPr sz="1425" b="0">
                <a:solidFill>
                  <a:srgbClr val="B7C6CD"/>
                </a:solidFill>
                <a:latin typeface="Arial"/>
                <a:ea typeface="Arial"/>
                <a:cs typeface="Arial"/>
              </a:rPr>
              <a:t>Sinh viên thực hiện</a:t>
            </a:r>
          </a:p>
        </p:txBody>
      </p:sp>
      <p:sp>
        <p:nvSpPr>
          <p:cNvPr id="7" name="Nguyễn Thanh Chiến">
            <a:extLst xmlns:a="http://schemas.openxmlformats.org/drawingml/2006/main">
              <a:ext uri="{FF2B5EF4-FFF2-40B4-BE49-F238E27FC236}">
                <a16:creationId xmlns:a16="http://schemas.microsoft.com/office/drawing/2014/main" id="{6FD4278B-3963-4536-B98E-286E40D1887C}"/>
              </a:ext>
            </a:extLst>
          </p:cNvPr>
          <p:cNvSpPr>
            <a:spLocks xmlns:a="http://schemas.openxmlformats.org/drawingml/2006/main" noGrp="1"/>
          </p:cNvSpPr>
          <p:nvPr/>
        </p:nvSpPr>
        <p:spPr>
          <a:xfrm xmlns:a="http://schemas.openxmlformats.org/drawingml/2006/main">
            <a:off x="609600" y="47720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Nguyễn Thanh Chiến</a:t>
            </a:r>
          </a:p>
        </p:txBody>
      </p:sp>
      <p:sp>
        <p:nvSpPr>
          <p:cNvPr id="8" name="Mã sinh viên 24ITE020     Lớp 24GITe">
            <a:extLst xmlns:a="http://schemas.openxmlformats.org/drawingml/2006/main">
              <a:ext uri="{FF2B5EF4-FFF2-40B4-BE49-F238E27FC236}">
                <a16:creationId xmlns:a16="http://schemas.microsoft.com/office/drawing/2014/main" id="{6C580AF9-133B-47A4-B31F-C3B3C8294137}"/>
              </a:ext>
            </a:extLst>
          </p:cNvPr>
          <p:cNvSpPr>
            <a:spLocks xmlns:a="http://schemas.openxmlformats.org/drawingml/2006/main" noGrp="1"/>
          </p:cNvSpPr>
          <p:nvPr/>
        </p:nvSpPr>
        <p:spPr>
          <a:xfrm xmlns:a="http://schemas.openxmlformats.org/drawingml/2006/main">
            <a:off x="609600" y="5200650"/>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5F1E9"/>
                </a:solidFill>
                <a:latin typeface="Arial"/>
                <a:ea typeface="Arial"/>
                <a:cs typeface="Arial"/>
              </a:defRPr>
            </a:defPPr>
            <a:lvl1pPr algn="l">
              <a:defRPr sz="1725" b="0">
                <a:solidFill>
                  <a:srgbClr val="F5F1E9"/>
                </a:solidFill>
                <a:latin typeface="Arial"/>
                <a:ea typeface="Arial"/>
                <a:cs typeface="Arial"/>
              </a:defRPr>
            </a:lvl1pPr>
            <a:lvl2pPr algn="l">
              <a:defRPr sz="1725" b="0">
                <a:solidFill>
                  <a:srgbClr val="F5F1E9"/>
                </a:solidFill>
                <a:latin typeface="Arial"/>
                <a:ea typeface="Arial"/>
                <a:cs typeface="Arial"/>
              </a:defRPr>
            </a:lvl2pPr>
            <a:lvl3pPr algn="l">
              <a:defRPr sz="1725" b="0">
                <a:solidFill>
                  <a:srgbClr val="F5F1E9"/>
                </a:solidFill>
                <a:latin typeface="Arial"/>
                <a:ea typeface="Arial"/>
                <a:cs typeface="Arial"/>
              </a:defRPr>
            </a:lvl3pPr>
            <a:lvl4pPr algn="l">
              <a:defRPr sz="1725" b="0">
                <a:solidFill>
                  <a:srgbClr val="F5F1E9"/>
                </a:solidFill>
                <a:latin typeface="Arial"/>
                <a:ea typeface="Arial"/>
                <a:cs typeface="Arial"/>
              </a:defRPr>
            </a:lvl4pPr>
            <a:lvl5pPr algn="l">
              <a:defRPr sz="1725" b="0">
                <a:solidFill>
                  <a:srgbClr val="F5F1E9"/>
                </a:solidFill>
                <a:latin typeface="Arial"/>
                <a:ea typeface="Arial"/>
                <a:cs typeface="Arial"/>
              </a:defRPr>
            </a:lvl5pPr>
            <a:lvl6pPr algn="l">
              <a:defRPr sz="1725" b="0">
                <a:solidFill>
                  <a:srgbClr val="F5F1E9"/>
                </a:solidFill>
                <a:latin typeface="Arial"/>
                <a:ea typeface="Arial"/>
                <a:cs typeface="Arial"/>
              </a:defRPr>
            </a:lvl6pPr>
            <a:lvl7pPr algn="l">
              <a:defRPr sz="1725" b="0">
                <a:solidFill>
                  <a:srgbClr val="F5F1E9"/>
                </a:solidFill>
                <a:latin typeface="Arial"/>
                <a:ea typeface="Arial"/>
                <a:cs typeface="Arial"/>
              </a:defRPr>
            </a:lvl7pPr>
            <a:lvl8pPr algn="l">
              <a:defRPr sz="1725" b="0">
                <a:solidFill>
                  <a:srgbClr val="F5F1E9"/>
                </a:solidFill>
                <a:latin typeface="Arial"/>
                <a:ea typeface="Arial"/>
                <a:cs typeface="Arial"/>
              </a:defRPr>
            </a:lvl8pPr>
            <a:lvl9pPr algn="l">
              <a:defRPr sz="1725" b="0">
                <a:solidFill>
                  <a:srgbClr val="F5F1E9"/>
                </a:solidFill>
                <a:latin typeface="Arial"/>
                <a:ea typeface="Arial"/>
                <a:cs typeface="Arial"/>
              </a:defRPr>
            </a:lvl9pPr>
          </a:lstStyle>
          <a:p xmlns:a="http://schemas.openxmlformats.org/drawingml/2006/main">
            <a:pPr algn="l">
              <a:defRPr sz="1725" b="0">
                <a:solidFill>
                  <a:srgbClr val="F5F1E9"/>
                </a:solidFill>
                <a:latin typeface="Arial"/>
                <a:ea typeface="Arial"/>
                <a:cs typeface="Arial"/>
              </a:defRPr>
            </a:pPr>
            <a:r>
              <a:rPr sz="1725" b="0">
                <a:solidFill>
                  <a:srgbClr val="F5F1E9"/>
                </a:solidFill>
                <a:latin typeface="Arial"/>
                <a:ea typeface="Arial"/>
                <a:cs typeface="Arial"/>
              </a:rPr>
              <a:t>Mã sinh viên 24ITE020     Lớp 24GITe</a:t>
            </a:r>
          </a:p>
        </p:txBody>
      </p:sp>
      <p:sp>
        <p:nvSpPr>
          <p:cNvPr id="9" name="Giảng viên hướng dẫn  TS. Trần Uyên Trang">
            <a:extLst xmlns:a="http://schemas.openxmlformats.org/drawingml/2006/main">
              <a:ext uri="{FF2B5EF4-FFF2-40B4-BE49-F238E27FC236}">
                <a16:creationId xmlns:a16="http://schemas.microsoft.com/office/drawing/2014/main" id="{BE024E19-6C37-4DAC-8EE9-99574B1625DD}"/>
              </a:ext>
            </a:extLst>
          </p:cNvPr>
          <p:cNvSpPr>
            <a:spLocks xmlns:a="http://schemas.openxmlformats.org/drawingml/2006/main" noGrp="1"/>
          </p:cNvSpPr>
          <p:nvPr/>
        </p:nvSpPr>
        <p:spPr>
          <a:xfrm xmlns:a="http://schemas.openxmlformats.org/drawingml/2006/main">
            <a:off x="609600" y="5705475"/>
            <a:ext cx="695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6AA67"/>
                </a:solidFill>
                <a:latin typeface="Arial"/>
                <a:ea typeface="Arial"/>
                <a:cs typeface="Arial"/>
              </a:defRPr>
            </a:defPPr>
            <a:lvl1pPr algn="l">
              <a:defRPr sz="1875" b="0">
                <a:solidFill>
                  <a:srgbClr val="D6AA67"/>
                </a:solidFill>
                <a:latin typeface="Arial"/>
                <a:ea typeface="Arial"/>
                <a:cs typeface="Arial"/>
              </a:defRPr>
            </a:lvl1pPr>
            <a:lvl2pPr algn="l">
              <a:defRPr sz="1875" b="0">
                <a:solidFill>
                  <a:srgbClr val="D6AA67"/>
                </a:solidFill>
                <a:latin typeface="Arial"/>
                <a:ea typeface="Arial"/>
                <a:cs typeface="Arial"/>
              </a:defRPr>
            </a:lvl2pPr>
            <a:lvl3pPr algn="l">
              <a:defRPr sz="1875" b="0">
                <a:solidFill>
                  <a:srgbClr val="D6AA67"/>
                </a:solidFill>
                <a:latin typeface="Arial"/>
                <a:ea typeface="Arial"/>
                <a:cs typeface="Arial"/>
              </a:defRPr>
            </a:lvl3pPr>
            <a:lvl4pPr algn="l">
              <a:defRPr sz="1875" b="0">
                <a:solidFill>
                  <a:srgbClr val="D6AA67"/>
                </a:solidFill>
                <a:latin typeface="Arial"/>
                <a:ea typeface="Arial"/>
                <a:cs typeface="Arial"/>
              </a:defRPr>
            </a:lvl4pPr>
            <a:lvl5pPr algn="l">
              <a:defRPr sz="1875" b="0">
                <a:solidFill>
                  <a:srgbClr val="D6AA67"/>
                </a:solidFill>
                <a:latin typeface="Arial"/>
                <a:ea typeface="Arial"/>
                <a:cs typeface="Arial"/>
              </a:defRPr>
            </a:lvl5pPr>
            <a:lvl6pPr algn="l">
              <a:defRPr sz="1875" b="0">
                <a:solidFill>
                  <a:srgbClr val="D6AA67"/>
                </a:solidFill>
                <a:latin typeface="Arial"/>
                <a:ea typeface="Arial"/>
                <a:cs typeface="Arial"/>
              </a:defRPr>
            </a:lvl6pPr>
            <a:lvl7pPr algn="l">
              <a:defRPr sz="1875" b="0">
                <a:solidFill>
                  <a:srgbClr val="D6AA67"/>
                </a:solidFill>
                <a:latin typeface="Arial"/>
                <a:ea typeface="Arial"/>
                <a:cs typeface="Arial"/>
              </a:defRPr>
            </a:lvl7pPr>
            <a:lvl8pPr algn="l">
              <a:defRPr sz="1875" b="0">
                <a:solidFill>
                  <a:srgbClr val="D6AA67"/>
                </a:solidFill>
                <a:latin typeface="Arial"/>
                <a:ea typeface="Arial"/>
                <a:cs typeface="Arial"/>
              </a:defRPr>
            </a:lvl8pPr>
            <a:lvl9pPr algn="l">
              <a:defRPr sz="1875" b="0">
                <a:solidFill>
                  <a:srgbClr val="D6AA67"/>
                </a:solidFill>
                <a:latin typeface="Arial"/>
                <a:ea typeface="Arial"/>
                <a:cs typeface="Arial"/>
              </a:defRPr>
            </a:lvl9pPr>
          </a:lstStyle>
          <a:p xmlns:a="http://schemas.openxmlformats.org/drawingml/2006/main">
            <a:pPr algn="l">
              <a:defRPr sz="1875" b="0">
                <a:solidFill>
                  <a:srgbClr val="D6AA67"/>
                </a:solidFill>
                <a:latin typeface="Arial"/>
                <a:ea typeface="Arial"/>
                <a:cs typeface="Arial"/>
              </a:defRPr>
            </a:pPr>
            <a:r>
              <a:rPr sz="1875" b="0">
                <a:solidFill>
                  <a:srgbClr val="D6AA67"/>
                </a:solidFill>
                <a:latin typeface="Arial"/>
                <a:ea typeface="Arial"/>
                <a:cs typeface="Arial"/>
              </a:rPr>
              <a:t>Giảng viên hướng dẫn  TS. Trần Uyên Trang</a:t>
            </a:r>
          </a:p>
        </p:txBody>
      </p:sp>
      <p:sp>
        <p:nvSpPr>
          <p:cNvPr id="10" name="Đơn vị thực tập  FPT Software">
            <a:extLst xmlns:a="http://schemas.openxmlformats.org/drawingml/2006/main">
              <a:ext uri="{FF2B5EF4-FFF2-40B4-BE49-F238E27FC236}">
                <a16:creationId xmlns:a16="http://schemas.microsoft.com/office/drawing/2014/main" id="{6827CB78-4825-4820-8086-2E84EAA55407}"/>
              </a:ext>
            </a:extLst>
          </p:cNvPr>
          <p:cNvSpPr>
            <a:spLocks xmlns:a="http://schemas.openxmlformats.org/drawingml/2006/main" noGrp="1"/>
          </p:cNvSpPr>
          <p:nvPr/>
        </p:nvSpPr>
        <p:spPr>
          <a:xfrm xmlns:a="http://schemas.openxmlformats.org/drawingml/2006/main">
            <a:off x="609600" y="62007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7C6CD"/>
                </a:solidFill>
                <a:latin typeface="Arial"/>
                <a:ea typeface="Arial"/>
                <a:cs typeface="Arial"/>
              </a:defRPr>
            </a:defPPr>
            <a:lvl1pPr algn="l">
              <a:defRPr sz="1500" b="0">
                <a:solidFill>
                  <a:srgbClr val="B7C6CD"/>
                </a:solidFill>
                <a:latin typeface="Arial"/>
                <a:ea typeface="Arial"/>
                <a:cs typeface="Arial"/>
              </a:defRPr>
            </a:lvl1pPr>
            <a:lvl2pPr algn="l">
              <a:defRPr sz="1500" b="0">
                <a:solidFill>
                  <a:srgbClr val="B7C6CD"/>
                </a:solidFill>
                <a:latin typeface="Arial"/>
                <a:ea typeface="Arial"/>
                <a:cs typeface="Arial"/>
              </a:defRPr>
            </a:lvl2pPr>
            <a:lvl3pPr algn="l">
              <a:defRPr sz="1500" b="0">
                <a:solidFill>
                  <a:srgbClr val="B7C6CD"/>
                </a:solidFill>
                <a:latin typeface="Arial"/>
                <a:ea typeface="Arial"/>
                <a:cs typeface="Arial"/>
              </a:defRPr>
            </a:lvl3pPr>
            <a:lvl4pPr algn="l">
              <a:defRPr sz="1500" b="0">
                <a:solidFill>
                  <a:srgbClr val="B7C6CD"/>
                </a:solidFill>
                <a:latin typeface="Arial"/>
                <a:ea typeface="Arial"/>
                <a:cs typeface="Arial"/>
              </a:defRPr>
            </a:lvl4pPr>
            <a:lvl5pPr algn="l">
              <a:defRPr sz="1500" b="0">
                <a:solidFill>
                  <a:srgbClr val="B7C6CD"/>
                </a:solidFill>
                <a:latin typeface="Arial"/>
                <a:ea typeface="Arial"/>
                <a:cs typeface="Arial"/>
              </a:defRPr>
            </a:lvl5pPr>
            <a:lvl6pPr algn="l">
              <a:defRPr sz="1500" b="0">
                <a:solidFill>
                  <a:srgbClr val="B7C6CD"/>
                </a:solidFill>
                <a:latin typeface="Arial"/>
                <a:ea typeface="Arial"/>
                <a:cs typeface="Arial"/>
              </a:defRPr>
            </a:lvl6pPr>
            <a:lvl7pPr algn="l">
              <a:defRPr sz="1500" b="0">
                <a:solidFill>
                  <a:srgbClr val="B7C6CD"/>
                </a:solidFill>
                <a:latin typeface="Arial"/>
                <a:ea typeface="Arial"/>
                <a:cs typeface="Arial"/>
              </a:defRPr>
            </a:lvl7pPr>
            <a:lvl8pPr algn="l">
              <a:defRPr sz="1500" b="0">
                <a:solidFill>
                  <a:srgbClr val="B7C6CD"/>
                </a:solidFill>
                <a:latin typeface="Arial"/>
                <a:ea typeface="Arial"/>
                <a:cs typeface="Arial"/>
              </a:defRPr>
            </a:lvl8pPr>
            <a:lvl9pPr algn="l">
              <a:defRPr sz="1500" b="0">
                <a:solidFill>
                  <a:srgbClr val="B7C6CD"/>
                </a:solidFill>
                <a:latin typeface="Arial"/>
                <a:ea typeface="Arial"/>
                <a:cs typeface="Arial"/>
              </a:defRPr>
            </a:lvl9pPr>
          </a:lstStyle>
          <a:p xmlns:a="http://schemas.openxmlformats.org/drawingml/2006/main">
            <a:pPr algn="l">
              <a:defRPr sz="1500" b="0">
                <a:solidFill>
                  <a:srgbClr val="B7C6CD"/>
                </a:solidFill>
                <a:latin typeface="Arial"/>
                <a:ea typeface="Arial"/>
                <a:cs typeface="Arial"/>
              </a:defRPr>
            </a:pPr>
            <a:r>
              <a:rPr sz="1500" b="0">
                <a:solidFill>
                  <a:srgbClr val="B7C6CD"/>
                </a:solidFill>
                <a:latin typeface="Arial"/>
                <a:ea typeface="Arial"/>
                <a:cs typeface="Arial"/>
              </a:rPr>
              <a:t>Đơn vị thực tập  FPT Software</a:t>
            </a:r>
          </a:p>
        </p:txBody>
      </p:sp>
    </p:spTree>
    <p:extLst>
      <p:ext uri="{BB962C8B-B14F-4D97-AF65-F5344CB8AC3E}">
        <p14:creationId xmlns:p14="http://schemas.microsoft.com/office/powerpoint/2010/main" val="719842984"/>
      </p:ext>
    </p:extLst>
  </p:cSld>
</p:sld>
</file>

<file path=ppt/slides/slide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5" name="NỘI DUNG TRÌNH BÀY">
            <a:extLst xmlns:a="http://schemas.openxmlformats.org/drawingml/2006/main">
              <a:ext uri="{FF2B5EF4-FFF2-40B4-BE49-F238E27FC236}">
                <a16:creationId xmlns:a16="http://schemas.microsoft.com/office/drawing/2014/main" id="{C0A4F5B9-4ED0-4308-BF62-512120A446C4}"/>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NỘI DUNG TRÌNH BÀY</a:t>
            </a:r>
          </a:p>
        </p:txBody>
      </p:sp>
      <p:sp>
        <p:nvSpPr>
          <p:cNvPr id="2" name="Mục lục">
            <a:extLst xmlns:a="http://schemas.openxmlformats.org/drawingml/2006/main">
              <a:ext uri="{FF2B5EF4-FFF2-40B4-BE49-F238E27FC236}">
                <a16:creationId xmlns:a16="http://schemas.microsoft.com/office/drawing/2014/main" id="{5E6191A4-5327-4A8F-AF00-D11E032E74C3}"/>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lục</a:t>
            </a:r>
          </a:p>
        </p:txBody>
      </p:sp>
      <p:sp>
        <p:nvSpPr>
          <p:cNvPr id="3" name="">
            <a:extLst xmlns:a="http://schemas.openxmlformats.org/drawingml/2006/main">
              <a:ext uri="{FF2B5EF4-FFF2-40B4-BE49-F238E27FC236}">
                <a16:creationId xmlns:a16="http://schemas.microsoft.com/office/drawing/2014/main" id="{FBE20381-FE56-449B-BA96-DAB32D256B3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9D48CE28-E23F-46F0-A656-9BC905936669}"/>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2">
            <a:extLst xmlns:a="http://schemas.openxmlformats.org/drawingml/2006/main">
              <a:ext uri="{FF2B5EF4-FFF2-40B4-BE49-F238E27FC236}">
                <a16:creationId xmlns:a16="http://schemas.microsoft.com/office/drawing/2014/main" id="{56F8BC0C-A389-40BC-88A7-A4CCA723BC27}"/>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02</a:t>
            </a:r>
          </a:p>
        </p:txBody>
      </p:sp>
      <p:sp>
        <p:nvSpPr>
          <p:cNvPr id="6" name="01">
            <a:extLst xmlns:a="http://schemas.openxmlformats.org/drawingml/2006/main">
              <a:ext uri="{FF2B5EF4-FFF2-40B4-BE49-F238E27FC236}">
                <a16:creationId xmlns:a16="http://schemas.microsoft.com/office/drawing/2014/main" id="{CB383588-799B-4F58-9FA2-9BD26577F50F}"/>
              </a:ext>
            </a:extLst>
          </p:cNvPr>
          <p:cNvSpPr>
            <a:spLocks xmlns:a="http://schemas.openxmlformats.org/drawingml/2006/main" noGrp="1"/>
          </p:cNvSpPr>
          <p:nvPr/>
        </p:nvSpPr>
        <p:spPr>
          <a:xfrm xmlns:a="http://schemas.openxmlformats.org/drawingml/2006/main">
            <a:off x="666750" y="19335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01</a:t>
            </a:r>
          </a:p>
        </p:txBody>
      </p:sp>
      <p:sp>
        <p:nvSpPr>
          <p:cNvPr id="7" name="Tổng quan">
            <a:extLst xmlns:a="http://schemas.openxmlformats.org/drawingml/2006/main">
              <a:ext uri="{FF2B5EF4-FFF2-40B4-BE49-F238E27FC236}">
                <a16:creationId xmlns:a16="http://schemas.microsoft.com/office/drawing/2014/main" id="{3152C2E5-FDEE-4F43-BB70-C78CB1AC95CE}"/>
              </a:ext>
            </a:extLst>
          </p:cNvPr>
          <p:cNvSpPr>
            <a:spLocks xmlns:a="http://schemas.openxmlformats.org/drawingml/2006/main" noGrp="1"/>
          </p:cNvSpPr>
          <p:nvPr/>
        </p:nvSpPr>
        <p:spPr>
          <a:xfrm xmlns:a="http://schemas.openxmlformats.org/drawingml/2006/main">
            <a:off x="1809750" y="19621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Tổng quan</a:t>
            </a:r>
          </a:p>
        </p:txBody>
      </p:sp>
      <p:sp>
        <p:nvSpPr>
          <p:cNvPr id="8" name="Bài toán và mục tiêu">
            <a:extLst xmlns:a="http://schemas.openxmlformats.org/drawingml/2006/main">
              <a:ext uri="{FF2B5EF4-FFF2-40B4-BE49-F238E27FC236}">
                <a16:creationId xmlns:a16="http://schemas.microsoft.com/office/drawing/2014/main" id="{19ACAE07-A132-4BD3-8C48-925644D878AC}"/>
              </a:ext>
            </a:extLst>
          </p:cNvPr>
          <p:cNvSpPr>
            <a:spLocks xmlns:a="http://schemas.openxmlformats.org/drawingml/2006/main" noGrp="1"/>
          </p:cNvSpPr>
          <p:nvPr/>
        </p:nvSpPr>
        <p:spPr>
          <a:xfrm xmlns:a="http://schemas.openxmlformats.org/drawingml/2006/main">
            <a:off x="7334250" y="20288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Bài toán và mục tiêu</a:t>
            </a:r>
          </a:p>
        </p:txBody>
      </p:sp>
      <p:sp>
        <p:nvSpPr>
          <p:cNvPr id="9" name="">
            <a:extLst xmlns:a="http://schemas.openxmlformats.org/drawingml/2006/main">
              <a:ext uri="{FF2B5EF4-FFF2-40B4-BE49-F238E27FC236}">
                <a16:creationId xmlns:a16="http://schemas.microsoft.com/office/drawing/2014/main" id="{04D42FF1-C807-46A8-AB33-8B0F399AAC3D}"/>
              </a:ext>
            </a:extLst>
          </p:cNvPr>
          <p:cNvSpPr>
            <a:spLocks xmlns:a="http://schemas.openxmlformats.org/drawingml/2006/main" noGrp="1"/>
          </p:cNvSpPr>
          <p:nvPr/>
        </p:nvSpPr>
        <p:spPr>
          <a:xfrm xmlns:a="http://schemas.openxmlformats.org/drawingml/2006/main">
            <a:off x="1809750" y="25717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0" name="02">
            <a:extLst xmlns:a="http://schemas.openxmlformats.org/drawingml/2006/main">
              <a:ext uri="{FF2B5EF4-FFF2-40B4-BE49-F238E27FC236}">
                <a16:creationId xmlns:a16="http://schemas.microsoft.com/office/drawing/2014/main" id="{8E1BA726-EB02-4629-9DE3-717BEF290C19}"/>
              </a:ext>
            </a:extLst>
          </p:cNvPr>
          <p:cNvSpPr>
            <a:spLocks xmlns:a="http://schemas.openxmlformats.org/drawingml/2006/main" noGrp="1"/>
          </p:cNvSpPr>
          <p:nvPr/>
        </p:nvSpPr>
        <p:spPr>
          <a:xfrm xmlns:a="http://schemas.openxmlformats.org/drawingml/2006/main">
            <a:off x="666750" y="27146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02</a:t>
            </a:r>
          </a:p>
        </p:txBody>
      </p:sp>
      <p:sp>
        <p:nvSpPr>
          <p:cNvPr id="11" name="Đối tượng nghiên cứu">
            <a:extLst xmlns:a="http://schemas.openxmlformats.org/drawingml/2006/main">
              <a:ext uri="{FF2B5EF4-FFF2-40B4-BE49-F238E27FC236}">
                <a16:creationId xmlns:a16="http://schemas.microsoft.com/office/drawing/2014/main" id="{1FDDF634-6721-495D-8EF9-40A8368BA894}"/>
              </a:ext>
            </a:extLst>
          </p:cNvPr>
          <p:cNvSpPr>
            <a:spLocks xmlns:a="http://schemas.openxmlformats.org/drawingml/2006/main" noGrp="1"/>
          </p:cNvSpPr>
          <p:nvPr/>
        </p:nvSpPr>
        <p:spPr>
          <a:xfrm xmlns:a="http://schemas.openxmlformats.org/drawingml/2006/main">
            <a:off x="1809750" y="27432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Đối tượng nghiên cứu</a:t>
            </a:r>
          </a:p>
        </p:txBody>
      </p:sp>
      <p:sp>
        <p:nvSpPr>
          <p:cNvPr id="12" name="Dữ liệu và phương pháp">
            <a:extLst xmlns:a="http://schemas.openxmlformats.org/drawingml/2006/main">
              <a:ext uri="{FF2B5EF4-FFF2-40B4-BE49-F238E27FC236}">
                <a16:creationId xmlns:a16="http://schemas.microsoft.com/office/drawing/2014/main" id="{A2521003-B7D7-4D8B-9F02-0E6112200929}"/>
              </a:ext>
            </a:extLst>
          </p:cNvPr>
          <p:cNvSpPr>
            <a:spLocks xmlns:a="http://schemas.openxmlformats.org/drawingml/2006/main" noGrp="1"/>
          </p:cNvSpPr>
          <p:nvPr/>
        </p:nvSpPr>
        <p:spPr>
          <a:xfrm xmlns:a="http://schemas.openxmlformats.org/drawingml/2006/main">
            <a:off x="7334250" y="2809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Dữ liệu và phương pháp</a:t>
            </a:r>
          </a:p>
        </p:txBody>
      </p:sp>
      <p:sp>
        <p:nvSpPr>
          <p:cNvPr id="13" name="">
            <a:extLst xmlns:a="http://schemas.openxmlformats.org/drawingml/2006/main">
              <a:ext uri="{FF2B5EF4-FFF2-40B4-BE49-F238E27FC236}">
                <a16:creationId xmlns:a16="http://schemas.microsoft.com/office/drawing/2014/main" id="{93743AFF-4A9D-45A0-B591-780AD2155D6D}"/>
              </a:ext>
            </a:extLst>
          </p:cNvPr>
          <p:cNvSpPr>
            <a:spLocks xmlns:a="http://schemas.openxmlformats.org/drawingml/2006/main" noGrp="1"/>
          </p:cNvSpPr>
          <p:nvPr/>
        </p:nvSpPr>
        <p:spPr>
          <a:xfrm xmlns:a="http://schemas.openxmlformats.org/drawingml/2006/main">
            <a:off x="1809750" y="33528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4" name="03">
            <a:extLst xmlns:a="http://schemas.openxmlformats.org/drawingml/2006/main">
              <a:ext uri="{FF2B5EF4-FFF2-40B4-BE49-F238E27FC236}">
                <a16:creationId xmlns:a16="http://schemas.microsoft.com/office/drawing/2014/main" id="{3BB4F292-F50D-4A4B-B2FC-97C2FAAA762B}"/>
              </a:ext>
            </a:extLst>
          </p:cNvPr>
          <p:cNvSpPr>
            <a:spLocks xmlns:a="http://schemas.openxmlformats.org/drawingml/2006/main" noGrp="1"/>
          </p:cNvSpPr>
          <p:nvPr/>
        </p:nvSpPr>
        <p:spPr>
          <a:xfrm xmlns:a="http://schemas.openxmlformats.org/drawingml/2006/main">
            <a:off x="666750" y="34956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03</a:t>
            </a:r>
          </a:p>
        </p:txBody>
      </p:sp>
      <p:sp>
        <p:nvSpPr>
          <p:cNvPr id="15" name="Công nghệ sử dụng">
            <a:extLst xmlns:a="http://schemas.openxmlformats.org/drawingml/2006/main">
              <a:ext uri="{FF2B5EF4-FFF2-40B4-BE49-F238E27FC236}">
                <a16:creationId xmlns:a16="http://schemas.microsoft.com/office/drawing/2014/main" id="{1645508D-BEFE-4273-B51C-0764735A5D53}"/>
              </a:ext>
            </a:extLst>
          </p:cNvPr>
          <p:cNvSpPr>
            <a:spLocks xmlns:a="http://schemas.openxmlformats.org/drawingml/2006/main" noGrp="1"/>
          </p:cNvSpPr>
          <p:nvPr/>
        </p:nvSpPr>
        <p:spPr>
          <a:xfrm xmlns:a="http://schemas.openxmlformats.org/drawingml/2006/main">
            <a:off x="1809750" y="35242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Công nghệ sử dụng</a:t>
            </a:r>
          </a:p>
        </p:txBody>
      </p:sp>
      <p:sp>
        <p:nvSpPr>
          <p:cNvPr id="16" name="Nền tảng triển khai">
            <a:extLst xmlns:a="http://schemas.openxmlformats.org/drawingml/2006/main">
              <a:ext uri="{FF2B5EF4-FFF2-40B4-BE49-F238E27FC236}">
                <a16:creationId xmlns:a16="http://schemas.microsoft.com/office/drawing/2014/main" id="{3016345E-D558-4EA2-8582-3101BCB04D36}"/>
              </a:ext>
            </a:extLst>
          </p:cNvPr>
          <p:cNvSpPr>
            <a:spLocks xmlns:a="http://schemas.openxmlformats.org/drawingml/2006/main" noGrp="1"/>
          </p:cNvSpPr>
          <p:nvPr/>
        </p:nvSpPr>
        <p:spPr>
          <a:xfrm xmlns:a="http://schemas.openxmlformats.org/drawingml/2006/main">
            <a:off x="7334250" y="3590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Nền tảng triển khai</a:t>
            </a:r>
          </a:p>
        </p:txBody>
      </p:sp>
      <p:sp>
        <p:nvSpPr>
          <p:cNvPr id="17" name="">
            <a:extLst xmlns:a="http://schemas.openxmlformats.org/drawingml/2006/main">
              <a:ext uri="{FF2B5EF4-FFF2-40B4-BE49-F238E27FC236}">
                <a16:creationId xmlns:a16="http://schemas.microsoft.com/office/drawing/2014/main" id="{04842AF1-7BCA-4E91-8A25-FCC6DEF95339}"/>
              </a:ext>
            </a:extLst>
          </p:cNvPr>
          <p:cNvSpPr>
            <a:spLocks xmlns:a="http://schemas.openxmlformats.org/drawingml/2006/main" noGrp="1"/>
          </p:cNvSpPr>
          <p:nvPr/>
        </p:nvSpPr>
        <p:spPr>
          <a:xfrm xmlns:a="http://schemas.openxmlformats.org/drawingml/2006/main">
            <a:off x="1809750" y="413385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18" name="04">
            <a:extLst xmlns:a="http://schemas.openxmlformats.org/drawingml/2006/main">
              <a:ext uri="{FF2B5EF4-FFF2-40B4-BE49-F238E27FC236}">
                <a16:creationId xmlns:a16="http://schemas.microsoft.com/office/drawing/2014/main" id="{FD44B356-D561-4A9C-8F7A-FA6725B765D0}"/>
              </a:ext>
            </a:extLst>
          </p:cNvPr>
          <p:cNvSpPr>
            <a:spLocks xmlns:a="http://schemas.openxmlformats.org/drawingml/2006/main" noGrp="1"/>
          </p:cNvSpPr>
          <p:nvPr/>
        </p:nvSpPr>
        <p:spPr>
          <a:xfrm xmlns:a="http://schemas.openxmlformats.org/drawingml/2006/main">
            <a:off x="666750" y="42767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04</a:t>
            </a:r>
          </a:p>
        </p:txBody>
      </p:sp>
      <p:sp>
        <p:nvSpPr>
          <p:cNvPr id="19" name="Phân tích thiết kế">
            <a:extLst xmlns:a="http://schemas.openxmlformats.org/drawingml/2006/main">
              <a:ext uri="{FF2B5EF4-FFF2-40B4-BE49-F238E27FC236}">
                <a16:creationId xmlns:a16="http://schemas.microsoft.com/office/drawing/2014/main" id="{79DA25ED-4752-410B-9A03-AA2CD2E2121E}"/>
              </a:ext>
            </a:extLst>
          </p:cNvPr>
          <p:cNvSpPr>
            <a:spLocks xmlns:a="http://schemas.openxmlformats.org/drawingml/2006/main" noGrp="1"/>
          </p:cNvSpPr>
          <p:nvPr/>
        </p:nvSpPr>
        <p:spPr>
          <a:xfrm xmlns:a="http://schemas.openxmlformats.org/drawingml/2006/main">
            <a:off x="1809750" y="430530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Phân tích thiết kế</a:t>
            </a:r>
          </a:p>
        </p:txBody>
      </p:sp>
      <p:sp>
        <p:nvSpPr>
          <p:cNvPr id="20" name="Kiến trúc và luồng xử lý">
            <a:extLst xmlns:a="http://schemas.openxmlformats.org/drawingml/2006/main">
              <a:ext uri="{FF2B5EF4-FFF2-40B4-BE49-F238E27FC236}">
                <a16:creationId xmlns:a16="http://schemas.microsoft.com/office/drawing/2014/main" id="{A14E0AA0-CF66-4DDF-BBA5-54169C855BAB}"/>
              </a:ext>
            </a:extLst>
          </p:cNvPr>
          <p:cNvSpPr>
            <a:spLocks xmlns:a="http://schemas.openxmlformats.org/drawingml/2006/main" noGrp="1"/>
          </p:cNvSpPr>
          <p:nvPr/>
        </p:nvSpPr>
        <p:spPr>
          <a:xfrm xmlns:a="http://schemas.openxmlformats.org/drawingml/2006/main">
            <a:off x="7334250" y="4371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Kiến trúc và luồng xử lý</a:t>
            </a:r>
          </a:p>
        </p:txBody>
      </p:sp>
      <p:sp>
        <p:nvSpPr>
          <p:cNvPr id="21" name="">
            <a:extLst xmlns:a="http://schemas.openxmlformats.org/drawingml/2006/main">
              <a:ext uri="{FF2B5EF4-FFF2-40B4-BE49-F238E27FC236}">
                <a16:creationId xmlns:a16="http://schemas.microsoft.com/office/drawing/2014/main" id="{28D347A0-6C80-4A7A-8B78-E512000AE712}"/>
              </a:ext>
            </a:extLst>
          </p:cNvPr>
          <p:cNvSpPr>
            <a:spLocks xmlns:a="http://schemas.openxmlformats.org/drawingml/2006/main" noGrp="1"/>
          </p:cNvSpPr>
          <p:nvPr/>
        </p:nvSpPr>
        <p:spPr>
          <a:xfrm xmlns:a="http://schemas.openxmlformats.org/drawingml/2006/main">
            <a:off x="1809750" y="4914900"/>
            <a:ext cx="9620250" cy="0"/>
          </a:xfrm>
          <a:prstGeom xmlns:a="http://schemas.openxmlformats.org/drawingml/2006/main" prst="line">
            <a:avLst/>
          </a:prstGeom>
          <a:noFill xmlns:a="http://schemas.openxmlformats.org/drawingml/2006/main"/>
          <a:ln xmlns:a="http://schemas.openxmlformats.org/drawingml/2006/main" w="6668">
            <a:solidFill>
              <a:srgbClr val="C9C9BD"/>
            </a:solidFill>
            <a:prstDash val="solid"/>
          </a:ln>
        </p:spPr>
      </p:sp>
      <p:sp>
        <p:nvSpPr>
          <p:cNvPr id="22" name="05">
            <a:extLst xmlns:a="http://schemas.openxmlformats.org/drawingml/2006/main">
              <a:ext uri="{FF2B5EF4-FFF2-40B4-BE49-F238E27FC236}">
                <a16:creationId xmlns:a16="http://schemas.microsoft.com/office/drawing/2014/main" id="{4F0C0A37-9716-4F1A-A984-8E2E3101DEA8}"/>
              </a:ext>
            </a:extLst>
          </p:cNvPr>
          <p:cNvSpPr>
            <a:spLocks xmlns:a="http://schemas.openxmlformats.org/drawingml/2006/main" noGrp="1"/>
          </p:cNvSpPr>
          <p:nvPr/>
        </p:nvSpPr>
        <p:spPr>
          <a:xfrm xmlns:a="http://schemas.openxmlformats.org/drawingml/2006/main">
            <a:off x="666750" y="50577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7E7C"/>
                </a:solidFill>
                <a:latin typeface="Arial"/>
                <a:ea typeface="Arial"/>
                <a:cs typeface="Arial"/>
              </a:defRPr>
            </a:defPPr>
            <a:lvl1pPr algn="l">
              <a:defRPr sz="3000" b="1">
                <a:solidFill>
                  <a:srgbClr val="297E7C"/>
                </a:solidFill>
                <a:latin typeface="Arial"/>
                <a:ea typeface="Arial"/>
                <a:cs typeface="Arial"/>
              </a:defRPr>
            </a:lvl1pPr>
            <a:lvl2pPr algn="l">
              <a:defRPr sz="3000" b="1">
                <a:solidFill>
                  <a:srgbClr val="297E7C"/>
                </a:solidFill>
                <a:latin typeface="Arial"/>
                <a:ea typeface="Arial"/>
                <a:cs typeface="Arial"/>
              </a:defRPr>
            </a:lvl2pPr>
            <a:lvl3pPr algn="l">
              <a:defRPr sz="3000" b="1">
                <a:solidFill>
                  <a:srgbClr val="297E7C"/>
                </a:solidFill>
                <a:latin typeface="Arial"/>
                <a:ea typeface="Arial"/>
                <a:cs typeface="Arial"/>
              </a:defRPr>
            </a:lvl3pPr>
            <a:lvl4pPr algn="l">
              <a:defRPr sz="3000" b="1">
                <a:solidFill>
                  <a:srgbClr val="297E7C"/>
                </a:solidFill>
                <a:latin typeface="Arial"/>
                <a:ea typeface="Arial"/>
                <a:cs typeface="Arial"/>
              </a:defRPr>
            </a:lvl4pPr>
            <a:lvl5pPr algn="l">
              <a:defRPr sz="3000" b="1">
                <a:solidFill>
                  <a:srgbClr val="297E7C"/>
                </a:solidFill>
                <a:latin typeface="Arial"/>
                <a:ea typeface="Arial"/>
                <a:cs typeface="Arial"/>
              </a:defRPr>
            </a:lvl5pPr>
            <a:lvl6pPr algn="l">
              <a:defRPr sz="3000" b="1">
                <a:solidFill>
                  <a:srgbClr val="297E7C"/>
                </a:solidFill>
                <a:latin typeface="Arial"/>
                <a:ea typeface="Arial"/>
                <a:cs typeface="Arial"/>
              </a:defRPr>
            </a:lvl6pPr>
            <a:lvl7pPr algn="l">
              <a:defRPr sz="3000" b="1">
                <a:solidFill>
                  <a:srgbClr val="297E7C"/>
                </a:solidFill>
                <a:latin typeface="Arial"/>
                <a:ea typeface="Arial"/>
                <a:cs typeface="Arial"/>
              </a:defRPr>
            </a:lvl7pPr>
            <a:lvl8pPr algn="l">
              <a:defRPr sz="3000" b="1">
                <a:solidFill>
                  <a:srgbClr val="297E7C"/>
                </a:solidFill>
                <a:latin typeface="Arial"/>
                <a:ea typeface="Arial"/>
                <a:cs typeface="Arial"/>
              </a:defRPr>
            </a:lvl8pPr>
            <a:lvl9pPr algn="l">
              <a:defRPr sz="3000" b="1">
                <a:solidFill>
                  <a:srgbClr val="297E7C"/>
                </a:solidFill>
                <a:latin typeface="Arial"/>
                <a:ea typeface="Arial"/>
                <a:cs typeface="Arial"/>
              </a:defRPr>
            </a:lvl9pPr>
          </a:lstStyle>
          <a:p xmlns:a="http://schemas.openxmlformats.org/drawingml/2006/main">
            <a:pPr algn="l">
              <a:defRPr sz="3000" b="1">
                <a:solidFill>
                  <a:srgbClr val="297E7C"/>
                </a:solidFill>
                <a:latin typeface="Arial"/>
                <a:ea typeface="Arial"/>
                <a:cs typeface="Arial"/>
              </a:defRPr>
            </a:pPr>
            <a:r>
              <a:rPr sz="3000" b="1">
                <a:solidFill>
                  <a:srgbClr val="297E7C"/>
                </a:solidFill>
                <a:latin typeface="Arial"/>
                <a:ea typeface="Arial"/>
                <a:cs typeface="Arial"/>
              </a:rPr>
              <a:t>05</a:t>
            </a:r>
          </a:p>
        </p:txBody>
      </p:sp>
      <p:sp>
        <p:nvSpPr>
          <p:cNvPr id="23" name="Sản phẩm">
            <a:extLst xmlns:a="http://schemas.openxmlformats.org/drawingml/2006/main">
              <a:ext uri="{FF2B5EF4-FFF2-40B4-BE49-F238E27FC236}">
                <a16:creationId xmlns:a16="http://schemas.microsoft.com/office/drawing/2014/main" id="{1AFD0D9E-66E1-4EA8-9180-8290A953BDA9}"/>
              </a:ext>
            </a:extLst>
          </p:cNvPr>
          <p:cNvSpPr>
            <a:spLocks xmlns:a="http://schemas.openxmlformats.org/drawingml/2006/main" noGrp="1"/>
          </p:cNvSpPr>
          <p:nvPr/>
        </p:nvSpPr>
        <p:spPr>
          <a:xfrm xmlns:a="http://schemas.openxmlformats.org/drawingml/2006/main">
            <a:off x="1809750" y="5086350"/>
            <a:ext cx="500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2D3D"/>
                </a:solidFill>
                <a:latin typeface="Arial"/>
                <a:ea typeface="Arial"/>
                <a:cs typeface="Arial"/>
              </a:defRPr>
            </a:defPPr>
            <a:lvl1pPr algn="l">
              <a:defRPr sz="2475" b="1">
                <a:solidFill>
                  <a:srgbClr val="172D3D"/>
                </a:solidFill>
                <a:latin typeface="Arial"/>
                <a:ea typeface="Arial"/>
                <a:cs typeface="Arial"/>
              </a:defRPr>
            </a:lvl1pPr>
            <a:lvl2pPr algn="l">
              <a:defRPr sz="2475" b="1">
                <a:solidFill>
                  <a:srgbClr val="172D3D"/>
                </a:solidFill>
                <a:latin typeface="Arial"/>
                <a:ea typeface="Arial"/>
                <a:cs typeface="Arial"/>
              </a:defRPr>
            </a:lvl2pPr>
            <a:lvl3pPr algn="l">
              <a:defRPr sz="2475" b="1">
                <a:solidFill>
                  <a:srgbClr val="172D3D"/>
                </a:solidFill>
                <a:latin typeface="Arial"/>
                <a:ea typeface="Arial"/>
                <a:cs typeface="Arial"/>
              </a:defRPr>
            </a:lvl3pPr>
            <a:lvl4pPr algn="l">
              <a:defRPr sz="2475" b="1">
                <a:solidFill>
                  <a:srgbClr val="172D3D"/>
                </a:solidFill>
                <a:latin typeface="Arial"/>
                <a:ea typeface="Arial"/>
                <a:cs typeface="Arial"/>
              </a:defRPr>
            </a:lvl4pPr>
            <a:lvl5pPr algn="l">
              <a:defRPr sz="2475" b="1">
                <a:solidFill>
                  <a:srgbClr val="172D3D"/>
                </a:solidFill>
                <a:latin typeface="Arial"/>
                <a:ea typeface="Arial"/>
                <a:cs typeface="Arial"/>
              </a:defRPr>
            </a:lvl5pPr>
            <a:lvl6pPr algn="l">
              <a:defRPr sz="2475" b="1">
                <a:solidFill>
                  <a:srgbClr val="172D3D"/>
                </a:solidFill>
                <a:latin typeface="Arial"/>
                <a:ea typeface="Arial"/>
                <a:cs typeface="Arial"/>
              </a:defRPr>
            </a:lvl6pPr>
            <a:lvl7pPr algn="l">
              <a:defRPr sz="2475" b="1">
                <a:solidFill>
                  <a:srgbClr val="172D3D"/>
                </a:solidFill>
                <a:latin typeface="Arial"/>
                <a:ea typeface="Arial"/>
                <a:cs typeface="Arial"/>
              </a:defRPr>
            </a:lvl7pPr>
            <a:lvl8pPr algn="l">
              <a:defRPr sz="2475" b="1">
                <a:solidFill>
                  <a:srgbClr val="172D3D"/>
                </a:solidFill>
                <a:latin typeface="Arial"/>
                <a:ea typeface="Arial"/>
                <a:cs typeface="Arial"/>
              </a:defRPr>
            </a:lvl8pPr>
            <a:lvl9pPr algn="l">
              <a:defRPr sz="2475" b="1">
                <a:solidFill>
                  <a:srgbClr val="172D3D"/>
                </a:solidFill>
                <a:latin typeface="Arial"/>
                <a:ea typeface="Arial"/>
                <a:cs typeface="Arial"/>
              </a:defRPr>
            </a:lvl9pPr>
          </a:lstStyle>
          <a:p xmlns:a="http://schemas.openxmlformats.org/drawingml/2006/main">
            <a:pPr algn="l">
              <a:defRPr sz="2475" b="1">
                <a:solidFill>
                  <a:srgbClr val="172D3D"/>
                </a:solidFill>
                <a:latin typeface="Arial"/>
                <a:ea typeface="Arial"/>
                <a:cs typeface="Arial"/>
              </a:defRPr>
            </a:pPr>
            <a:r>
              <a:rPr sz="2475" b="1">
                <a:solidFill>
                  <a:srgbClr val="172D3D"/>
                </a:solidFill>
                <a:latin typeface="Arial"/>
                <a:ea typeface="Arial"/>
                <a:cs typeface="Arial"/>
              </a:rPr>
              <a:t>Sản phẩm</a:t>
            </a:r>
          </a:p>
        </p:txBody>
      </p:sp>
      <p:sp>
        <p:nvSpPr>
          <p:cNvPr id="24" name="Giao diện, kết quả và kiểm thử">
            <a:extLst xmlns:a="http://schemas.openxmlformats.org/drawingml/2006/main">
              <a:ext uri="{FF2B5EF4-FFF2-40B4-BE49-F238E27FC236}">
                <a16:creationId xmlns:a16="http://schemas.microsoft.com/office/drawing/2014/main" id="{CB8455D1-9976-4EDA-9D04-B9DB0B8C7C36}"/>
              </a:ext>
            </a:extLst>
          </p:cNvPr>
          <p:cNvSpPr>
            <a:spLocks xmlns:a="http://schemas.openxmlformats.org/drawingml/2006/main" noGrp="1"/>
          </p:cNvSpPr>
          <p:nvPr/>
        </p:nvSpPr>
        <p:spPr>
          <a:xfrm xmlns:a="http://schemas.openxmlformats.org/drawingml/2006/main">
            <a:off x="7334250" y="51530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Giao diện, kết quả và kiểm thử</a:t>
            </a:r>
          </a:p>
        </p:txBody>
      </p:sp>
    </p:spTree>
    <p:extLst>
      <p:ext uri="{BB962C8B-B14F-4D97-AF65-F5344CB8AC3E}">
        <p14:creationId xmlns:p14="http://schemas.microsoft.com/office/powerpoint/2010/main" val="1544228584"/>
      </p:ext>
    </p:extLst>
  </p:cSld>
</p:sld>
</file>

<file path=ppt/slides/slide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2" name="01   TỔNG QUAN">
            <a:extLst xmlns:a="http://schemas.openxmlformats.org/drawingml/2006/main">
              <a:ext uri="{FF2B5EF4-FFF2-40B4-BE49-F238E27FC236}">
                <a16:creationId xmlns:a16="http://schemas.microsoft.com/office/drawing/2014/main" id="{D03BEDE3-9EFC-41CB-AC6A-2FFE23CB1F5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Bài toán lựa chọn phim">
            <a:extLst xmlns:a="http://schemas.openxmlformats.org/drawingml/2006/main">
              <a:ext uri="{FF2B5EF4-FFF2-40B4-BE49-F238E27FC236}">
                <a16:creationId xmlns:a16="http://schemas.microsoft.com/office/drawing/2014/main" id="{6D004487-E06A-4234-A384-263006263314}"/>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Bài toán lựa chọn phim</a:t>
            </a:r>
          </a:p>
        </p:txBody>
      </p:sp>
      <p:sp>
        <p:nvSpPr>
          <p:cNvPr id="3" name="Một catalog lớn cần danh sách gợi ý ngắn và có căn cứ">
            <a:extLst xmlns:a="http://schemas.openxmlformats.org/drawingml/2006/main">
              <a:ext uri="{FF2B5EF4-FFF2-40B4-BE49-F238E27FC236}">
                <a16:creationId xmlns:a16="http://schemas.microsoft.com/office/drawing/2014/main" id="{5BA74553-FDCA-4942-B8AA-564275AC60EA}"/>
              </a:ext>
            </a:extLst>
          </p:cNvPr>
          <p:cNvSpPr>
            <a:spLocks xmlns:a="http://schemas.openxmlformats.org/drawingml/2006/main" noGrp="1"/>
          </p:cNvSpPr>
          <p:nvPr/>
        </p:nvSpPr>
        <p:spPr>
          <a:xfrm xmlns:a="http://schemas.openxmlformats.org/drawingml/2006/main">
            <a:off x="628650" y="15811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Một catalog lớn cần danh sách gợi ý ngắn và có căn cứ</a:t>
            </a:r>
          </a:p>
        </p:txBody>
      </p:sp>
      <p:sp>
        <p:nvSpPr>
          <p:cNvPr id="4" name="">
            <a:extLst xmlns:a="http://schemas.openxmlformats.org/drawingml/2006/main">
              <a:ext uri="{FF2B5EF4-FFF2-40B4-BE49-F238E27FC236}">
                <a16:creationId xmlns:a16="http://schemas.microsoft.com/office/drawing/2014/main" id="{26949C05-7286-4D6E-B70C-839EDD03B1A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5" name="MovieRS   /   Nguyễn Thanh Chiến">
            <a:extLst xmlns:a="http://schemas.openxmlformats.org/drawingml/2006/main">
              <a:ext uri="{FF2B5EF4-FFF2-40B4-BE49-F238E27FC236}">
                <a16:creationId xmlns:a16="http://schemas.microsoft.com/office/drawing/2014/main" id="{57D2FABD-5D00-4D5B-B469-86F9D9601A6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6" name="03">
            <a:extLst xmlns:a="http://schemas.openxmlformats.org/drawingml/2006/main">
              <a:ext uri="{FF2B5EF4-FFF2-40B4-BE49-F238E27FC236}">
                <a16:creationId xmlns:a16="http://schemas.microsoft.com/office/drawing/2014/main" id="{18AB55A6-3BDD-4420-A0DD-787546EFC7AE}"/>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03</a:t>
            </a:r>
          </a:p>
        </p:txBody>
      </p:sp>
      <p:sp>
        <p:nvSpPr>
          <p:cNvPr id="7" name="62.423">
            <a:extLst xmlns:a="http://schemas.openxmlformats.org/drawingml/2006/main">
              <a:ext uri="{FF2B5EF4-FFF2-40B4-BE49-F238E27FC236}">
                <a16:creationId xmlns:a16="http://schemas.microsoft.com/office/drawing/2014/main" id="{450B840C-1AF6-49AE-8D9A-25464A7F9640}"/>
              </a:ext>
            </a:extLst>
          </p:cNvPr>
          <p:cNvSpPr>
            <a:spLocks xmlns:a="http://schemas.openxmlformats.org/drawingml/2006/main" noGrp="1"/>
          </p:cNvSpPr>
          <p:nvPr/>
        </p:nvSpPr>
        <p:spPr>
          <a:xfrm xmlns:a="http://schemas.openxmlformats.org/drawingml/2006/main">
            <a:off x="628650" y="2409825"/>
            <a:ext cx="647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297E7C"/>
                </a:solidFill>
                <a:latin typeface="Arial"/>
                <a:ea typeface="Arial"/>
                <a:cs typeface="Arial"/>
              </a:defRPr>
            </a:defPPr>
            <a:lvl1pPr algn="l">
              <a:defRPr sz="6825" b="1">
                <a:solidFill>
                  <a:srgbClr val="297E7C"/>
                </a:solidFill>
                <a:latin typeface="Arial"/>
                <a:ea typeface="Arial"/>
                <a:cs typeface="Arial"/>
              </a:defRPr>
            </a:lvl1pPr>
            <a:lvl2pPr algn="l">
              <a:defRPr sz="6825" b="1">
                <a:solidFill>
                  <a:srgbClr val="297E7C"/>
                </a:solidFill>
                <a:latin typeface="Arial"/>
                <a:ea typeface="Arial"/>
                <a:cs typeface="Arial"/>
              </a:defRPr>
            </a:lvl2pPr>
            <a:lvl3pPr algn="l">
              <a:defRPr sz="6825" b="1">
                <a:solidFill>
                  <a:srgbClr val="297E7C"/>
                </a:solidFill>
                <a:latin typeface="Arial"/>
                <a:ea typeface="Arial"/>
                <a:cs typeface="Arial"/>
              </a:defRPr>
            </a:lvl3pPr>
            <a:lvl4pPr algn="l">
              <a:defRPr sz="6825" b="1">
                <a:solidFill>
                  <a:srgbClr val="297E7C"/>
                </a:solidFill>
                <a:latin typeface="Arial"/>
                <a:ea typeface="Arial"/>
                <a:cs typeface="Arial"/>
              </a:defRPr>
            </a:lvl4pPr>
            <a:lvl5pPr algn="l">
              <a:defRPr sz="6825" b="1">
                <a:solidFill>
                  <a:srgbClr val="297E7C"/>
                </a:solidFill>
                <a:latin typeface="Arial"/>
                <a:ea typeface="Arial"/>
                <a:cs typeface="Arial"/>
              </a:defRPr>
            </a:lvl5pPr>
            <a:lvl6pPr algn="l">
              <a:defRPr sz="6825" b="1">
                <a:solidFill>
                  <a:srgbClr val="297E7C"/>
                </a:solidFill>
                <a:latin typeface="Arial"/>
                <a:ea typeface="Arial"/>
                <a:cs typeface="Arial"/>
              </a:defRPr>
            </a:lvl6pPr>
            <a:lvl7pPr algn="l">
              <a:defRPr sz="6825" b="1">
                <a:solidFill>
                  <a:srgbClr val="297E7C"/>
                </a:solidFill>
                <a:latin typeface="Arial"/>
                <a:ea typeface="Arial"/>
                <a:cs typeface="Arial"/>
              </a:defRPr>
            </a:lvl7pPr>
            <a:lvl8pPr algn="l">
              <a:defRPr sz="6825" b="1">
                <a:solidFill>
                  <a:srgbClr val="297E7C"/>
                </a:solidFill>
                <a:latin typeface="Arial"/>
                <a:ea typeface="Arial"/>
                <a:cs typeface="Arial"/>
              </a:defRPr>
            </a:lvl8pPr>
            <a:lvl9pPr algn="l">
              <a:defRPr sz="6825" b="1">
                <a:solidFill>
                  <a:srgbClr val="297E7C"/>
                </a:solidFill>
                <a:latin typeface="Arial"/>
                <a:ea typeface="Arial"/>
                <a:cs typeface="Arial"/>
              </a:defRPr>
            </a:lvl9pPr>
          </a:lstStyle>
          <a:p xmlns:a="http://schemas.openxmlformats.org/drawingml/2006/main">
            <a:pPr algn="l">
              <a:defRPr sz="6825" b="1">
                <a:solidFill>
                  <a:srgbClr val="297E7C"/>
                </a:solidFill>
                <a:latin typeface="Arial"/>
                <a:ea typeface="Arial"/>
                <a:cs typeface="Arial"/>
              </a:defRPr>
            </a:pPr>
            <a:r>
              <a:rPr sz="6825" b="1">
                <a:solidFill>
                  <a:srgbClr val="297E7C"/>
                </a:solidFill>
                <a:latin typeface="Arial"/>
                <a:ea typeface="Arial"/>
                <a:cs typeface="Arial"/>
              </a:rPr>
              <a:t>62.423</a:t>
            </a:r>
          </a:p>
        </p:txBody>
      </p:sp>
      <p:sp>
        <p:nvSpPr>
          <p:cNvPr id="8" name="phim trong catalog MovieLens 25M">
            <a:extLst xmlns:a="http://schemas.openxmlformats.org/drawingml/2006/main">
              <a:ext uri="{FF2B5EF4-FFF2-40B4-BE49-F238E27FC236}">
                <a16:creationId xmlns:a16="http://schemas.microsoft.com/office/drawing/2014/main" id="{6763333F-88A5-4058-865D-A1E71ED6BC2C}"/>
              </a:ext>
            </a:extLst>
          </p:cNvPr>
          <p:cNvSpPr>
            <a:spLocks xmlns:a="http://schemas.openxmlformats.org/drawingml/2006/main" noGrp="1"/>
          </p:cNvSpPr>
          <p:nvPr/>
        </p:nvSpPr>
        <p:spPr>
          <a:xfrm xmlns:a="http://schemas.openxmlformats.org/drawingml/2006/main">
            <a:off x="666750" y="3619500"/>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phim trong catalog MovieLens 25M</a:t>
            </a:r>
          </a:p>
        </p:txBody>
      </p:sp>
      <p:sp>
        <p:nvSpPr>
          <p:cNvPr id="9" name="Người dùng đánh giá&#10;rất ít phim trong catalog">
            <a:extLst xmlns:a="http://schemas.openxmlformats.org/drawingml/2006/main">
              <a:ext uri="{FF2B5EF4-FFF2-40B4-BE49-F238E27FC236}">
                <a16:creationId xmlns:a16="http://schemas.microsoft.com/office/drawing/2014/main" id="{B3FCB492-E086-4C9A-825A-6F8043FC651B}"/>
              </a:ext>
            </a:extLst>
          </p:cNvPr>
          <p:cNvSpPr>
            <a:spLocks xmlns:a="http://schemas.openxmlformats.org/drawingml/2006/main" noGrp="1"/>
          </p:cNvSpPr>
          <p:nvPr/>
        </p:nvSpPr>
        <p:spPr>
          <a:xfrm xmlns:a="http://schemas.openxmlformats.org/drawingml/2006/main">
            <a:off x="7381875" y="23907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D3D"/>
                </a:solidFill>
                <a:latin typeface="Arial"/>
                <a:ea typeface="Arial"/>
                <a:cs typeface="Arial"/>
              </a:defRPr>
            </a:defPPr>
            <a:lvl1pPr algn="l">
              <a:defRPr sz="2325" b="1">
                <a:solidFill>
                  <a:srgbClr val="172D3D"/>
                </a:solidFill>
                <a:latin typeface="Arial"/>
                <a:ea typeface="Arial"/>
                <a:cs typeface="Arial"/>
              </a:defRPr>
            </a:lvl1pPr>
            <a:lvl2pPr algn="l">
              <a:defRPr sz="2325" b="1">
                <a:solidFill>
                  <a:srgbClr val="172D3D"/>
                </a:solidFill>
                <a:latin typeface="Arial"/>
                <a:ea typeface="Arial"/>
                <a:cs typeface="Arial"/>
              </a:defRPr>
            </a:lvl2pPr>
            <a:lvl3pPr algn="l">
              <a:defRPr sz="2325" b="1">
                <a:solidFill>
                  <a:srgbClr val="172D3D"/>
                </a:solidFill>
                <a:latin typeface="Arial"/>
                <a:ea typeface="Arial"/>
                <a:cs typeface="Arial"/>
              </a:defRPr>
            </a:lvl3pPr>
            <a:lvl4pPr algn="l">
              <a:defRPr sz="2325" b="1">
                <a:solidFill>
                  <a:srgbClr val="172D3D"/>
                </a:solidFill>
                <a:latin typeface="Arial"/>
                <a:ea typeface="Arial"/>
                <a:cs typeface="Arial"/>
              </a:defRPr>
            </a:lvl4pPr>
            <a:lvl5pPr algn="l">
              <a:defRPr sz="2325" b="1">
                <a:solidFill>
                  <a:srgbClr val="172D3D"/>
                </a:solidFill>
                <a:latin typeface="Arial"/>
                <a:ea typeface="Arial"/>
                <a:cs typeface="Arial"/>
              </a:defRPr>
            </a:lvl5pPr>
            <a:lvl6pPr algn="l">
              <a:defRPr sz="2325" b="1">
                <a:solidFill>
                  <a:srgbClr val="172D3D"/>
                </a:solidFill>
                <a:latin typeface="Arial"/>
                <a:ea typeface="Arial"/>
                <a:cs typeface="Arial"/>
              </a:defRPr>
            </a:lvl6pPr>
            <a:lvl7pPr algn="l">
              <a:defRPr sz="2325" b="1">
                <a:solidFill>
                  <a:srgbClr val="172D3D"/>
                </a:solidFill>
                <a:latin typeface="Arial"/>
                <a:ea typeface="Arial"/>
                <a:cs typeface="Arial"/>
              </a:defRPr>
            </a:lvl7pPr>
            <a:lvl8pPr algn="l">
              <a:defRPr sz="2325" b="1">
                <a:solidFill>
                  <a:srgbClr val="172D3D"/>
                </a:solidFill>
                <a:latin typeface="Arial"/>
                <a:ea typeface="Arial"/>
                <a:cs typeface="Arial"/>
              </a:defRPr>
            </a:lvl8pPr>
            <a:lvl9pPr algn="l">
              <a:defRPr sz="2325" b="1">
                <a:solidFill>
                  <a:srgbClr val="172D3D"/>
                </a:solidFill>
                <a:latin typeface="Arial"/>
                <a:ea typeface="Arial"/>
                <a:cs typeface="Arial"/>
              </a:defRPr>
            </a:lvl9pPr>
          </a:lstStyle>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Người dùng đánh giá</a:t>
            </a:r>
          </a:p>
          <a:p xmlns:a="http://schemas.openxmlformats.org/drawingml/2006/main">
            <a:pPr algn="l">
              <a:defRPr sz="2325" b="1">
                <a:solidFill>
                  <a:srgbClr val="172D3D"/>
                </a:solidFill>
                <a:latin typeface="Arial"/>
                <a:ea typeface="Arial"/>
                <a:cs typeface="Arial"/>
              </a:defRPr>
            </a:pPr>
            <a:r>
              <a:rPr sz="2325" b="1">
                <a:solidFill>
                  <a:srgbClr val="172D3D"/>
                </a:solidFill>
                <a:latin typeface="Arial"/>
                <a:ea typeface="Arial"/>
                <a:cs typeface="Arial"/>
              </a:rPr>
              <a:t>rất ít phim trong catalog</a:t>
            </a:r>
          </a:p>
        </p:txBody>
      </p:sp>
      <p:sp>
        <p:nvSpPr>
          <p:cNvPr id="10" name="Lịch sử ngắn tạo cold-start.&#10;Điểm rating thấp chưa bảo đảm&#10;thứ hạ">
            <a:extLst xmlns:a="http://schemas.openxmlformats.org/drawingml/2006/main">
              <a:ext uri="{FF2B5EF4-FFF2-40B4-BE49-F238E27FC236}">
                <a16:creationId xmlns:a16="http://schemas.microsoft.com/office/drawing/2014/main" id="{CE212BDB-09F5-4CCB-84ED-C847DBC139BC}"/>
              </a:ext>
            </a:extLst>
          </p:cNvPr>
          <p:cNvSpPr>
            <a:spLocks xmlns:a="http://schemas.openxmlformats.org/drawingml/2006/main" noGrp="1"/>
          </p:cNvSpPr>
          <p:nvPr/>
        </p:nvSpPr>
        <p:spPr>
          <a:xfrm xmlns:a="http://schemas.openxmlformats.org/drawingml/2006/main">
            <a:off x="7381875" y="38290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Lịch sử ngắn tạo cold-start.</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Điểm rating thấp chưa bảo đảm</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thứ hạng Top-K tốt.</a:t>
            </a:r>
          </a:p>
        </p:txBody>
      </p:sp>
      <p:sp>
        <p:nvSpPr>
          <p:cNvPr id="11" name="MovieRS đặt bài toán thuật toán trong một ứng dụng phim mô phỏng">
            <a:extLst xmlns:a="http://schemas.openxmlformats.org/drawingml/2006/main">
              <a:ext uri="{FF2B5EF4-FFF2-40B4-BE49-F238E27FC236}">
                <a16:creationId xmlns:a16="http://schemas.microsoft.com/office/drawing/2014/main" id="{4CFE3115-C090-429B-B0B3-17C5760BD7CD}"/>
              </a:ext>
            </a:extLst>
          </p:cNvPr>
          <p:cNvSpPr>
            <a:spLocks xmlns:a="http://schemas.openxmlformats.org/drawingml/2006/main" noGrp="1"/>
          </p:cNvSpPr>
          <p:nvPr/>
        </p:nvSpPr>
        <p:spPr>
          <a:xfrm xmlns:a="http://schemas.openxmlformats.org/drawingml/2006/main">
            <a:off x="666750" y="54578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MovieRS đặt bài toán thuật toán trong một ứng dụng phim mô phỏng</a:t>
            </a:r>
          </a:p>
        </p:txBody>
      </p:sp>
    </p:spTree>
    <p:extLst>
      <p:ext uri="{BB962C8B-B14F-4D97-AF65-F5344CB8AC3E}">
        <p14:creationId xmlns:p14="http://schemas.microsoft.com/office/powerpoint/2010/main" val="1072130705"/>
      </p:ext>
    </p:extLst>
  </p:cSld>
</p:sld>
</file>

<file path=ppt/slides/slide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7" name="01   TỔNG QUAN">
            <a:extLst xmlns:a="http://schemas.openxmlformats.org/drawingml/2006/main">
              <a:ext uri="{FF2B5EF4-FFF2-40B4-BE49-F238E27FC236}">
                <a16:creationId xmlns:a16="http://schemas.microsoft.com/office/drawing/2014/main" id="{A85ADAF9-2BC4-484C-8E09-FF27E0AD5941}"/>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01   TỔNG QUAN</a:t>
            </a:r>
          </a:p>
        </p:txBody>
      </p:sp>
      <p:sp>
        <p:nvSpPr>
          <p:cNvPr id="2" name="Mục tiêu và phạm vi của MovieRS">
            <a:extLst xmlns:a="http://schemas.openxmlformats.org/drawingml/2006/main">
              <a:ext uri="{FF2B5EF4-FFF2-40B4-BE49-F238E27FC236}">
                <a16:creationId xmlns:a16="http://schemas.microsoft.com/office/drawing/2014/main" id="{F7A38C28-C99E-4364-9DD4-E6224B84D057}"/>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Mục tiêu và phạm vi của MovieRS</a:t>
            </a:r>
          </a:p>
        </p:txBody>
      </p:sp>
      <p:sp>
        <p:nvSpPr>
          <p:cNvPr id="3" name="">
            <a:extLst xmlns:a="http://schemas.openxmlformats.org/drawingml/2006/main">
              <a:ext uri="{FF2B5EF4-FFF2-40B4-BE49-F238E27FC236}">
                <a16:creationId xmlns:a16="http://schemas.microsoft.com/office/drawing/2014/main" id="{1A98CB30-D6F6-40B0-AAF1-8D115DACD3F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7E1DA3B6-B128-472B-A46D-5BB6B00B311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4">
            <a:extLst xmlns:a="http://schemas.openxmlformats.org/drawingml/2006/main">
              <a:ext uri="{FF2B5EF4-FFF2-40B4-BE49-F238E27FC236}">
                <a16:creationId xmlns:a16="http://schemas.microsoft.com/office/drawing/2014/main" id="{BBB924DA-77C9-4C39-958A-4FFFDCF69F5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04</a:t>
            </a:r>
          </a:p>
        </p:txBody>
      </p:sp>
      <p:sp>
        <p:nvSpPr>
          <p:cNvPr id="6" name="01">
            <a:extLst xmlns:a="http://schemas.openxmlformats.org/drawingml/2006/main">
              <a:ext uri="{FF2B5EF4-FFF2-40B4-BE49-F238E27FC236}">
                <a16:creationId xmlns:a16="http://schemas.microsoft.com/office/drawing/2014/main" id="{0EA4FA89-F8F3-4C06-8720-9A896C10BC88}"/>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hiên cứu thuật toán">
            <a:extLst xmlns:a="http://schemas.openxmlformats.org/drawingml/2006/main">
              <a:ext uri="{FF2B5EF4-FFF2-40B4-BE49-F238E27FC236}">
                <a16:creationId xmlns:a16="http://schemas.microsoft.com/office/drawing/2014/main" id="{9C225BD7-C328-4564-B2DE-1D2DB31663B7}"/>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thuật toán</a:t>
            </a:r>
          </a:p>
        </p:txBody>
      </p:sp>
      <p:sp>
        <p:nvSpPr>
          <p:cNvPr id="8" name="Đối chứng hybrid với baseline&#10;trên cùng dữ liệu và giao thức">
            <a:extLst xmlns:a="http://schemas.openxmlformats.org/drawingml/2006/main">
              <a:ext uri="{FF2B5EF4-FFF2-40B4-BE49-F238E27FC236}">
                <a16:creationId xmlns:a16="http://schemas.microsoft.com/office/drawing/2014/main" id="{DBFEFBCD-EF86-4263-AEB4-B6EA416728F8}"/>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Đối chứng hybrid với baseline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trên cùng dữ liệu và giao thức</a:t>
            </a:r>
          </a:p>
        </p:txBody>
      </p:sp>
      <p:sp>
        <p:nvSpPr>
          <p:cNvPr id="9" name="02">
            <a:extLst xmlns:a="http://schemas.openxmlformats.org/drawingml/2006/main">
              <a:ext uri="{FF2B5EF4-FFF2-40B4-BE49-F238E27FC236}">
                <a16:creationId xmlns:a16="http://schemas.microsoft.com/office/drawing/2014/main" id="{7FBBEE0B-23F1-43D2-AEA5-00668D80658F}"/>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Hoàn thiện quy trình">
            <a:extLst xmlns:a="http://schemas.openxmlformats.org/drawingml/2006/main">
              <a:ext uri="{FF2B5EF4-FFF2-40B4-BE49-F238E27FC236}">
                <a16:creationId xmlns:a16="http://schemas.microsoft.com/office/drawing/2014/main" id="{9E2FF964-C90A-4198-A80C-8B07954DF140}"/>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Hoàn thiện quy trình</a:t>
            </a:r>
          </a:p>
        </p:txBody>
      </p:sp>
      <p:sp>
        <p:nvSpPr>
          <p:cNvPr id="11" name="Lưu snapshot, chọn trên VAL&#10;và truy vết kết quả thực nghiệm">
            <a:extLst xmlns:a="http://schemas.openxmlformats.org/drawingml/2006/main">
              <a:ext uri="{FF2B5EF4-FFF2-40B4-BE49-F238E27FC236}">
                <a16:creationId xmlns:a16="http://schemas.microsoft.com/office/drawing/2014/main" id="{D93BA6BE-835E-4D7D-90A5-264DBE42FFE1}"/>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Lưu snapshot, chọn trên VAL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truy vết kết quả thực nghiệm</a:t>
            </a:r>
          </a:p>
        </p:txBody>
      </p:sp>
      <p:sp>
        <p:nvSpPr>
          <p:cNvPr id="12" name="03">
            <a:extLst xmlns:a="http://schemas.openxmlformats.org/drawingml/2006/main">
              <a:ext uri="{FF2B5EF4-FFF2-40B4-BE49-F238E27FC236}">
                <a16:creationId xmlns:a16="http://schemas.microsoft.com/office/drawing/2014/main" id="{F31DEC2D-17D1-43E7-AE94-CE6E8750CE2D}"/>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Xây dựng nguyên mẫu">
            <a:extLst xmlns:a="http://schemas.openxmlformats.org/drawingml/2006/main">
              <a:ext uri="{FF2B5EF4-FFF2-40B4-BE49-F238E27FC236}">
                <a16:creationId xmlns:a16="http://schemas.microsoft.com/office/drawing/2014/main" id="{B861C26C-2F25-411B-AA17-A0A4B4B0AAB7}"/>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Xây dựng nguyên mẫu</a:t>
            </a:r>
          </a:p>
        </p:txBody>
      </p:sp>
      <p:sp>
        <p:nvSpPr>
          <p:cNvPr id="14" name="Flutter, API và dashboard&#10;với luồng ghi dữ liệu nhất quán">
            <a:extLst xmlns:a="http://schemas.openxmlformats.org/drawingml/2006/main">
              <a:ext uri="{FF2B5EF4-FFF2-40B4-BE49-F238E27FC236}">
                <a16:creationId xmlns:a16="http://schemas.microsoft.com/office/drawing/2014/main" id="{BA2BADD0-C2F9-4EAB-ABCC-1157A615C8B2}"/>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Flutter, API và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với luồng ghi dữ liệu nhất quán</a:t>
            </a:r>
          </a:p>
        </p:txBody>
      </p:sp>
      <p:sp>
        <p:nvSpPr>
          <p:cNvPr id="15" name="Phạm vi">
            <a:extLst xmlns:a="http://schemas.openxmlformats.org/drawingml/2006/main">
              <a:ext uri="{FF2B5EF4-FFF2-40B4-BE49-F238E27FC236}">
                <a16:creationId xmlns:a16="http://schemas.microsoft.com/office/drawing/2014/main" id="{95E6716C-E150-42E0-9460-DAF9C9D0CDBE}"/>
              </a:ext>
            </a:extLst>
          </p:cNvPr>
          <p:cNvSpPr>
            <a:spLocks xmlns:a="http://schemas.openxmlformats.org/drawingml/2006/main" noGrp="1"/>
          </p:cNvSpPr>
          <p:nvPr/>
        </p:nvSpPr>
        <p:spPr>
          <a:xfrm xmlns:a="http://schemas.openxmlformats.org/drawingml/2006/main">
            <a:off x="666750" y="54006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97E7C"/>
                </a:solidFill>
                <a:latin typeface="Arial"/>
                <a:ea typeface="Arial"/>
                <a:cs typeface="Arial"/>
              </a:defRPr>
            </a:defPPr>
            <a:lvl1pPr algn="l">
              <a:defRPr sz="1950" b="1">
                <a:solidFill>
                  <a:srgbClr val="297E7C"/>
                </a:solidFill>
                <a:latin typeface="Arial"/>
                <a:ea typeface="Arial"/>
                <a:cs typeface="Arial"/>
              </a:defRPr>
            </a:lvl1pPr>
            <a:lvl2pPr algn="l">
              <a:defRPr sz="1950" b="1">
                <a:solidFill>
                  <a:srgbClr val="297E7C"/>
                </a:solidFill>
                <a:latin typeface="Arial"/>
                <a:ea typeface="Arial"/>
                <a:cs typeface="Arial"/>
              </a:defRPr>
            </a:lvl2pPr>
            <a:lvl3pPr algn="l">
              <a:defRPr sz="1950" b="1">
                <a:solidFill>
                  <a:srgbClr val="297E7C"/>
                </a:solidFill>
                <a:latin typeface="Arial"/>
                <a:ea typeface="Arial"/>
                <a:cs typeface="Arial"/>
              </a:defRPr>
            </a:lvl3pPr>
            <a:lvl4pPr algn="l">
              <a:defRPr sz="1950" b="1">
                <a:solidFill>
                  <a:srgbClr val="297E7C"/>
                </a:solidFill>
                <a:latin typeface="Arial"/>
                <a:ea typeface="Arial"/>
                <a:cs typeface="Arial"/>
              </a:defRPr>
            </a:lvl4pPr>
            <a:lvl5pPr algn="l">
              <a:defRPr sz="1950" b="1">
                <a:solidFill>
                  <a:srgbClr val="297E7C"/>
                </a:solidFill>
                <a:latin typeface="Arial"/>
                <a:ea typeface="Arial"/>
                <a:cs typeface="Arial"/>
              </a:defRPr>
            </a:lvl5pPr>
            <a:lvl6pPr algn="l">
              <a:defRPr sz="1950" b="1">
                <a:solidFill>
                  <a:srgbClr val="297E7C"/>
                </a:solidFill>
                <a:latin typeface="Arial"/>
                <a:ea typeface="Arial"/>
                <a:cs typeface="Arial"/>
              </a:defRPr>
            </a:lvl6pPr>
            <a:lvl7pPr algn="l">
              <a:defRPr sz="1950" b="1">
                <a:solidFill>
                  <a:srgbClr val="297E7C"/>
                </a:solidFill>
                <a:latin typeface="Arial"/>
                <a:ea typeface="Arial"/>
                <a:cs typeface="Arial"/>
              </a:defRPr>
            </a:lvl7pPr>
            <a:lvl8pPr algn="l">
              <a:defRPr sz="1950" b="1">
                <a:solidFill>
                  <a:srgbClr val="297E7C"/>
                </a:solidFill>
                <a:latin typeface="Arial"/>
                <a:ea typeface="Arial"/>
                <a:cs typeface="Arial"/>
              </a:defRPr>
            </a:lvl8pPr>
            <a:lvl9pPr algn="l">
              <a:defRPr sz="1950" b="1">
                <a:solidFill>
                  <a:srgbClr val="297E7C"/>
                </a:solidFill>
                <a:latin typeface="Arial"/>
                <a:ea typeface="Arial"/>
                <a:cs typeface="Arial"/>
              </a:defRPr>
            </a:lvl9pPr>
          </a:lstStyle>
          <a:p xmlns:a="http://schemas.openxmlformats.org/drawingml/2006/main">
            <a:pPr algn="l">
              <a:defRPr sz="1950" b="1">
                <a:solidFill>
                  <a:srgbClr val="297E7C"/>
                </a:solidFill>
                <a:latin typeface="Arial"/>
                <a:ea typeface="Arial"/>
                <a:cs typeface="Arial"/>
              </a:defRPr>
            </a:pPr>
            <a:r>
              <a:rPr sz="1950" b="1">
                <a:solidFill>
                  <a:srgbClr val="297E7C"/>
                </a:solidFill>
                <a:latin typeface="Arial"/>
                <a:ea typeface="Arial"/>
                <a:cs typeface="Arial"/>
              </a:rPr>
              <a:t>Phạm vi</a:t>
            </a:r>
          </a:p>
        </p:txBody>
      </p:sp>
      <p:sp>
        <p:nvSpPr>
          <p:cNvPr id="16" name="Mẫu vừa sức máy cá nhân. Player mô phỏng. Chưa có A/B test hoặc l">
            <a:extLst xmlns:a="http://schemas.openxmlformats.org/drawingml/2006/main">
              <a:ext uri="{FF2B5EF4-FFF2-40B4-BE49-F238E27FC236}">
                <a16:creationId xmlns:a16="http://schemas.microsoft.com/office/drawing/2014/main" id="{C2D5DC3A-A454-4087-9AB1-B33B35BAB336}"/>
              </a:ext>
            </a:extLst>
          </p:cNvPr>
          <p:cNvSpPr>
            <a:spLocks xmlns:a="http://schemas.openxmlformats.org/drawingml/2006/main" noGrp="1"/>
          </p:cNvSpPr>
          <p:nvPr/>
        </p:nvSpPr>
        <p:spPr>
          <a:xfrm xmlns:a="http://schemas.openxmlformats.org/drawingml/2006/main">
            <a:off x="2571750" y="5400675"/>
            <a:ext cx="876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Mẫu vừa sức máy cá nhân. Player mô phỏng. Chưa có A/B test hoặc load test production.</a:t>
            </a:r>
          </a:p>
        </p:txBody>
      </p:sp>
    </p:spTree>
    <p:extLst>
      <p:ext uri="{BB962C8B-B14F-4D97-AF65-F5344CB8AC3E}">
        <p14:creationId xmlns:p14="http://schemas.microsoft.com/office/powerpoint/2010/main" val="73115855"/>
      </p:ext>
    </p:extLst>
  </p:cSld>
</p:sld>
</file>

<file path=ppt/slides/slide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4" name="02   ĐỐI TƯỢNG NGHIÊN CỨU">
            <a:extLst xmlns:a="http://schemas.openxmlformats.org/drawingml/2006/main">
              <a:ext uri="{FF2B5EF4-FFF2-40B4-BE49-F238E27FC236}">
                <a16:creationId xmlns:a16="http://schemas.microsoft.com/office/drawing/2014/main" id="{8445B085-47B2-475F-A7D1-65B75BC4296E}"/>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ẫu từ toàn bộ MovieLens 25M">
            <a:extLst xmlns:a="http://schemas.openxmlformats.org/drawingml/2006/main">
              <a:ext uri="{FF2B5EF4-FFF2-40B4-BE49-F238E27FC236}">
                <a16:creationId xmlns:a16="http://schemas.microsoft.com/office/drawing/2014/main" id="{A4813438-723B-42C7-ACA8-EB3BD4BD784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Mẫu từ toàn bộ MovieLens 25M</a:t>
            </a:r>
          </a:p>
        </p:txBody>
      </p:sp>
      <p:sp>
        <p:nvSpPr>
          <p:cNvPr id="3" name="">
            <a:extLst xmlns:a="http://schemas.openxmlformats.org/drawingml/2006/main">
              <a:ext uri="{FF2B5EF4-FFF2-40B4-BE49-F238E27FC236}">
                <a16:creationId xmlns:a16="http://schemas.microsoft.com/office/drawing/2014/main" id="{06B3F980-FBCE-4496-92F6-154D51EBD8A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DD932972-A80D-45BF-81D6-708D3DC7D73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5">
            <a:extLst xmlns:a="http://schemas.openxmlformats.org/drawingml/2006/main">
              <a:ext uri="{FF2B5EF4-FFF2-40B4-BE49-F238E27FC236}">
                <a16:creationId xmlns:a16="http://schemas.microsoft.com/office/drawing/2014/main" id="{53BE5C3C-9EC1-467F-A63C-3683121974D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05</a:t>
            </a:r>
          </a:p>
        </p:txBody>
      </p:sp>
      <p:sp>
        <p:nvSpPr>
          <p:cNvPr id="6" name="8.000">
            <a:extLst xmlns:a="http://schemas.openxmlformats.org/drawingml/2006/main">
              <a:ext uri="{FF2B5EF4-FFF2-40B4-BE49-F238E27FC236}">
                <a16:creationId xmlns:a16="http://schemas.microsoft.com/office/drawing/2014/main" id="{F23204B5-6B65-4944-BFF8-83A7E694541F}"/>
              </a:ext>
            </a:extLst>
          </p:cNvPr>
          <p:cNvSpPr>
            <a:spLocks xmlns:a="http://schemas.openxmlformats.org/drawingml/2006/main" noGrp="1"/>
          </p:cNvSpPr>
          <p:nvPr/>
        </p:nvSpPr>
        <p:spPr>
          <a:xfrm xmlns:a="http://schemas.openxmlformats.org/drawingml/2006/main">
            <a:off x="666750" y="21717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8.000</a:t>
            </a:r>
          </a:p>
        </p:txBody>
      </p:sp>
      <p:sp>
        <p:nvSpPr>
          <p:cNvPr id="7" name="người dùng được chọn">
            <a:extLst xmlns:a="http://schemas.openxmlformats.org/drawingml/2006/main">
              <a:ext uri="{FF2B5EF4-FFF2-40B4-BE49-F238E27FC236}">
                <a16:creationId xmlns:a16="http://schemas.microsoft.com/office/drawing/2014/main" id="{30AB36C9-2901-4D94-956B-60222A7410E3}"/>
              </a:ext>
            </a:extLst>
          </p:cNvPr>
          <p:cNvSpPr>
            <a:spLocks xmlns:a="http://schemas.openxmlformats.org/drawingml/2006/main" noGrp="1"/>
          </p:cNvSpPr>
          <p:nvPr/>
        </p:nvSpPr>
        <p:spPr>
          <a:xfrm xmlns:a="http://schemas.openxmlformats.org/drawingml/2006/main">
            <a:off x="704850" y="33528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D3D"/>
                </a:solidFill>
                <a:latin typeface="Arial"/>
                <a:ea typeface="Arial"/>
                <a:cs typeface="Arial"/>
              </a:defRPr>
            </a:defPPr>
            <a:lvl1pPr algn="l">
              <a:defRPr sz="2175" b="0">
                <a:solidFill>
                  <a:srgbClr val="172D3D"/>
                </a:solidFill>
                <a:latin typeface="Arial"/>
                <a:ea typeface="Arial"/>
                <a:cs typeface="Arial"/>
              </a:defRPr>
            </a:lvl1pPr>
            <a:lvl2pPr algn="l">
              <a:defRPr sz="2175" b="0">
                <a:solidFill>
                  <a:srgbClr val="172D3D"/>
                </a:solidFill>
                <a:latin typeface="Arial"/>
                <a:ea typeface="Arial"/>
                <a:cs typeface="Arial"/>
              </a:defRPr>
            </a:lvl2pPr>
            <a:lvl3pPr algn="l">
              <a:defRPr sz="2175" b="0">
                <a:solidFill>
                  <a:srgbClr val="172D3D"/>
                </a:solidFill>
                <a:latin typeface="Arial"/>
                <a:ea typeface="Arial"/>
                <a:cs typeface="Arial"/>
              </a:defRPr>
            </a:lvl3pPr>
            <a:lvl4pPr algn="l">
              <a:defRPr sz="2175" b="0">
                <a:solidFill>
                  <a:srgbClr val="172D3D"/>
                </a:solidFill>
                <a:latin typeface="Arial"/>
                <a:ea typeface="Arial"/>
                <a:cs typeface="Arial"/>
              </a:defRPr>
            </a:lvl4pPr>
            <a:lvl5pPr algn="l">
              <a:defRPr sz="2175" b="0">
                <a:solidFill>
                  <a:srgbClr val="172D3D"/>
                </a:solidFill>
                <a:latin typeface="Arial"/>
                <a:ea typeface="Arial"/>
                <a:cs typeface="Arial"/>
              </a:defRPr>
            </a:lvl5pPr>
            <a:lvl6pPr algn="l">
              <a:defRPr sz="2175" b="0">
                <a:solidFill>
                  <a:srgbClr val="172D3D"/>
                </a:solidFill>
                <a:latin typeface="Arial"/>
                <a:ea typeface="Arial"/>
                <a:cs typeface="Arial"/>
              </a:defRPr>
            </a:lvl6pPr>
            <a:lvl7pPr algn="l">
              <a:defRPr sz="2175" b="0">
                <a:solidFill>
                  <a:srgbClr val="172D3D"/>
                </a:solidFill>
                <a:latin typeface="Arial"/>
                <a:ea typeface="Arial"/>
                <a:cs typeface="Arial"/>
              </a:defRPr>
            </a:lvl7pPr>
            <a:lvl8pPr algn="l">
              <a:defRPr sz="2175" b="0">
                <a:solidFill>
                  <a:srgbClr val="172D3D"/>
                </a:solidFill>
                <a:latin typeface="Arial"/>
                <a:ea typeface="Arial"/>
                <a:cs typeface="Arial"/>
              </a:defRPr>
            </a:lvl8pPr>
            <a:lvl9pPr algn="l">
              <a:defRPr sz="2175" b="0">
                <a:solidFill>
                  <a:srgbClr val="172D3D"/>
                </a:solidFill>
                <a:latin typeface="Arial"/>
                <a:ea typeface="Arial"/>
                <a:cs typeface="Arial"/>
              </a:defRPr>
            </a:lvl9pPr>
          </a:lstStyle>
          <a:p xmlns:a="http://schemas.openxmlformats.org/drawingml/2006/main">
            <a:pPr algn="l">
              <a:defRPr sz="2175" b="0">
                <a:solidFill>
                  <a:srgbClr val="172D3D"/>
                </a:solidFill>
                <a:latin typeface="Arial"/>
                <a:ea typeface="Arial"/>
                <a:cs typeface="Arial"/>
              </a:defRPr>
            </a:pPr>
            <a:r>
              <a:rPr sz="2175" b="0">
                <a:solidFill>
                  <a:srgbClr val="172D3D"/>
                </a:solidFill>
                <a:latin typeface="Arial"/>
                <a:ea typeface="Arial"/>
                <a:cs typeface="Arial"/>
              </a:rPr>
              <a:t>người dùng được chọn</a:t>
            </a:r>
          </a:p>
        </p:txBody>
      </p:sp>
      <p:sp>
        <p:nvSpPr>
          <p:cNvPr id="8" name="1.237.592">
            <a:extLst xmlns:a="http://schemas.openxmlformats.org/drawingml/2006/main">
              <a:ext uri="{FF2B5EF4-FFF2-40B4-BE49-F238E27FC236}">
                <a16:creationId xmlns:a16="http://schemas.microsoft.com/office/drawing/2014/main" id="{D9171825-A872-4103-A7A9-B45B510E12F1}"/>
              </a:ext>
            </a:extLst>
          </p:cNvPr>
          <p:cNvSpPr>
            <a:spLocks xmlns:a="http://schemas.openxmlformats.org/drawingml/2006/main" noGrp="1"/>
          </p:cNvSpPr>
          <p:nvPr/>
        </p:nvSpPr>
        <p:spPr>
          <a:xfrm xmlns:a="http://schemas.openxmlformats.org/drawingml/2006/main">
            <a:off x="666750" y="40957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172D3D"/>
                </a:solidFill>
                <a:latin typeface="Arial"/>
                <a:ea typeface="Arial"/>
                <a:cs typeface="Arial"/>
              </a:defRPr>
            </a:defPPr>
            <a:lvl1pPr algn="l">
              <a:defRPr sz="5400" b="1">
                <a:solidFill>
                  <a:srgbClr val="172D3D"/>
                </a:solidFill>
                <a:latin typeface="Arial"/>
                <a:ea typeface="Arial"/>
                <a:cs typeface="Arial"/>
              </a:defRPr>
            </a:lvl1pPr>
            <a:lvl2pPr algn="l">
              <a:defRPr sz="5400" b="1">
                <a:solidFill>
                  <a:srgbClr val="172D3D"/>
                </a:solidFill>
                <a:latin typeface="Arial"/>
                <a:ea typeface="Arial"/>
                <a:cs typeface="Arial"/>
              </a:defRPr>
            </a:lvl2pPr>
            <a:lvl3pPr algn="l">
              <a:defRPr sz="5400" b="1">
                <a:solidFill>
                  <a:srgbClr val="172D3D"/>
                </a:solidFill>
                <a:latin typeface="Arial"/>
                <a:ea typeface="Arial"/>
                <a:cs typeface="Arial"/>
              </a:defRPr>
            </a:lvl3pPr>
            <a:lvl4pPr algn="l">
              <a:defRPr sz="5400" b="1">
                <a:solidFill>
                  <a:srgbClr val="172D3D"/>
                </a:solidFill>
                <a:latin typeface="Arial"/>
                <a:ea typeface="Arial"/>
                <a:cs typeface="Arial"/>
              </a:defRPr>
            </a:lvl4pPr>
            <a:lvl5pPr algn="l">
              <a:defRPr sz="5400" b="1">
                <a:solidFill>
                  <a:srgbClr val="172D3D"/>
                </a:solidFill>
                <a:latin typeface="Arial"/>
                <a:ea typeface="Arial"/>
                <a:cs typeface="Arial"/>
              </a:defRPr>
            </a:lvl5pPr>
            <a:lvl6pPr algn="l">
              <a:defRPr sz="5400" b="1">
                <a:solidFill>
                  <a:srgbClr val="172D3D"/>
                </a:solidFill>
                <a:latin typeface="Arial"/>
                <a:ea typeface="Arial"/>
                <a:cs typeface="Arial"/>
              </a:defRPr>
            </a:lvl6pPr>
            <a:lvl7pPr algn="l">
              <a:defRPr sz="5400" b="1">
                <a:solidFill>
                  <a:srgbClr val="172D3D"/>
                </a:solidFill>
                <a:latin typeface="Arial"/>
                <a:ea typeface="Arial"/>
                <a:cs typeface="Arial"/>
              </a:defRPr>
            </a:lvl7pPr>
            <a:lvl8pPr algn="l">
              <a:defRPr sz="5400" b="1">
                <a:solidFill>
                  <a:srgbClr val="172D3D"/>
                </a:solidFill>
                <a:latin typeface="Arial"/>
                <a:ea typeface="Arial"/>
                <a:cs typeface="Arial"/>
              </a:defRPr>
            </a:lvl8pPr>
            <a:lvl9pPr algn="l">
              <a:defRPr sz="5400" b="1">
                <a:solidFill>
                  <a:srgbClr val="172D3D"/>
                </a:solidFill>
                <a:latin typeface="Arial"/>
                <a:ea typeface="Arial"/>
                <a:cs typeface="Arial"/>
              </a:defRPr>
            </a:lvl9pPr>
          </a:lstStyle>
          <a:p xmlns:a="http://schemas.openxmlformats.org/drawingml/2006/main">
            <a:pPr algn="l">
              <a:defRPr sz="5400" b="1">
                <a:solidFill>
                  <a:srgbClr val="172D3D"/>
                </a:solidFill>
                <a:latin typeface="Arial"/>
                <a:ea typeface="Arial"/>
                <a:cs typeface="Arial"/>
              </a:defRPr>
            </a:pPr>
            <a:r>
              <a:rPr sz="5400" b="1">
                <a:solidFill>
                  <a:srgbClr val="172D3D"/>
                </a:solidFill>
                <a:latin typeface="Arial"/>
                <a:ea typeface="Arial"/>
                <a:cs typeface="Arial"/>
              </a:rPr>
              <a:t>1.237.592</a:t>
            </a:r>
          </a:p>
        </p:txBody>
      </p:sp>
      <p:sp>
        <p:nvSpPr>
          <p:cNvPr id="9" name="rating, giữ toàn bộ lịch sử của mỗi user">
            <a:extLst xmlns:a="http://schemas.openxmlformats.org/drawingml/2006/main">
              <a:ext uri="{FF2B5EF4-FFF2-40B4-BE49-F238E27FC236}">
                <a16:creationId xmlns:a16="http://schemas.microsoft.com/office/drawing/2014/main" id="{CCC2AA16-9A48-4B06-A4AA-A55DBF542BFC}"/>
              </a:ext>
            </a:extLst>
          </p:cNvPr>
          <p:cNvSpPr>
            <a:spLocks xmlns:a="http://schemas.openxmlformats.org/drawingml/2006/main" noGrp="1"/>
          </p:cNvSpPr>
          <p:nvPr/>
        </p:nvSpPr>
        <p:spPr>
          <a:xfrm xmlns:a="http://schemas.openxmlformats.org/drawingml/2006/main">
            <a:off x="704850" y="52292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rating, giữ toàn bộ lịch sử của mỗi user</a:t>
            </a:r>
          </a:p>
        </p:txBody>
      </p:sp>
      <p:sp>
        <p:nvSpPr>
          <p:cNvPr id="10" name="Nguồn đầy đủ">
            <a:extLst xmlns:a="http://schemas.openxmlformats.org/drawingml/2006/main">
              <a:ext uri="{FF2B5EF4-FFF2-40B4-BE49-F238E27FC236}">
                <a16:creationId xmlns:a16="http://schemas.microsoft.com/office/drawing/2014/main" id="{976D583D-A85C-4F8B-AF33-118F228734B9}"/>
              </a:ext>
            </a:extLst>
          </p:cNvPr>
          <p:cNvSpPr>
            <a:spLocks xmlns:a="http://schemas.openxmlformats.org/drawingml/2006/main" noGrp="1"/>
          </p:cNvSpPr>
          <p:nvPr/>
        </p:nvSpPr>
        <p:spPr>
          <a:xfrm xmlns:a="http://schemas.openxmlformats.org/drawingml/2006/main">
            <a:off x="7905750" y="2114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Nguồn đầy đủ</a:t>
            </a:r>
          </a:p>
        </p:txBody>
      </p:sp>
      <p:sp>
        <p:nvSpPr>
          <p:cNvPr id="11" name="25.000.095 rating&#10;162.541 người dùng&#10;62.423 phim trong catalog">
            <a:extLst xmlns:a="http://schemas.openxmlformats.org/drawingml/2006/main">
              <a:ext uri="{FF2B5EF4-FFF2-40B4-BE49-F238E27FC236}">
                <a16:creationId xmlns:a16="http://schemas.microsoft.com/office/drawing/2014/main" id="{DC8C6219-2A13-4CE2-86A7-B7CC5E7B6190}"/>
              </a:ext>
            </a:extLst>
          </p:cNvPr>
          <p:cNvSpPr>
            <a:spLocks xmlns:a="http://schemas.openxmlformats.org/drawingml/2006/main" noGrp="1"/>
          </p:cNvSpPr>
          <p:nvPr/>
        </p:nvSpPr>
        <p:spPr>
          <a:xfrm xmlns:a="http://schemas.openxmlformats.org/drawingml/2006/main">
            <a:off x="7905750" y="2828925"/>
            <a:ext cx="3571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674"/>
                </a:solidFill>
                <a:latin typeface="Arial"/>
                <a:ea typeface="Arial"/>
                <a:cs typeface="Arial"/>
              </a:defRPr>
            </a:defPPr>
            <a:lvl1pPr algn="l">
              <a:defRPr sz="2025" b="0">
                <a:solidFill>
                  <a:srgbClr val="526674"/>
                </a:solidFill>
                <a:latin typeface="Arial"/>
                <a:ea typeface="Arial"/>
                <a:cs typeface="Arial"/>
              </a:defRPr>
            </a:lvl1pPr>
            <a:lvl2pPr algn="l">
              <a:defRPr sz="2025" b="0">
                <a:solidFill>
                  <a:srgbClr val="526674"/>
                </a:solidFill>
                <a:latin typeface="Arial"/>
                <a:ea typeface="Arial"/>
                <a:cs typeface="Arial"/>
              </a:defRPr>
            </a:lvl2pPr>
            <a:lvl3pPr algn="l">
              <a:defRPr sz="2025" b="0">
                <a:solidFill>
                  <a:srgbClr val="526674"/>
                </a:solidFill>
                <a:latin typeface="Arial"/>
                <a:ea typeface="Arial"/>
                <a:cs typeface="Arial"/>
              </a:defRPr>
            </a:lvl3pPr>
            <a:lvl4pPr algn="l">
              <a:defRPr sz="2025" b="0">
                <a:solidFill>
                  <a:srgbClr val="526674"/>
                </a:solidFill>
                <a:latin typeface="Arial"/>
                <a:ea typeface="Arial"/>
                <a:cs typeface="Arial"/>
              </a:defRPr>
            </a:lvl4pPr>
            <a:lvl5pPr algn="l">
              <a:defRPr sz="2025" b="0">
                <a:solidFill>
                  <a:srgbClr val="526674"/>
                </a:solidFill>
                <a:latin typeface="Arial"/>
                <a:ea typeface="Arial"/>
                <a:cs typeface="Arial"/>
              </a:defRPr>
            </a:lvl5pPr>
            <a:lvl6pPr algn="l">
              <a:defRPr sz="2025" b="0">
                <a:solidFill>
                  <a:srgbClr val="526674"/>
                </a:solidFill>
                <a:latin typeface="Arial"/>
                <a:ea typeface="Arial"/>
                <a:cs typeface="Arial"/>
              </a:defRPr>
            </a:lvl6pPr>
            <a:lvl7pPr algn="l">
              <a:defRPr sz="2025" b="0">
                <a:solidFill>
                  <a:srgbClr val="526674"/>
                </a:solidFill>
                <a:latin typeface="Arial"/>
                <a:ea typeface="Arial"/>
                <a:cs typeface="Arial"/>
              </a:defRPr>
            </a:lvl7pPr>
            <a:lvl8pPr algn="l">
              <a:defRPr sz="2025" b="0">
                <a:solidFill>
                  <a:srgbClr val="526674"/>
                </a:solidFill>
                <a:latin typeface="Arial"/>
                <a:ea typeface="Arial"/>
                <a:cs typeface="Arial"/>
              </a:defRPr>
            </a:lvl8pPr>
            <a:lvl9pPr algn="l">
              <a:defRPr sz="2025" b="0">
                <a:solidFill>
                  <a:srgbClr val="526674"/>
                </a:solidFill>
                <a:latin typeface="Arial"/>
                <a:ea typeface="Arial"/>
                <a:cs typeface="Arial"/>
              </a:defRPr>
            </a:lvl9pPr>
          </a:lstStyle>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25.000.095 rating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162.541 người dùng</a:t>
            </a:r>
          </a:p>
          <a:p xmlns:a="http://schemas.openxmlformats.org/drawingml/2006/main">
            <a:pPr algn="l">
              <a:defRPr sz="2025" b="0">
                <a:solidFill>
                  <a:srgbClr val="526674"/>
                </a:solidFill>
                <a:latin typeface="Arial"/>
                <a:ea typeface="Arial"/>
                <a:cs typeface="Arial"/>
              </a:defRPr>
            </a:pPr>
            <a:r>
              <a:rPr sz="2025" b="0">
                <a:solidFill>
                  <a:srgbClr val="526674"/>
                </a:solidFill>
                <a:latin typeface="Arial"/>
                <a:ea typeface="Arial"/>
                <a:cs typeface="Arial"/>
              </a:rPr>
              <a:t>62.423 phim trong catalog</a:t>
            </a:r>
          </a:p>
        </p:txBody>
      </p:sp>
      <p:sp>
        <p:nvSpPr>
          <p:cNvPr id="12" name="">
            <a:extLst xmlns:a="http://schemas.openxmlformats.org/drawingml/2006/main">
              <a:ext uri="{FF2B5EF4-FFF2-40B4-BE49-F238E27FC236}">
                <a16:creationId xmlns:a16="http://schemas.microsoft.com/office/drawing/2014/main" id="{8E4BE73D-38DE-4A71-939E-2177C29CEE33}"/>
              </a:ext>
            </a:extLst>
          </p:cNvPr>
          <p:cNvSpPr>
            <a:spLocks xmlns:a="http://schemas.openxmlformats.org/drawingml/2006/main" noGrp="1"/>
          </p:cNvSpPr>
          <p:nvPr/>
        </p:nvSpPr>
        <p:spPr>
          <a:xfrm xmlns:a="http://schemas.openxmlformats.org/drawingml/2006/main">
            <a:off x="7905750" y="4410075"/>
            <a:ext cx="34290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ọn theo SHA256&#10;20261015:userId">
            <a:extLst xmlns:a="http://schemas.openxmlformats.org/drawingml/2006/main">
              <a:ext uri="{FF2B5EF4-FFF2-40B4-BE49-F238E27FC236}">
                <a16:creationId xmlns:a16="http://schemas.microsoft.com/office/drawing/2014/main" id="{3C9734CA-E0ED-4685-BC85-ED61C7FEBCE2}"/>
              </a:ext>
            </a:extLst>
          </p:cNvPr>
          <p:cNvSpPr>
            <a:spLocks xmlns:a="http://schemas.openxmlformats.org/drawingml/2006/main" noGrp="1"/>
          </p:cNvSpPr>
          <p:nvPr/>
        </p:nvSpPr>
        <p:spPr>
          <a:xfrm xmlns:a="http://schemas.openxmlformats.org/drawingml/2006/main">
            <a:off x="7905750" y="4676775"/>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97E7C"/>
                </a:solidFill>
                <a:latin typeface="Arial"/>
                <a:ea typeface="Arial"/>
                <a:cs typeface="Arial"/>
              </a:defRPr>
            </a:defPPr>
            <a:lvl1pPr algn="l">
              <a:defRPr sz="2100" b="1">
                <a:solidFill>
                  <a:srgbClr val="297E7C"/>
                </a:solidFill>
                <a:latin typeface="Arial"/>
                <a:ea typeface="Arial"/>
                <a:cs typeface="Arial"/>
              </a:defRPr>
            </a:lvl1pPr>
            <a:lvl2pPr algn="l">
              <a:defRPr sz="2100" b="1">
                <a:solidFill>
                  <a:srgbClr val="297E7C"/>
                </a:solidFill>
                <a:latin typeface="Arial"/>
                <a:ea typeface="Arial"/>
                <a:cs typeface="Arial"/>
              </a:defRPr>
            </a:lvl2pPr>
            <a:lvl3pPr algn="l">
              <a:defRPr sz="2100" b="1">
                <a:solidFill>
                  <a:srgbClr val="297E7C"/>
                </a:solidFill>
                <a:latin typeface="Arial"/>
                <a:ea typeface="Arial"/>
                <a:cs typeface="Arial"/>
              </a:defRPr>
            </a:lvl3pPr>
            <a:lvl4pPr algn="l">
              <a:defRPr sz="2100" b="1">
                <a:solidFill>
                  <a:srgbClr val="297E7C"/>
                </a:solidFill>
                <a:latin typeface="Arial"/>
                <a:ea typeface="Arial"/>
                <a:cs typeface="Arial"/>
              </a:defRPr>
            </a:lvl4pPr>
            <a:lvl5pPr algn="l">
              <a:defRPr sz="2100" b="1">
                <a:solidFill>
                  <a:srgbClr val="297E7C"/>
                </a:solidFill>
                <a:latin typeface="Arial"/>
                <a:ea typeface="Arial"/>
                <a:cs typeface="Arial"/>
              </a:defRPr>
            </a:lvl5pPr>
            <a:lvl6pPr algn="l">
              <a:defRPr sz="2100" b="1">
                <a:solidFill>
                  <a:srgbClr val="297E7C"/>
                </a:solidFill>
                <a:latin typeface="Arial"/>
                <a:ea typeface="Arial"/>
                <a:cs typeface="Arial"/>
              </a:defRPr>
            </a:lvl6pPr>
            <a:lvl7pPr algn="l">
              <a:defRPr sz="2100" b="1">
                <a:solidFill>
                  <a:srgbClr val="297E7C"/>
                </a:solidFill>
                <a:latin typeface="Arial"/>
                <a:ea typeface="Arial"/>
                <a:cs typeface="Arial"/>
              </a:defRPr>
            </a:lvl7pPr>
            <a:lvl8pPr algn="l">
              <a:defRPr sz="2100" b="1">
                <a:solidFill>
                  <a:srgbClr val="297E7C"/>
                </a:solidFill>
                <a:latin typeface="Arial"/>
                <a:ea typeface="Arial"/>
                <a:cs typeface="Arial"/>
              </a:defRPr>
            </a:lvl8pPr>
            <a:lvl9pPr algn="l">
              <a:defRPr sz="2100" b="1">
                <a:solidFill>
                  <a:srgbClr val="297E7C"/>
                </a:solidFill>
                <a:latin typeface="Arial"/>
                <a:ea typeface="Arial"/>
                <a:cs typeface="Arial"/>
              </a:defRPr>
            </a:lvl9pPr>
          </a:lstStyle>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Chọn theo SHA256</a:t>
            </a:r>
          </a:p>
          <a:p xmlns:a="http://schemas.openxmlformats.org/drawingml/2006/main">
            <a:pPr algn="l">
              <a:defRPr sz="2100" b="1">
                <a:solidFill>
                  <a:srgbClr val="297E7C"/>
                </a:solidFill>
                <a:latin typeface="Arial"/>
                <a:ea typeface="Arial"/>
                <a:cs typeface="Arial"/>
              </a:defRPr>
            </a:pPr>
            <a:r>
              <a:rPr sz="2100" b="1">
                <a:solidFill>
                  <a:srgbClr val="297E7C"/>
                </a:solidFill>
                <a:latin typeface="Arial"/>
                <a:ea typeface="Arial"/>
                <a:cs typeface="Arial"/>
              </a:rPr>
              <a:t>20261015:userId</a:t>
            </a:r>
          </a:p>
        </p:txBody>
      </p:sp>
    </p:spTree>
    <p:extLst>
      <p:ext uri="{BB962C8B-B14F-4D97-AF65-F5344CB8AC3E}">
        <p14:creationId xmlns:p14="http://schemas.microsoft.com/office/powerpoint/2010/main" val="1226573540"/>
      </p:ext>
    </p:extLst>
  </p:cSld>
</p:sld>
</file>

<file path=ppt/slides/slide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FC749D6-6A77-44C9-982D-6BEEC891FC39}"/>
              </a:ext>
            </a:extLst>
          </p:cNvPr>
          <p:cNvCxnSpPr>
            <a:stCxn xmlns:a="http://schemas.openxmlformats.org/drawingml/2006/main" id="7" idx="3"/>
            <a:endCxn xmlns:a="http://schemas.openxmlformats.org/drawingml/2006/main" id="8" idx="1"/>
          </p:cNvCxnSpPr>
          <p:nvPr/>
        </p:nvCxnSpPr>
        <p:spPr>
          <a:xfrm xmlns:a="http://schemas.openxmlformats.org/drawingml/2006/main">
            <a:off x="7762875"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E668B043-37BC-400A-BEAE-80EF42F2AC6D}"/>
              </a:ext>
            </a:extLst>
          </p:cNvPr>
          <p:cNvCxnSpPr>
            <a:stCxn xmlns:a="http://schemas.openxmlformats.org/drawingml/2006/main" id="6" idx="3"/>
            <a:endCxn xmlns:a="http://schemas.openxmlformats.org/drawingml/2006/main" id="7" idx="1"/>
          </p:cNvCxnSpPr>
          <p:nvPr/>
        </p:nvCxnSpPr>
        <p:spPr>
          <a:xfrm xmlns:a="http://schemas.openxmlformats.org/drawingml/2006/main">
            <a:off x="4000500" y="2809875"/>
            <a:ext cx="428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7" name="02   ĐỐI TƯỢNG NGHIÊN CỨU">
            <a:extLst xmlns:a="http://schemas.openxmlformats.org/drawingml/2006/main">
              <a:ext uri="{FF2B5EF4-FFF2-40B4-BE49-F238E27FC236}">
                <a16:creationId xmlns:a16="http://schemas.microsoft.com/office/drawing/2014/main" id="{EB6BE715-EC88-4EDD-B3FE-9F30E96B492B}"/>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Giao thức đánh giá theo thời gian">
            <a:extLst xmlns:a="http://schemas.openxmlformats.org/drawingml/2006/main">
              <a:ext uri="{FF2B5EF4-FFF2-40B4-BE49-F238E27FC236}">
                <a16:creationId xmlns:a16="http://schemas.microsoft.com/office/drawing/2014/main" id="{137BF3B4-83C2-4B36-BF48-48019F10A8D4}"/>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Giao thức đánh giá theo thời gian</a:t>
            </a:r>
          </a:p>
        </p:txBody>
      </p:sp>
      <p:sp>
        <p:nvSpPr>
          <p:cNvPr id="3" name="">
            <a:extLst xmlns:a="http://schemas.openxmlformats.org/drawingml/2006/main">
              <a:ext uri="{FF2B5EF4-FFF2-40B4-BE49-F238E27FC236}">
                <a16:creationId xmlns:a16="http://schemas.microsoft.com/office/drawing/2014/main" id="{AE5F1E53-1B5B-4661-9A90-D1547AC832C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3598E2CE-D452-4562-AFE3-7994A5B911F9}"/>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6">
            <a:extLst xmlns:a="http://schemas.openxmlformats.org/drawingml/2006/main">
              <a:ext uri="{FF2B5EF4-FFF2-40B4-BE49-F238E27FC236}">
                <a16:creationId xmlns:a16="http://schemas.microsoft.com/office/drawing/2014/main" id="{B674CA25-637A-4312-80A8-B2471B7854C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06</a:t>
            </a:r>
          </a:p>
        </p:txBody>
      </p:sp>
      <p:sp>
        <p:nvSpPr>
          <p:cNvPr id="6" name="TRAIN 990.073 rating">
            <a:extLst xmlns:a="http://schemas.openxmlformats.org/drawingml/2006/main">
              <a:ext uri="{FF2B5EF4-FFF2-40B4-BE49-F238E27FC236}">
                <a16:creationId xmlns:a16="http://schemas.microsoft.com/office/drawing/2014/main" id="{DC9DC4F9-2733-4871-9EE5-A6CADF470A8E}"/>
              </a:ext>
            </a:extLst>
          </p:cNvPr>
          <p:cNvSpPr>
            <a:spLocks xmlns:a="http://schemas.openxmlformats.org/drawingml/2006/main" noGrp="1"/>
          </p:cNvSpPr>
          <p:nvPr/>
        </p:nvSpPr>
        <p:spPr>
          <a:xfrm xmlns:a="http://schemas.openxmlformats.org/drawingml/2006/main">
            <a:off x="666750" y="2190750"/>
            <a:ext cx="3333750" cy="12382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vl1pPr algn="ctr">
              <a:defRPr sz="2250" b="0">
                <a:solidFill>
                  <a:srgbClr val="FFFFFF"/>
                </a:solidFill>
                <a:latin typeface="Arial"/>
                <a:ea typeface="Arial"/>
                <a:cs typeface="Arial"/>
              </a:defRPr>
            </a:lvl1pPr>
            <a:lvl2pPr algn="ctr">
              <a:defRPr sz="2250" b="0">
                <a:solidFill>
                  <a:srgbClr val="FFFFFF"/>
                </a:solidFill>
                <a:latin typeface="Arial"/>
                <a:ea typeface="Arial"/>
                <a:cs typeface="Arial"/>
              </a:defRPr>
            </a:lvl2pPr>
            <a:lvl3pPr algn="ctr">
              <a:defRPr sz="2250" b="0">
                <a:solidFill>
                  <a:srgbClr val="FFFFFF"/>
                </a:solidFill>
                <a:latin typeface="Arial"/>
                <a:ea typeface="Arial"/>
                <a:cs typeface="Arial"/>
              </a:defRPr>
            </a:lvl3pPr>
            <a:lvl4pPr algn="ctr">
              <a:defRPr sz="2250" b="0">
                <a:solidFill>
                  <a:srgbClr val="FFFFFF"/>
                </a:solidFill>
                <a:latin typeface="Arial"/>
                <a:ea typeface="Arial"/>
                <a:cs typeface="Arial"/>
              </a:defRPr>
            </a:lvl4pPr>
            <a:lvl5pPr algn="ctr">
              <a:defRPr sz="2250" b="0">
                <a:solidFill>
                  <a:srgbClr val="FFFFFF"/>
                </a:solidFill>
                <a:latin typeface="Arial"/>
                <a:ea typeface="Arial"/>
                <a:cs typeface="Arial"/>
              </a:defRPr>
            </a:lvl5pPr>
            <a:lvl6pPr algn="ctr">
              <a:defRPr sz="2250" b="0">
                <a:solidFill>
                  <a:srgbClr val="FFFFFF"/>
                </a:solidFill>
                <a:latin typeface="Arial"/>
                <a:ea typeface="Arial"/>
                <a:cs typeface="Arial"/>
              </a:defRPr>
            </a:lvl6pPr>
            <a:lvl7pPr algn="ctr">
              <a:defRPr sz="2250" b="0">
                <a:solidFill>
                  <a:srgbClr val="FFFFFF"/>
                </a:solidFill>
                <a:latin typeface="Arial"/>
                <a:ea typeface="Arial"/>
                <a:cs typeface="Arial"/>
              </a:defRPr>
            </a:lvl7pPr>
            <a:lvl8pPr algn="ctr">
              <a:defRPr sz="2250" b="0">
                <a:solidFill>
                  <a:srgbClr val="FFFFFF"/>
                </a:solidFill>
                <a:latin typeface="Arial"/>
                <a:ea typeface="Arial"/>
                <a:cs typeface="Arial"/>
              </a:defRPr>
            </a:lvl8pPr>
            <a:lvl9pPr algn="ctr">
              <a:defRPr sz="2250" b="0">
                <a:solidFill>
                  <a:srgbClr val="FFFFFF"/>
                </a:solidFill>
                <a:latin typeface="Arial"/>
                <a:ea typeface="Arial"/>
                <a:cs typeface="Arial"/>
              </a:defRPr>
            </a:lvl9pPr>
          </a:lstStyle>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TRAIN</a:t>
            </a:r>
          </a:p>
          <a:p xmlns:a="http://schemas.openxmlformats.org/drawingml/2006/main">
            <a:pPr algn="ctr">
              <a:defRPr sz="2250" b="0">
                <a:solidFill>
                  <a:srgbClr val="FFFFFF"/>
                </a:solidFill>
                <a:latin typeface="Arial"/>
                <a:ea typeface="Arial"/>
                <a:cs typeface="Arial"/>
              </a:defRPr>
            </a:pPr>
            <a:r>
              <a:rPr sz="2250" b="0">
                <a:solidFill>
                  <a:srgbClr val="FFFFFF"/>
                </a:solidFill>
                <a:latin typeface="Arial"/>
                <a:ea typeface="Arial"/>
                <a:cs typeface="Arial"/>
              </a:rPr>
              <a:t>990.073 rating</a:t>
            </a:r>
          </a:p>
        </p:txBody>
      </p:sp>
      <p:sp>
        <p:nvSpPr>
          <p:cNvPr id="7" name="VAL 123.759 rating">
            <a:extLst xmlns:a="http://schemas.openxmlformats.org/drawingml/2006/main">
              <a:ext uri="{FF2B5EF4-FFF2-40B4-BE49-F238E27FC236}">
                <a16:creationId xmlns:a16="http://schemas.microsoft.com/office/drawing/2014/main" id="{300350E6-424C-4B36-BEF5-CC1FDE83965A}"/>
              </a:ext>
            </a:extLst>
          </p:cNvPr>
          <p:cNvSpPr>
            <a:spLocks xmlns:a="http://schemas.openxmlformats.org/drawingml/2006/main" noGrp="1"/>
          </p:cNvSpPr>
          <p:nvPr/>
        </p:nvSpPr>
        <p:spPr>
          <a:xfrm xmlns:a="http://schemas.openxmlformats.org/drawingml/2006/main">
            <a:off x="4429125" y="2190750"/>
            <a:ext cx="3333750" cy="1238250"/>
          </a:xfrm>
          <a:prstGeom xmlns:a="http://schemas.openxmlformats.org/drawingml/2006/main" prst="rect">
            <a:avLst/>
          </a:prstGeom>
          <a:solidFill xmlns:a="http://schemas.openxmlformats.org/drawingml/2006/main">
            <a:srgbClr val="E5EEE8"/>
          </a:solidFill>
          <a:ln xmlns:a="http://schemas.openxmlformats.org/drawingml/2006/main" w="14288">
            <a:solidFill>
              <a:srgbClr val="297E7C"/>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VAL</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123.759 rating</a:t>
            </a:r>
          </a:p>
        </p:txBody>
      </p:sp>
      <p:sp>
        <p:nvSpPr>
          <p:cNvPr id="8" name="TEST 123.760 rating">
            <a:extLst xmlns:a="http://schemas.openxmlformats.org/drawingml/2006/main">
              <a:ext uri="{FF2B5EF4-FFF2-40B4-BE49-F238E27FC236}">
                <a16:creationId xmlns:a16="http://schemas.microsoft.com/office/drawing/2014/main" id="{6A08AD0F-C3DA-4E70-BDC2-E287579884EA}"/>
              </a:ext>
            </a:extLst>
          </p:cNvPr>
          <p:cNvSpPr>
            <a:spLocks xmlns:a="http://schemas.openxmlformats.org/drawingml/2006/main" noGrp="1"/>
          </p:cNvSpPr>
          <p:nvPr/>
        </p:nvSpPr>
        <p:spPr>
          <a:xfrm xmlns:a="http://schemas.openxmlformats.org/drawingml/2006/main">
            <a:off x="8191500" y="2190750"/>
            <a:ext cx="3333750" cy="1238250"/>
          </a:xfrm>
          <a:prstGeom xmlns:a="http://schemas.openxmlformats.org/drawingml/2006/main" prst="rect">
            <a:avLst/>
          </a:prstGeom>
          <a:solidFill xmlns:a="http://schemas.openxmlformats.org/drawingml/2006/main">
            <a:srgbClr val="EADAC2"/>
          </a:solidFill>
          <a:ln xmlns:a="http://schemas.openxmlformats.org/drawingml/2006/main" w="14288">
            <a:solidFill>
              <a:srgbClr val="D6AA67"/>
            </a:solidFill>
            <a:prstDash val="solid"/>
          </a:ln>
        </p:spPr>
        <p:txBody>
          <a:bodyPr xmlns:a="http://schemas.openxmlformats.org/drawingml/2006/main" wrap="square" lIns="95250" tIns="95250" rIns="95250" bIns="95250" anchor="ctr">
            <a:noAutofit/>
          </a:bodyPr>
          <a:lstStyle xmlns:a="http://schemas.openxmlformats.org/drawingml/2006/main">
            <a:defPPr algn="ctr">
              <a:defRPr sz="2250" b="0">
                <a:solidFill>
                  <a:srgbClr val="172D3D"/>
                </a:solidFill>
                <a:latin typeface="Arial"/>
                <a:ea typeface="Arial"/>
                <a:cs typeface="Arial"/>
              </a:defRPr>
            </a:defPPr>
            <a:lvl1pPr algn="ctr">
              <a:defRPr sz="2250" b="0">
                <a:solidFill>
                  <a:srgbClr val="172D3D"/>
                </a:solidFill>
                <a:latin typeface="Arial"/>
                <a:ea typeface="Arial"/>
                <a:cs typeface="Arial"/>
              </a:defRPr>
            </a:lvl1pPr>
            <a:lvl2pPr algn="ctr">
              <a:defRPr sz="2250" b="0">
                <a:solidFill>
                  <a:srgbClr val="172D3D"/>
                </a:solidFill>
                <a:latin typeface="Arial"/>
                <a:ea typeface="Arial"/>
                <a:cs typeface="Arial"/>
              </a:defRPr>
            </a:lvl2pPr>
            <a:lvl3pPr algn="ctr">
              <a:defRPr sz="2250" b="0">
                <a:solidFill>
                  <a:srgbClr val="172D3D"/>
                </a:solidFill>
                <a:latin typeface="Arial"/>
                <a:ea typeface="Arial"/>
                <a:cs typeface="Arial"/>
              </a:defRPr>
            </a:lvl3pPr>
            <a:lvl4pPr algn="ctr">
              <a:defRPr sz="2250" b="0">
                <a:solidFill>
                  <a:srgbClr val="172D3D"/>
                </a:solidFill>
                <a:latin typeface="Arial"/>
                <a:ea typeface="Arial"/>
                <a:cs typeface="Arial"/>
              </a:defRPr>
            </a:lvl4pPr>
            <a:lvl5pPr algn="ctr">
              <a:defRPr sz="2250" b="0">
                <a:solidFill>
                  <a:srgbClr val="172D3D"/>
                </a:solidFill>
                <a:latin typeface="Arial"/>
                <a:ea typeface="Arial"/>
                <a:cs typeface="Arial"/>
              </a:defRPr>
            </a:lvl5pPr>
            <a:lvl6pPr algn="ctr">
              <a:defRPr sz="2250" b="0">
                <a:solidFill>
                  <a:srgbClr val="172D3D"/>
                </a:solidFill>
                <a:latin typeface="Arial"/>
                <a:ea typeface="Arial"/>
                <a:cs typeface="Arial"/>
              </a:defRPr>
            </a:lvl6pPr>
            <a:lvl7pPr algn="ctr">
              <a:defRPr sz="2250" b="0">
                <a:solidFill>
                  <a:srgbClr val="172D3D"/>
                </a:solidFill>
                <a:latin typeface="Arial"/>
                <a:ea typeface="Arial"/>
                <a:cs typeface="Arial"/>
              </a:defRPr>
            </a:lvl7pPr>
            <a:lvl8pPr algn="ctr">
              <a:defRPr sz="2250" b="0">
                <a:solidFill>
                  <a:srgbClr val="172D3D"/>
                </a:solidFill>
                <a:latin typeface="Arial"/>
                <a:ea typeface="Arial"/>
                <a:cs typeface="Arial"/>
              </a:defRPr>
            </a:lvl8pPr>
            <a:lvl9pPr algn="ctr">
              <a:defRPr sz="2250" b="0">
                <a:solidFill>
                  <a:srgbClr val="172D3D"/>
                </a:solidFill>
                <a:latin typeface="Arial"/>
                <a:ea typeface="Arial"/>
                <a:cs typeface="Arial"/>
              </a:defRPr>
            </a:lvl9pPr>
          </a:lstStyle>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TEST</a:t>
            </a:r>
          </a:p>
          <a:p xmlns:a="http://schemas.openxmlformats.org/drawingml/2006/main">
            <a:pPr algn="ctr">
              <a:defRPr sz="2250" b="0">
                <a:solidFill>
                  <a:srgbClr val="172D3D"/>
                </a:solidFill>
                <a:latin typeface="Arial"/>
                <a:ea typeface="Arial"/>
                <a:cs typeface="Arial"/>
              </a:defRPr>
            </a:pPr>
            <a:r>
              <a:rPr sz="2250" b="0">
                <a:solidFill>
                  <a:srgbClr val="172D3D"/>
                </a:solidFill>
                <a:latin typeface="Arial"/>
                <a:ea typeface="Arial"/>
                <a:cs typeface="Arial"/>
              </a:rPr>
              <a:t>123.760 rating</a:t>
            </a:r>
          </a:p>
        </p:txBody>
      </p:sp>
      <p:sp>
        <p:nvSpPr>
          <p:cNvPr id="11" name="T1  25/07/2016">
            <a:extLst xmlns:a="http://schemas.openxmlformats.org/drawingml/2006/main">
              <a:ext uri="{FF2B5EF4-FFF2-40B4-BE49-F238E27FC236}">
                <a16:creationId xmlns:a16="http://schemas.microsoft.com/office/drawing/2014/main" id="{6C1A1652-C39E-4CB4-9B3D-FDE713D6D4E9}"/>
              </a:ext>
            </a:extLst>
          </p:cNvPr>
          <p:cNvSpPr>
            <a:spLocks xmlns:a="http://schemas.openxmlformats.org/drawingml/2006/main" noGrp="1"/>
          </p:cNvSpPr>
          <p:nvPr/>
        </p:nvSpPr>
        <p:spPr>
          <a:xfrm xmlns:a="http://schemas.openxmlformats.org/drawingml/2006/main">
            <a:off x="3333750"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T1  25/07/2016</a:t>
            </a:r>
          </a:p>
        </p:txBody>
      </p:sp>
      <p:sp>
        <p:nvSpPr>
          <p:cNvPr id="12" name="T2  23/01/2018">
            <a:extLst xmlns:a="http://schemas.openxmlformats.org/drawingml/2006/main">
              <a:ext uri="{FF2B5EF4-FFF2-40B4-BE49-F238E27FC236}">
                <a16:creationId xmlns:a16="http://schemas.microsoft.com/office/drawing/2014/main" id="{483E1050-484A-404D-AD9C-07BF0AA5B6F1}"/>
              </a:ext>
            </a:extLst>
          </p:cNvPr>
          <p:cNvSpPr>
            <a:spLocks xmlns:a="http://schemas.openxmlformats.org/drawingml/2006/main" noGrp="1"/>
          </p:cNvSpPr>
          <p:nvPr/>
        </p:nvSpPr>
        <p:spPr>
          <a:xfrm xmlns:a="http://schemas.openxmlformats.org/drawingml/2006/main">
            <a:off x="7096125" y="3714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T2  23/01/2018</a:t>
            </a:r>
          </a:p>
        </p:txBody>
      </p:sp>
      <p:sp>
        <p:nvSpPr>
          <p:cNvPr id="13" name="Chọn cấu hình trên VAL">
            <a:extLst xmlns:a="http://schemas.openxmlformats.org/drawingml/2006/main">
              <a:ext uri="{FF2B5EF4-FFF2-40B4-BE49-F238E27FC236}">
                <a16:creationId xmlns:a16="http://schemas.microsoft.com/office/drawing/2014/main" id="{15CE3251-F440-4162-97FA-A37B4660EA7A}"/>
              </a:ext>
            </a:extLst>
          </p:cNvPr>
          <p:cNvSpPr>
            <a:spLocks xmlns:a="http://schemas.openxmlformats.org/drawingml/2006/main" noGrp="1"/>
          </p:cNvSpPr>
          <p:nvPr/>
        </p:nvSpPr>
        <p:spPr>
          <a:xfrm xmlns:a="http://schemas.openxmlformats.org/drawingml/2006/main">
            <a:off x="666750" y="45720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Chọn cấu hình trên VAL</a:t>
            </a:r>
          </a:p>
        </p:txBody>
      </p:sp>
      <p:sp>
        <p:nvSpPr>
          <p:cNvPr id="14" name="Khóa selection rồi refit TRAIN+VAL&#10;trước khi chấm TEST">
            <a:extLst xmlns:a="http://schemas.openxmlformats.org/drawingml/2006/main">
              <a:ext uri="{FF2B5EF4-FFF2-40B4-BE49-F238E27FC236}">
                <a16:creationId xmlns:a16="http://schemas.microsoft.com/office/drawing/2014/main" id="{5EE3B711-9C82-4B08-AD96-8060FB67644A}"/>
              </a:ext>
            </a:extLst>
          </p:cNvPr>
          <p:cNvSpPr>
            <a:spLocks xmlns:a="http://schemas.openxmlformats.org/drawingml/2006/main" noGrp="1"/>
          </p:cNvSpPr>
          <p:nvPr/>
        </p:nvSpPr>
        <p:spPr>
          <a:xfrm xmlns:a="http://schemas.openxmlformats.org/drawingml/2006/main">
            <a:off x="666750" y="52101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Khóa selection rồi refit TRAIN+VAL</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trước khi chấm TEST</a:t>
            </a:r>
          </a:p>
        </p:txBody>
      </p:sp>
      <p:sp>
        <p:nvSpPr>
          <p:cNvPr id="15" name="Xếp hạng toàn catalog fit">
            <a:extLst xmlns:a="http://schemas.openxmlformats.org/drawingml/2006/main">
              <a:ext uri="{FF2B5EF4-FFF2-40B4-BE49-F238E27FC236}">
                <a16:creationId xmlns:a16="http://schemas.microsoft.com/office/drawing/2014/main" id="{27C87C0F-296E-4883-A71F-F6035FF403AD}"/>
              </a:ext>
            </a:extLst>
          </p:cNvPr>
          <p:cNvSpPr>
            <a:spLocks xmlns:a="http://schemas.openxmlformats.org/drawingml/2006/main" noGrp="1"/>
          </p:cNvSpPr>
          <p:nvPr/>
        </p:nvSpPr>
        <p:spPr>
          <a:xfrm xmlns:a="http://schemas.openxmlformats.org/drawingml/2006/main">
            <a:off x="6572250" y="45720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Xếp hạng toàn catalog fit</a:t>
            </a:r>
          </a:p>
        </p:txBody>
      </p:sp>
      <p:sp>
        <p:nvSpPr>
          <p:cNvPr id="16" name="Loại lịch sử đã biết. Giữ positive ngoài&#10;catalog trong mẫu số đán">
            <a:extLst xmlns:a="http://schemas.openxmlformats.org/drawingml/2006/main">
              <a:ext uri="{FF2B5EF4-FFF2-40B4-BE49-F238E27FC236}">
                <a16:creationId xmlns:a16="http://schemas.microsoft.com/office/drawing/2014/main" id="{1CC632BF-5784-428C-BC33-EA985DBF8841}"/>
              </a:ext>
            </a:extLst>
          </p:cNvPr>
          <p:cNvSpPr>
            <a:spLocks xmlns:a="http://schemas.openxmlformats.org/drawingml/2006/main" noGrp="1"/>
          </p:cNvSpPr>
          <p:nvPr/>
        </p:nvSpPr>
        <p:spPr>
          <a:xfrm xmlns:a="http://schemas.openxmlformats.org/drawingml/2006/main">
            <a:off x="6572250" y="521017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Loại lịch sử đã biết. Giữ positive ngoài</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catalog trong mẫu số đánh giá.</a:t>
            </a:r>
          </a:p>
        </p:txBody>
      </p:sp>
    </p:spTree>
    <p:extLst>
      <p:ext uri="{BB962C8B-B14F-4D97-AF65-F5344CB8AC3E}">
        <p14:creationId xmlns:p14="http://schemas.microsoft.com/office/powerpoint/2010/main" val="238496390"/>
      </p:ext>
    </p:extLst>
  </p:cSld>
</p:sld>
</file>

<file path=ppt/slides/slide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27CBD8C-8F5B-4147-AB6B-BC985A023121}"/>
              </a:ext>
            </a:extLst>
          </p:cNvPr>
          <p:cNvCxnSpPr>
            <a:stCxn xmlns:a="http://schemas.openxmlformats.org/drawingml/2006/main" id="10" idx="2"/>
            <a:endCxn xmlns:a="http://schemas.openxmlformats.org/drawingml/2006/main" id="11" idx="0"/>
          </p:cNvCxnSpPr>
          <p:nvPr/>
        </p:nvCxnSpPr>
        <p:spPr>
          <a:xfrm xmlns:a="http://schemas.openxmlformats.org/drawingml/2006/main" flipH="1">
            <a:off x="6096000"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324FAA8F-82C1-4497-A4D4-B53CC7D67312}"/>
              </a:ext>
            </a:extLst>
          </p:cNvPr>
          <p:cNvCxnSpPr>
            <a:stCxn xmlns:a="http://schemas.openxmlformats.org/drawingml/2006/main" id="9" idx="2"/>
            <a:endCxn xmlns:a="http://schemas.openxmlformats.org/drawingml/2006/main" id="11" idx="0"/>
          </p:cNvCxnSpPr>
          <p:nvPr/>
        </p:nvCxnSpPr>
        <p:spPr>
          <a:xfrm xmlns:a="http://schemas.openxmlformats.org/drawingml/2006/main">
            <a:off x="6096000" y="4333875"/>
            <a:ext cx="0" cy="9525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48C911BA-F890-41FB-8E60-7BC30FE779D4}"/>
              </a:ext>
            </a:extLst>
          </p:cNvPr>
          <p:cNvCxnSpPr>
            <a:stCxn xmlns:a="http://schemas.openxmlformats.org/drawingml/2006/main" id="8" idx="2"/>
            <a:endCxn xmlns:a="http://schemas.openxmlformats.org/drawingml/2006/main" id="11" idx="0"/>
          </p:cNvCxnSpPr>
          <p:nvPr/>
        </p:nvCxnSpPr>
        <p:spPr>
          <a:xfrm xmlns:a="http://schemas.openxmlformats.org/drawingml/2006/main">
            <a:off x="2238375" y="4333875"/>
            <a:ext cx="3857625" cy="952500"/>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sp>
        <p:nvSpPr>
          <p:cNvPr id="16" name="02   ĐỐI TƯỢNG NGHIÊN CỨU">
            <a:extLst xmlns:a="http://schemas.openxmlformats.org/drawingml/2006/main">
              <a:ext uri="{FF2B5EF4-FFF2-40B4-BE49-F238E27FC236}">
                <a16:creationId xmlns:a16="http://schemas.microsoft.com/office/drawing/2014/main" id="{0E7D3286-D05F-4BFD-BDA4-BDE166496DC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02   ĐỐI TƯỢNG NGHIÊN CỨU</a:t>
            </a:r>
          </a:p>
        </p:txBody>
      </p:sp>
      <p:sp>
        <p:nvSpPr>
          <p:cNvPr id="2" name="Mô hình lai theo độ dài lịch sử">
            <a:extLst xmlns:a="http://schemas.openxmlformats.org/drawingml/2006/main">
              <a:ext uri="{FF2B5EF4-FFF2-40B4-BE49-F238E27FC236}">
                <a16:creationId xmlns:a16="http://schemas.microsoft.com/office/drawing/2014/main" id="{FA8DC6FD-467D-4A0D-9D45-F6A4D3B91065}"/>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lai theo độ dài lịch sử</a:t>
            </a:r>
          </a:p>
        </p:txBody>
      </p:sp>
      <p:sp>
        <p:nvSpPr>
          <p:cNvPr id="3" name="">
            <a:extLst xmlns:a="http://schemas.openxmlformats.org/drawingml/2006/main">
              <a:ext uri="{FF2B5EF4-FFF2-40B4-BE49-F238E27FC236}">
                <a16:creationId xmlns:a16="http://schemas.microsoft.com/office/drawing/2014/main" id="{7A77F240-195D-44FE-815E-81465535809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0D5EC7B1-B34B-4515-B051-2654B36248A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7">
            <a:extLst xmlns:a="http://schemas.openxmlformats.org/drawingml/2006/main">
              <a:ext uri="{FF2B5EF4-FFF2-40B4-BE49-F238E27FC236}">
                <a16:creationId xmlns:a16="http://schemas.microsoft.com/office/drawing/2014/main" id="{A295B5E9-0A01-4B0A-B3F5-7A702B563106}"/>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07</a:t>
            </a:r>
          </a:p>
        </p:txBody>
      </p:sp>
      <p:sp>
        <p:nvSpPr>
          <p:cNvPr id="6" name="wᵤ = nᵤ / (nᵤ + τ)">
            <a:extLst xmlns:a="http://schemas.openxmlformats.org/drawingml/2006/main">
              <a:ext uri="{FF2B5EF4-FFF2-40B4-BE49-F238E27FC236}">
                <a16:creationId xmlns:a16="http://schemas.microsoft.com/office/drawing/2014/main" id="{4F5DD219-1A90-4B27-91D0-AC6947E80B57}"/>
              </a:ext>
            </a:extLst>
          </p:cNvPr>
          <p:cNvSpPr>
            <a:spLocks xmlns:a="http://schemas.openxmlformats.org/drawingml/2006/main" noGrp="1"/>
          </p:cNvSpPr>
          <p:nvPr/>
        </p:nvSpPr>
        <p:spPr>
          <a:xfrm xmlns:a="http://schemas.openxmlformats.org/drawingml/2006/main">
            <a:off x="666750" y="19812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97E7C"/>
                </a:solidFill>
                <a:latin typeface="Arial"/>
                <a:ea typeface="Arial"/>
                <a:cs typeface="Arial"/>
              </a:defRPr>
            </a:defPPr>
            <a:lvl1pPr algn="l">
              <a:defRPr sz="3600" b="1">
                <a:solidFill>
                  <a:srgbClr val="297E7C"/>
                </a:solidFill>
                <a:latin typeface="Arial"/>
                <a:ea typeface="Arial"/>
                <a:cs typeface="Arial"/>
              </a:defRPr>
            </a:lvl1pPr>
            <a:lvl2pPr algn="l">
              <a:defRPr sz="3600" b="1">
                <a:solidFill>
                  <a:srgbClr val="297E7C"/>
                </a:solidFill>
                <a:latin typeface="Arial"/>
                <a:ea typeface="Arial"/>
                <a:cs typeface="Arial"/>
              </a:defRPr>
            </a:lvl2pPr>
            <a:lvl3pPr algn="l">
              <a:defRPr sz="3600" b="1">
                <a:solidFill>
                  <a:srgbClr val="297E7C"/>
                </a:solidFill>
                <a:latin typeface="Arial"/>
                <a:ea typeface="Arial"/>
                <a:cs typeface="Arial"/>
              </a:defRPr>
            </a:lvl3pPr>
            <a:lvl4pPr algn="l">
              <a:defRPr sz="3600" b="1">
                <a:solidFill>
                  <a:srgbClr val="297E7C"/>
                </a:solidFill>
                <a:latin typeface="Arial"/>
                <a:ea typeface="Arial"/>
                <a:cs typeface="Arial"/>
              </a:defRPr>
            </a:lvl4pPr>
            <a:lvl5pPr algn="l">
              <a:defRPr sz="3600" b="1">
                <a:solidFill>
                  <a:srgbClr val="297E7C"/>
                </a:solidFill>
                <a:latin typeface="Arial"/>
                <a:ea typeface="Arial"/>
                <a:cs typeface="Arial"/>
              </a:defRPr>
            </a:lvl5pPr>
            <a:lvl6pPr algn="l">
              <a:defRPr sz="3600" b="1">
                <a:solidFill>
                  <a:srgbClr val="297E7C"/>
                </a:solidFill>
                <a:latin typeface="Arial"/>
                <a:ea typeface="Arial"/>
                <a:cs typeface="Arial"/>
              </a:defRPr>
            </a:lvl6pPr>
            <a:lvl7pPr algn="l">
              <a:defRPr sz="3600" b="1">
                <a:solidFill>
                  <a:srgbClr val="297E7C"/>
                </a:solidFill>
                <a:latin typeface="Arial"/>
                <a:ea typeface="Arial"/>
                <a:cs typeface="Arial"/>
              </a:defRPr>
            </a:lvl7pPr>
            <a:lvl8pPr algn="l">
              <a:defRPr sz="3600" b="1">
                <a:solidFill>
                  <a:srgbClr val="297E7C"/>
                </a:solidFill>
                <a:latin typeface="Arial"/>
                <a:ea typeface="Arial"/>
                <a:cs typeface="Arial"/>
              </a:defRPr>
            </a:lvl8pPr>
            <a:lvl9pPr algn="l">
              <a:defRPr sz="3600" b="1">
                <a:solidFill>
                  <a:srgbClr val="297E7C"/>
                </a:solidFill>
                <a:latin typeface="Arial"/>
                <a:ea typeface="Arial"/>
                <a:cs typeface="Arial"/>
              </a:defRPr>
            </a:lvl9pPr>
          </a:lstStyle>
          <a:p xmlns:a="http://schemas.openxmlformats.org/drawingml/2006/main">
            <a:pPr algn="l">
              <a:defRPr sz="3600" b="1">
                <a:solidFill>
                  <a:srgbClr val="297E7C"/>
                </a:solidFill>
                <a:latin typeface="Arial"/>
                <a:ea typeface="Arial"/>
                <a:cs typeface="Arial"/>
              </a:defRPr>
            </a:pPr>
            <a:r>
              <a:rPr sz="3600" b="1">
                <a:solidFill>
                  <a:srgbClr val="297E7C"/>
                </a:solidFill>
                <a:latin typeface="Arial"/>
                <a:ea typeface="Arial"/>
                <a:cs typeface="Arial"/>
              </a:rPr>
              <a:t>wᵤ = nᵤ / (nᵤ + τ)</a:t>
            </a:r>
          </a:p>
        </p:txBody>
      </p:sp>
      <p:sp>
        <p:nvSpPr>
          <p:cNvPr id="7" name="VAL chọn τ = 20 và β = 0,75">
            <a:extLst xmlns:a="http://schemas.openxmlformats.org/drawingml/2006/main">
              <a:ext uri="{FF2B5EF4-FFF2-40B4-BE49-F238E27FC236}">
                <a16:creationId xmlns:a16="http://schemas.microsoft.com/office/drawing/2014/main" id="{2F76ED8E-15F0-4073-A265-BE6874C06CFE}"/>
              </a:ext>
            </a:extLst>
          </p:cNvPr>
          <p:cNvSpPr>
            <a:spLocks xmlns:a="http://schemas.openxmlformats.org/drawingml/2006/main" noGrp="1"/>
          </p:cNvSpPr>
          <p:nvPr/>
        </p:nvSpPr>
        <p:spPr>
          <a:xfrm xmlns:a="http://schemas.openxmlformats.org/drawingml/2006/main">
            <a:off x="7334250" y="2171700"/>
            <a:ext cx="419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674"/>
                </a:solidFill>
                <a:latin typeface="Arial"/>
                <a:ea typeface="Arial"/>
                <a:cs typeface="Arial"/>
              </a:defRPr>
            </a:defPPr>
            <a:lvl1pPr algn="l">
              <a:defRPr sz="2100" b="0">
                <a:solidFill>
                  <a:srgbClr val="526674"/>
                </a:solidFill>
                <a:latin typeface="Arial"/>
                <a:ea typeface="Arial"/>
                <a:cs typeface="Arial"/>
              </a:defRPr>
            </a:lvl1pPr>
            <a:lvl2pPr algn="l">
              <a:defRPr sz="2100" b="0">
                <a:solidFill>
                  <a:srgbClr val="526674"/>
                </a:solidFill>
                <a:latin typeface="Arial"/>
                <a:ea typeface="Arial"/>
                <a:cs typeface="Arial"/>
              </a:defRPr>
            </a:lvl2pPr>
            <a:lvl3pPr algn="l">
              <a:defRPr sz="2100" b="0">
                <a:solidFill>
                  <a:srgbClr val="526674"/>
                </a:solidFill>
                <a:latin typeface="Arial"/>
                <a:ea typeface="Arial"/>
                <a:cs typeface="Arial"/>
              </a:defRPr>
            </a:lvl3pPr>
            <a:lvl4pPr algn="l">
              <a:defRPr sz="2100" b="0">
                <a:solidFill>
                  <a:srgbClr val="526674"/>
                </a:solidFill>
                <a:latin typeface="Arial"/>
                <a:ea typeface="Arial"/>
                <a:cs typeface="Arial"/>
              </a:defRPr>
            </a:lvl4pPr>
            <a:lvl5pPr algn="l">
              <a:defRPr sz="2100" b="0">
                <a:solidFill>
                  <a:srgbClr val="526674"/>
                </a:solidFill>
                <a:latin typeface="Arial"/>
                <a:ea typeface="Arial"/>
                <a:cs typeface="Arial"/>
              </a:defRPr>
            </a:lvl5pPr>
            <a:lvl6pPr algn="l">
              <a:defRPr sz="2100" b="0">
                <a:solidFill>
                  <a:srgbClr val="526674"/>
                </a:solidFill>
                <a:latin typeface="Arial"/>
                <a:ea typeface="Arial"/>
                <a:cs typeface="Arial"/>
              </a:defRPr>
            </a:lvl6pPr>
            <a:lvl7pPr algn="l">
              <a:defRPr sz="2100" b="0">
                <a:solidFill>
                  <a:srgbClr val="526674"/>
                </a:solidFill>
                <a:latin typeface="Arial"/>
                <a:ea typeface="Arial"/>
                <a:cs typeface="Arial"/>
              </a:defRPr>
            </a:lvl7pPr>
            <a:lvl8pPr algn="l">
              <a:defRPr sz="2100" b="0">
                <a:solidFill>
                  <a:srgbClr val="526674"/>
                </a:solidFill>
                <a:latin typeface="Arial"/>
                <a:ea typeface="Arial"/>
                <a:cs typeface="Arial"/>
              </a:defRPr>
            </a:lvl8pPr>
            <a:lvl9pPr algn="l">
              <a:defRPr sz="2100" b="0">
                <a:solidFill>
                  <a:srgbClr val="526674"/>
                </a:solidFill>
                <a:latin typeface="Arial"/>
                <a:ea typeface="Arial"/>
                <a:cs typeface="Arial"/>
              </a:defRPr>
            </a:lvl9pPr>
          </a:lstStyle>
          <a:p xmlns:a="http://schemas.openxmlformats.org/drawingml/2006/main">
            <a:pPr algn="l">
              <a:defRPr sz="2100" b="0">
                <a:solidFill>
                  <a:srgbClr val="526674"/>
                </a:solidFill>
                <a:latin typeface="Arial"/>
                <a:ea typeface="Arial"/>
                <a:cs typeface="Arial"/>
              </a:defRPr>
            </a:pPr>
            <a:r>
              <a:rPr sz="2100" b="0">
                <a:solidFill>
                  <a:srgbClr val="526674"/>
                </a:solidFill>
                <a:latin typeface="Arial"/>
                <a:ea typeface="Arial"/>
                <a:cs typeface="Arial"/>
              </a:rPr>
              <a:t>VAL chọn τ = 20 và β = 0,75</a:t>
            </a:r>
          </a:p>
        </p:txBody>
      </p:sp>
      <p:sp>
        <p:nvSpPr>
          <p:cNvPr id="8" name="BiasedSVD Tương tác user–phim">
            <a:extLst xmlns:a="http://schemas.openxmlformats.org/drawingml/2006/main">
              <a:ext uri="{FF2B5EF4-FFF2-40B4-BE49-F238E27FC236}">
                <a16:creationId xmlns:a16="http://schemas.microsoft.com/office/drawing/2014/main" id="{2FC9B4FA-CBF0-47EC-8F5D-7716F44E8607}"/>
              </a:ext>
            </a:extLst>
          </p:cNvPr>
          <p:cNvSpPr>
            <a:spLocks xmlns:a="http://schemas.openxmlformats.org/drawingml/2006/main" noGrp="1"/>
          </p:cNvSpPr>
          <p:nvPr/>
        </p:nvSpPr>
        <p:spPr>
          <a:xfrm xmlns:a="http://schemas.openxmlformats.org/drawingml/2006/main">
            <a:off x="66675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BiasedSVD</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Tương tác user–phim</a:t>
            </a:r>
          </a:p>
        </p:txBody>
      </p:sp>
      <p:sp>
        <p:nvSpPr>
          <p:cNvPr id="9" name="Genre content Hồ sơ theo thể loại">
            <a:extLst xmlns:a="http://schemas.openxmlformats.org/drawingml/2006/main">
              <a:ext uri="{FF2B5EF4-FFF2-40B4-BE49-F238E27FC236}">
                <a16:creationId xmlns:a16="http://schemas.microsoft.com/office/drawing/2014/main" id="{33E281F1-1292-43EA-9AC9-C431A55B9519}"/>
              </a:ext>
            </a:extLst>
          </p:cNvPr>
          <p:cNvSpPr>
            <a:spLocks xmlns:a="http://schemas.openxmlformats.org/drawingml/2006/main" noGrp="1"/>
          </p:cNvSpPr>
          <p:nvPr/>
        </p:nvSpPr>
        <p:spPr>
          <a:xfrm xmlns:a="http://schemas.openxmlformats.org/drawingml/2006/main">
            <a:off x="4524375"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Genre content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Hồ sơ theo thể loại</a:t>
            </a:r>
          </a:p>
        </p:txBody>
      </p:sp>
      <p:sp>
        <p:nvSpPr>
          <p:cNvPr id="10" name="Bayesian item mean Thống kê dữ liệu fit">
            <a:extLst xmlns:a="http://schemas.openxmlformats.org/drawingml/2006/main">
              <a:ext uri="{FF2B5EF4-FFF2-40B4-BE49-F238E27FC236}">
                <a16:creationId xmlns:a16="http://schemas.microsoft.com/office/drawing/2014/main" id="{0EF61B98-D8A5-4DA3-B948-45DD57B5B70B}"/>
              </a:ext>
            </a:extLst>
          </p:cNvPr>
          <p:cNvSpPr>
            <a:spLocks xmlns:a="http://schemas.openxmlformats.org/drawingml/2006/main" noGrp="1"/>
          </p:cNvSpPr>
          <p:nvPr/>
        </p:nvSpPr>
        <p:spPr>
          <a:xfrm xmlns:a="http://schemas.openxmlformats.org/drawingml/2006/main">
            <a:off x="8382000" y="3286125"/>
            <a:ext cx="31432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Bayesian item mean</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Thống kê dữ liệu fit</a:t>
            </a:r>
          </a:p>
        </p:txBody>
      </p:sp>
      <p:sp>
        <p:nvSpPr>
          <p:cNvPr id="11" name="Điểm lai chuẩn hóa">
            <a:extLst xmlns:a="http://schemas.openxmlformats.org/drawingml/2006/main">
              <a:ext uri="{FF2B5EF4-FFF2-40B4-BE49-F238E27FC236}">
                <a16:creationId xmlns:a16="http://schemas.microsoft.com/office/drawing/2014/main" id="{614CCC03-B14A-4286-A3BB-713315BCAA86}"/>
              </a:ext>
            </a:extLst>
          </p:cNvPr>
          <p:cNvSpPr>
            <a:spLocks xmlns:a="http://schemas.openxmlformats.org/drawingml/2006/main" noGrp="1"/>
          </p:cNvSpPr>
          <p:nvPr/>
        </p:nvSpPr>
        <p:spPr>
          <a:xfrm xmlns:a="http://schemas.openxmlformats.org/drawingml/2006/main">
            <a:off x="4191000" y="5286375"/>
            <a:ext cx="3810000" cy="666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100" b="0">
                <a:solidFill>
                  <a:srgbClr val="FFFFFF"/>
                </a:solidFill>
                <a:latin typeface="Arial"/>
                <a:ea typeface="Arial"/>
                <a:cs typeface="Arial"/>
              </a:defRPr>
            </a:defPPr>
            <a:lvl1pPr algn="ctr">
              <a:defRPr sz="2100" b="0">
                <a:solidFill>
                  <a:srgbClr val="FFFFFF"/>
                </a:solidFill>
                <a:latin typeface="Arial"/>
                <a:ea typeface="Arial"/>
                <a:cs typeface="Arial"/>
              </a:defRPr>
            </a:lvl1pPr>
            <a:lvl2pPr algn="ctr">
              <a:defRPr sz="2100" b="0">
                <a:solidFill>
                  <a:srgbClr val="FFFFFF"/>
                </a:solidFill>
                <a:latin typeface="Arial"/>
                <a:ea typeface="Arial"/>
                <a:cs typeface="Arial"/>
              </a:defRPr>
            </a:lvl2pPr>
            <a:lvl3pPr algn="ctr">
              <a:defRPr sz="2100" b="0">
                <a:solidFill>
                  <a:srgbClr val="FFFFFF"/>
                </a:solidFill>
                <a:latin typeface="Arial"/>
                <a:ea typeface="Arial"/>
                <a:cs typeface="Arial"/>
              </a:defRPr>
            </a:lvl3pPr>
            <a:lvl4pPr algn="ctr">
              <a:defRPr sz="2100" b="0">
                <a:solidFill>
                  <a:srgbClr val="FFFFFF"/>
                </a:solidFill>
                <a:latin typeface="Arial"/>
                <a:ea typeface="Arial"/>
                <a:cs typeface="Arial"/>
              </a:defRPr>
            </a:lvl4pPr>
            <a:lvl5pPr algn="ctr">
              <a:defRPr sz="2100" b="0">
                <a:solidFill>
                  <a:srgbClr val="FFFFFF"/>
                </a:solidFill>
                <a:latin typeface="Arial"/>
                <a:ea typeface="Arial"/>
                <a:cs typeface="Arial"/>
              </a:defRPr>
            </a:lvl5pPr>
            <a:lvl6pPr algn="ctr">
              <a:defRPr sz="2100" b="0">
                <a:solidFill>
                  <a:srgbClr val="FFFFFF"/>
                </a:solidFill>
                <a:latin typeface="Arial"/>
                <a:ea typeface="Arial"/>
                <a:cs typeface="Arial"/>
              </a:defRPr>
            </a:lvl6pPr>
            <a:lvl7pPr algn="ctr">
              <a:defRPr sz="2100" b="0">
                <a:solidFill>
                  <a:srgbClr val="FFFFFF"/>
                </a:solidFill>
                <a:latin typeface="Arial"/>
                <a:ea typeface="Arial"/>
                <a:cs typeface="Arial"/>
              </a:defRPr>
            </a:lvl7pPr>
            <a:lvl8pPr algn="ctr">
              <a:defRPr sz="2100" b="0">
                <a:solidFill>
                  <a:srgbClr val="FFFFFF"/>
                </a:solidFill>
                <a:latin typeface="Arial"/>
                <a:ea typeface="Arial"/>
                <a:cs typeface="Arial"/>
              </a:defRPr>
            </a:lvl8pPr>
            <a:lvl9pPr algn="ctr">
              <a:defRPr sz="2100" b="0">
                <a:solidFill>
                  <a:srgbClr val="FFFFFF"/>
                </a:solidFill>
                <a:latin typeface="Arial"/>
                <a:ea typeface="Arial"/>
                <a:cs typeface="Arial"/>
              </a:defRPr>
            </a:lvl9pPr>
          </a:lstStyle>
          <a:p xmlns:a="http://schemas.openxmlformats.org/drawingml/2006/main">
            <a:pPr algn="ctr">
              <a:defRPr sz="2100" b="0">
                <a:solidFill>
                  <a:srgbClr val="FFFFFF"/>
                </a:solidFill>
                <a:latin typeface="Arial"/>
                <a:ea typeface="Arial"/>
                <a:cs typeface="Arial"/>
              </a:defRPr>
            </a:pPr>
            <a:r>
              <a:rPr sz="2100" b="0">
                <a:solidFill>
                  <a:srgbClr val="FFFFFF"/>
                </a:solidFill>
                <a:latin typeface="Arial"/>
                <a:ea typeface="Arial"/>
                <a:cs typeface="Arial"/>
              </a:rPr>
              <a:t>Điểm lai chuẩn hóa</a:t>
            </a:r>
          </a:p>
        </p:txBody>
      </p:sp>
      <p:sp>
        <p:nvSpPr>
          <p:cNvPr id="15" name="nᵤ: số tương tác trong dữ liệu fit">
            <a:extLst xmlns:a="http://schemas.openxmlformats.org/drawingml/2006/main">
              <a:ext uri="{FF2B5EF4-FFF2-40B4-BE49-F238E27FC236}">
                <a16:creationId xmlns:a16="http://schemas.microsoft.com/office/drawing/2014/main" id="{57D4519D-1C28-4849-8EC6-0876E964E502}"/>
              </a:ext>
            </a:extLst>
          </p:cNvPr>
          <p:cNvSpPr>
            <a:spLocks xmlns:a="http://schemas.openxmlformats.org/drawingml/2006/main" noGrp="1"/>
          </p:cNvSpPr>
          <p:nvPr/>
        </p:nvSpPr>
        <p:spPr>
          <a:xfrm xmlns:a="http://schemas.openxmlformats.org/drawingml/2006/main">
            <a:off x="666750" y="26860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nᵤ: số tương tác trong dữ liệu fit</a:t>
            </a:r>
          </a:p>
        </p:txBody>
      </p:sp>
    </p:spTree>
    <p:extLst>
      <p:ext uri="{BB962C8B-B14F-4D97-AF65-F5344CB8AC3E}">
        <p14:creationId xmlns:p14="http://schemas.microsoft.com/office/powerpoint/2010/main" val="500075701"/>
      </p:ext>
    </p:extLst>
  </p:cSld>
</p:sld>
</file>

<file path=ppt/slides/slide8.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16" name="03   CÔNG NGHỆ SỬ DỤNG">
            <a:extLst xmlns:a="http://schemas.openxmlformats.org/drawingml/2006/main">
              <a:ext uri="{FF2B5EF4-FFF2-40B4-BE49-F238E27FC236}">
                <a16:creationId xmlns:a16="http://schemas.microsoft.com/office/drawing/2014/main" id="{EF461EEC-4B4B-4952-B521-BD6BD5361CB4}"/>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D6AA67"/>
                </a:solidFill>
                <a:latin typeface="Arial"/>
                <a:ea typeface="Arial"/>
                <a:cs typeface="Arial"/>
              </a:defRPr>
            </a:defPPr>
            <a:lvl1pPr algn="l">
              <a:defRPr sz="1275" b="1">
                <a:solidFill>
                  <a:srgbClr val="D6AA67"/>
                </a:solidFill>
                <a:latin typeface="Arial"/>
                <a:ea typeface="Arial"/>
                <a:cs typeface="Arial"/>
              </a:defRPr>
            </a:lvl1pPr>
            <a:lvl2pPr algn="l">
              <a:defRPr sz="1275" b="1">
                <a:solidFill>
                  <a:srgbClr val="D6AA67"/>
                </a:solidFill>
                <a:latin typeface="Arial"/>
                <a:ea typeface="Arial"/>
                <a:cs typeface="Arial"/>
              </a:defRPr>
            </a:lvl2pPr>
            <a:lvl3pPr algn="l">
              <a:defRPr sz="1275" b="1">
                <a:solidFill>
                  <a:srgbClr val="D6AA67"/>
                </a:solidFill>
                <a:latin typeface="Arial"/>
                <a:ea typeface="Arial"/>
                <a:cs typeface="Arial"/>
              </a:defRPr>
            </a:lvl3pPr>
            <a:lvl4pPr algn="l">
              <a:defRPr sz="1275" b="1">
                <a:solidFill>
                  <a:srgbClr val="D6AA67"/>
                </a:solidFill>
                <a:latin typeface="Arial"/>
                <a:ea typeface="Arial"/>
                <a:cs typeface="Arial"/>
              </a:defRPr>
            </a:lvl4pPr>
            <a:lvl5pPr algn="l">
              <a:defRPr sz="1275" b="1">
                <a:solidFill>
                  <a:srgbClr val="D6AA67"/>
                </a:solidFill>
                <a:latin typeface="Arial"/>
                <a:ea typeface="Arial"/>
                <a:cs typeface="Arial"/>
              </a:defRPr>
            </a:lvl5pPr>
            <a:lvl6pPr algn="l">
              <a:defRPr sz="1275" b="1">
                <a:solidFill>
                  <a:srgbClr val="D6AA67"/>
                </a:solidFill>
                <a:latin typeface="Arial"/>
                <a:ea typeface="Arial"/>
                <a:cs typeface="Arial"/>
              </a:defRPr>
            </a:lvl6pPr>
            <a:lvl7pPr algn="l">
              <a:defRPr sz="1275" b="1">
                <a:solidFill>
                  <a:srgbClr val="D6AA67"/>
                </a:solidFill>
                <a:latin typeface="Arial"/>
                <a:ea typeface="Arial"/>
                <a:cs typeface="Arial"/>
              </a:defRPr>
            </a:lvl7pPr>
            <a:lvl8pPr algn="l">
              <a:defRPr sz="1275" b="1">
                <a:solidFill>
                  <a:srgbClr val="D6AA67"/>
                </a:solidFill>
                <a:latin typeface="Arial"/>
                <a:ea typeface="Arial"/>
                <a:cs typeface="Arial"/>
              </a:defRPr>
            </a:lvl8pPr>
            <a:lvl9pPr algn="l">
              <a:defRPr sz="1275" b="1">
                <a:solidFill>
                  <a:srgbClr val="D6AA67"/>
                </a:solidFill>
                <a:latin typeface="Arial"/>
                <a:ea typeface="Arial"/>
                <a:cs typeface="Arial"/>
              </a:defRPr>
            </a:lvl9pPr>
          </a:lstStyle>
          <a:p xmlns:a="http://schemas.openxmlformats.org/drawingml/2006/main">
            <a:pPr algn="l">
              <a:defRPr sz="1275" b="1">
                <a:solidFill>
                  <a:srgbClr val="D6AA67"/>
                </a:solidFill>
                <a:latin typeface="Arial"/>
                <a:ea typeface="Arial"/>
                <a:cs typeface="Arial"/>
              </a:defRPr>
            </a:pPr>
            <a:r>
              <a:rPr sz="1275" b="1">
                <a:solidFill>
                  <a:srgbClr val="D6AA67"/>
                </a:solidFill>
                <a:latin typeface="Arial"/>
                <a:ea typeface="Arial"/>
                <a:cs typeface="Arial"/>
              </a:rPr>
              <a:t>03   CÔNG NGHỆ SỬ DỤNG</a:t>
            </a:r>
          </a:p>
        </p:txBody>
      </p:sp>
      <p:sp>
        <p:nvSpPr>
          <p:cNvPr id="2" name="Các công nghệ và vai trò">
            <a:extLst xmlns:a="http://schemas.openxmlformats.org/drawingml/2006/main">
              <a:ext uri="{FF2B5EF4-FFF2-40B4-BE49-F238E27FC236}">
                <a16:creationId xmlns:a16="http://schemas.microsoft.com/office/drawing/2014/main" id="{F56F2A71-B40F-4698-B819-04538E192718}"/>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1E9"/>
                </a:solidFill>
                <a:latin typeface="Arial"/>
                <a:ea typeface="Arial"/>
                <a:cs typeface="Arial"/>
              </a:defRPr>
            </a:defPPr>
            <a:lvl1pPr algn="l">
              <a:defRPr sz="3225" b="1">
                <a:solidFill>
                  <a:srgbClr val="F5F1E9"/>
                </a:solidFill>
                <a:latin typeface="Arial"/>
                <a:ea typeface="Arial"/>
                <a:cs typeface="Arial"/>
              </a:defRPr>
            </a:lvl1pPr>
            <a:lvl2pPr algn="l">
              <a:defRPr sz="3225" b="1">
                <a:solidFill>
                  <a:srgbClr val="F5F1E9"/>
                </a:solidFill>
                <a:latin typeface="Arial"/>
                <a:ea typeface="Arial"/>
                <a:cs typeface="Arial"/>
              </a:defRPr>
            </a:lvl2pPr>
            <a:lvl3pPr algn="l">
              <a:defRPr sz="3225" b="1">
                <a:solidFill>
                  <a:srgbClr val="F5F1E9"/>
                </a:solidFill>
                <a:latin typeface="Arial"/>
                <a:ea typeface="Arial"/>
                <a:cs typeface="Arial"/>
              </a:defRPr>
            </a:lvl3pPr>
            <a:lvl4pPr algn="l">
              <a:defRPr sz="3225" b="1">
                <a:solidFill>
                  <a:srgbClr val="F5F1E9"/>
                </a:solidFill>
                <a:latin typeface="Arial"/>
                <a:ea typeface="Arial"/>
                <a:cs typeface="Arial"/>
              </a:defRPr>
            </a:lvl4pPr>
            <a:lvl5pPr algn="l">
              <a:defRPr sz="3225" b="1">
                <a:solidFill>
                  <a:srgbClr val="F5F1E9"/>
                </a:solidFill>
                <a:latin typeface="Arial"/>
                <a:ea typeface="Arial"/>
                <a:cs typeface="Arial"/>
              </a:defRPr>
            </a:lvl5pPr>
            <a:lvl6pPr algn="l">
              <a:defRPr sz="3225" b="1">
                <a:solidFill>
                  <a:srgbClr val="F5F1E9"/>
                </a:solidFill>
                <a:latin typeface="Arial"/>
                <a:ea typeface="Arial"/>
                <a:cs typeface="Arial"/>
              </a:defRPr>
            </a:lvl6pPr>
            <a:lvl7pPr algn="l">
              <a:defRPr sz="3225" b="1">
                <a:solidFill>
                  <a:srgbClr val="F5F1E9"/>
                </a:solidFill>
                <a:latin typeface="Arial"/>
                <a:ea typeface="Arial"/>
                <a:cs typeface="Arial"/>
              </a:defRPr>
            </a:lvl7pPr>
            <a:lvl8pPr algn="l">
              <a:defRPr sz="3225" b="1">
                <a:solidFill>
                  <a:srgbClr val="F5F1E9"/>
                </a:solidFill>
                <a:latin typeface="Arial"/>
                <a:ea typeface="Arial"/>
                <a:cs typeface="Arial"/>
              </a:defRPr>
            </a:lvl8pPr>
            <a:lvl9pPr algn="l">
              <a:defRPr sz="3225" b="1">
                <a:solidFill>
                  <a:srgbClr val="F5F1E9"/>
                </a:solidFill>
                <a:latin typeface="Arial"/>
                <a:ea typeface="Arial"/>
                <a:cs typeface="Arial"/>
              </a:defRPr>
            </a:lvl9pPr>
          </a:lstStyle>
          <a:p xmlns:a="http://schemas.openxmlformats.org/drawingml/2006/main">
            <a:pPr algn="l">
              <a:defRPr sz="3225" b="1">
                <a:solidFill>
                  <a:srgbClr val="F5F1E9"/>
                </a:solidFill>
                <a:latin typeface="Arial"/>
                <a:ea typeface="Arial"/>
                <a:cs typeface="Arial"/>
              </a:defRPr>
            </a:pPr>
            <a:r>
              <a:rPr sz="3225" b="1">
                <a:solidFill>
                  <a:srgbClr val="F5F1E9"/>
                </a:solidFill>
                <a:latin typeface="Arial"/>
                <a:ea typeface="Arial"/>
                <a:cs typeface="Arial"/>
              </a:rPr>
              <a:t>Các công nghệ và vai trò</a:t>
            </a:r>
          </a:p>
        </p:txBody>
      </p:sp>
      <p:sp>
        <p:nvSpPr>
          <p:cNvPr id="3" name="">
            <a:extLst xmlns:a="http://schemas.openxmlformats.org/drawingml/2006/main">
              <a:ext uri="{FF2B5EF4-FFF2-40B4-BE49-F238E27FC236}">
                <a16:creationId xmlns:a16="http://schemas.microsoft.com/office/drawing/2014/main" id="{0A7A21FF-5D79-4084-B663-B5FC939EB39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3B4852"/>
            </a:solidFill>
            <a:prstDash val="solid"/>
          </a:ln>
        </p:spPr>
      </p:sp>
      <p:sp>
        <p:nvSpPr>
          <p:cNvPr id="4" name="MovieRS   /   Nguyễn Thanh Chiến">
            <a:extLst xmlns:a="http://schemas.openxmlformats.org/drawingml/2006/main">
              <a:ext uri="{FF2B5EF4-FFF2-40B4-BE49-F238E27FC236}">
                <a16:creationId xmlns:a16="http://schemas.microsoft.com/office/drawing/2014/main" id="{22ED845D-9529-4E95-A6DF-41092AD6ADF9}"/>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8C6CD"/>
                </a:solidFill>
                <a:latin typeface="Arial"/>
                <a:ea typeface="Arial"/>
                <a:cs typeface="Arial"/>
              </a:defRPr>
            </a:defPPr>
            <a:lvl1pPr algn="l">
              <a:defRPr sz="1050" b="0">
                <a:solidFill>
                  <a:srgbClr val="B8C6CD"/>
                </a:solidFill>
                <a:latin typeface="Arial"/>
                <a:ea typeface="Arial"/>
                <a:cs typeface="Arial"/>
              </a:defRPr>
            </a:lvl1pPr>
            <a:lvl2pPr algn="l">
              <a:defRPr sz="1050" b="0">
                <a:solidFill>
                  <a:srgbClr val="B8C6CD"/>
                </a:solidFill>
                <a:latin typeface="Arial"/>
                <a:ea typeface="Arial"/>
                <a:cs typeface="Arial"/>
              </a:defRPr>
            </a:lvl2pPr>
            <a:lvl3pPr algn="l">
              <a:defRPr sz="1050" b="0">
                <a:solidFill>
                  <a:srgbClr val="B8C6CD"/>
                </a:solidFill>
                <a:latin typeface="Arial"/>
                <a:ea typeface="Arial"/>
                <a:cs typeface="Arial"/>
              </a:defRPr>
            </a:lvl3pPr>
            <a:lvl4pPr algn="l">
              <a:defRPr sz="1050" b="0">
                <a:solidFill>
                  <a:srgbClr val="B8C6CD"/>
                </a:solidFill>
                <a:latin typeface="Arial"/>
                <a:ea typeface="Arial"/>
                <a:cs typeface="Arial"/>
              </a:defRPr>
            </a:lvl4pPr>
            <a:lvl5pPr algn="l">
              <a:defRPr sz="1050" b="0">
                <a:solidFill>
                  <a:srgbClr val="B8C6CD"/>
                </a:solidFill>
                <a:latin typeface="Arial"/>
                <a:ea typeface="Arial"/>
                <a:cs typeface="Arial"/>
              </a:defRPr>
            </a:lvl5pPr>
            <a:lvl6pPr algn="l">
              <a:defRPr sz="1050" b="0">
                <a:solidFill>
                  <a:srgbClr val="B8C6CD"/>
                </a:solidFill>
                <a:latin typeface="Arial"/>
                <a:ea typeface="Arial"/>
                <a:cs typeface="Arial"/>
              </a:defRPr>
            </a:lvl6pPr>
            <a:lvl7pPr algn="l">
              <a:defRPr sz="1050" b="0">
                <a:solidFill>
                  <a:srgbClr val="B8C6CD"/>
                </a:solidFill>
                <a:latin typeface="Arial"/>
                <a:ea typeface="Arial"/>
                <a:cs typeface="Arial"/>
              </a:defRPr>
            </a:lvl7pPr>
            <a:lvl8pPr algn="l">
              <a:defRPr sz="1050" b="0">
                <a:solidFill>
                  <a:srgbClr val="B8C6CD"/>
                </a:solidFill>
                <a:latin typeface="Arial"/>
                <a:ea typeface="Arial"/>
                <a:cs typeface="Arial"/>
              </a:defRPr>
            </a:lvl8pPr>
            <a:lvl9pPr algn="l">
              <a:defRPr sz="1050" b="0">
                <a:solidFill>
                  <a:srgbClr val="B8C6CD"/>
                </a:solidFill>
                <a:latin typeface="Arial"/>
                <a:ea typeface="Arial"/>
                <a:cs typeface="Arial"/>
              </a:defRPr>
            </a:lvl9pPr>
          </a:lstStyle>
          <a:p xmlns:a="http://schemas.openxmlformats.org/drawingml/2006/main">
            <a:pPr algn="l">
              <a:defRPr sz="1050" b="0">
                <a:solidFill>
                  <a:srgbClr val="B8C6CD"/>
                </a:solidFill>
                <a:latin typeface="Arial"/>
                <a:ea typeface="Arial"/>
                <a:cs typeface="Arial"/>
              </a:defRPr>
            </a:pPr>
            <a:r>
              <a:rPr sz="1050" b="0">
                <a:solidFill>
                  <a:srgbClr val="B8C6CD"/>
                </a:solidFill>
                <a:latin typeface="Arial"/>
                <a:ea typeface="Arial"/>
                <a:cs typeface="Arial"/>
              </a:rPr>
              <a:t>MovieRS   /   Nguyễn Thanh Chiến</a:t>
            </a:r>
          </a:p>
        </p:txBody>
      </p:sp>
      <p:sp>
        <p:nvSpPr>
          <p:cNvPr id="5" name="08">
            <a:extLst xmlns:a="http://schemas.openxmlformats.org/drawingml/2006/main">
              <a:ext uri="{FF2B5EF4-FFF2-40B4-BE49-F238E27FC236}">
                <a16:creationId xmlns:a16="http://schemas.microsoft.com/office/drawing/2014/main" id="{2598CAC1-AE99-445C-92E8-7BE1C3E0ECC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8C6CD"/>
                </a:solidFill>
                <a:latin typeface="Arial"/>
                <a:ea typeface="Arial"/>
                <a:cs typeface="Arial"/>
              </a:defRPr>
            </a:defPPr>
            <a:lvl1pPr algn="r">
              <a:defRPr sz="1275" b="0">
                <a:solidFill>
                  <a:srgbClr val="B8C6CD"/>
                </a:solidFill>
                <a:latin typeface="Arial"/>
                <a:ea typeface="Arial"/>
                <a:cs typeface="Arial"/>
              </a:defRPr>
            </a:lvl1pPr>
            <a:lvl2pPr algn="r">
              <a:defRPr sz="1275" b="0">
                <a:solidFill>
                  <a:srgbClr val="B8C6CD"/>
                </a:solidFill>
                <a:latin typeface="Arial"/>
                <a:ea typeface="Arial"/>
                <a:cs typeface="Arial"/>
              </a:defRPr>
            </a:lvl2pPr>
            <a:lvl3pPr algn="r">
              <a:defRPr sz="1275" b="0">
                <a:solidFill>
                  <a:srgbClr val="B8C6CD"/>
                </a:solidFill>
                <a:latin typeface="Arial"/>
                <a:ea typeface="Arial"/>
                <a:cs typeface="Arial"/>
              </a:defRPr>
            </a:lvl3pPr>
            <a:lvl4pPr algn="r">
              <a:defRPr sz="1275" b="0">
                <a:solidFill>
                  <a:srgbClr val="B8C6CD"/>
                </a:solidFill>
                <a:latin typeface="Arial"/>
                <a:ea typeface="Arial"/>
                <a:cs typeface="Arial"/>
              </a:defRPr>
            </a:lvl4pPr>
            <a:lvl5pPr algn="r">
              <a:defRPr sz="1275" b="0">
                <a:solidFill>
                  <a:srgbClr val="B8C6CD"/>
                </a:solidFill>
                <a:latin typeface="Arial"/>
                <a:ea typeface="Arial"/>
                <a:cs typeface="Arial"/>
              </a:defRPr>
            </a:lvl5pPr>
            <a:lvl6pPr algn="r">
              <a:defRPr sz="1275" b="0">
                <a:solidFill>
                  <a:srgbClr val="B8C6CD"/>
                </a:solidFill>
                <a:latin typeface="Arial"/>
                <a:ea typeface="Arial"/>
                <a:cs typeface="Arial"/>
              </a:defRPr>
            </a:lvl6pPr>
            <a:lvl7pPr algn="r">
              <a:defRPr sz="1275" b="0">
                <a:solidFill>
                  <a:srgbClr val="B8C6CD"/>
                </a:solidFill>
                <a:latin typeface="Arial"/>
                <a:ea typeface="Arial"/>
                <a:cs typeface="Arial"/>
              </a:defRPr>
            </a:lvl7pPr>
            <a:lvl8pPr algn="r">
              <a:defRPr sz="1275" b="0">
                <a:solidFill>
                  <a:srgbClr val="B8C6CD"/>
                </a:solidFill>
                <a:latin typeface="Arial"/>
                <a:ea typeface="Arial"/>
                <a:cs typeface="Arial"/>
              </a:defRPr>
            </a:lvl8pPr>
            <a:lvl9pPr algn="r">
              <a:defRPr sz="1275" b="0">
                <a:solidFill>
                  <a:srgbClr val="B8C6CD"/>
                </a:solidFill>
                <a:latin typeface="Arial"/>
                <a:ea typeface="Arial"/>
                <a:cs typeface="Arial"/>
              </a:defRPr>
            </a:lvl9pPr>
          </a:lstStyle>
          <a:p xmlns:a="http://schemas.openxmlformats.org/drawingml/2006/main">
            <a:pPr algn="r">
              <a:defRPr sz="1275" b="0">
                <a:solidFill>
                  <a:srgbClr val="B8C6CD"/>
                </a:solidFill>
                <a:latin typeface="Arial"/>
                <a:ea typeface="Arial"/>
                <a:cs typeface="Arial"/>
              </a:defRPr>
            </a:pPr>
            <a:r>
              <a:rPr sz="1275" b="0">
                <a:solidFill>
                  <a:srgbClr val="B8C6CD"/>
                </a:solidFill>
                <a:latin typeface="Arial"/>
                <a:ea typeface="Arial"/>
                <a:cs typeface="Arial"/>
              </a:rPr>
              <a:t>08</a:t>
            </a:r>
          </a:p>
        </p:txBody>
      </p:sp>
      <p:sp>
        <p:nvSpPr>
          <p:cNvPr id="6" name="Flutter / Dart">
            <a:extLst xmlns:a="http://schemas.openxmlformats.org/drawingml/2006/main">
              <a:ext uri="{FF2B5EF4-FFF2-40B4-BE49-F238E27FC236}">
                <a16:creationId xmlns:a16="http://schemas.microsoft.com/office/drawing/2014/main" id="{8E3A0385-15DC-4734-ADF6-3D23995EAC57}"/>
              </a:ext>
            </a:extLst>
          </p:cNvPr>
          <p:cNvSpPr>
            <a:spLocks xmlns:a="http://schemas.openxmlformats.org/drawingml/2006/main" noGrp="1"/>
          </p:cNvSpPr>
          <p:nvPr/>
        </p:nvSpPr>
        <p:spPr>
          <a:xfrm xmlns:a="http://schemas.openxmlformats.org/drawingml/2006/main">
            <a:off x="666750" y="20669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Flutter / Dart</a:t>
            </a:r>
          </a:p>
        </p:txBody>
      </p:sp>
      <p:sp>
        <p:nvSpPr>
          <p:cNvPr id="7" name="Giao diện đa nền tảng, phiên và player mô phỏng">
            <a:extLst xmlns:a="http://schemas.openxmlformats.org/drawingml/2006/main">
              <a:ext uri="{FF2B5EF4-FFF2-40B4-BE49-F238E27FC236}">
                <a16:creationId xmlns:a16="http://schemas.microsoft.com/office/drawing/2014/main" id="{E1A9FB0E-9496-47E3-A809-1A77DCB36427}"/>
              </a:ext>
            </a:extLst>
          </p:cNvPr>
          <p:cNvSpPr>
            <a:spLocks xmlns:a="http://schemas.openxmlformats.org/drawingml/2006/main" noGrp="1"/>
          </p:cNvSpPr>
          <p:nvPr/>
        </p:nvSpPr>
        <p:spPr>
          <a:xfrm xmlns:a="http://schemas.openxmlformats.org/drawingml/2006/main">
            <a:off x="5667375" y="21050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diện đa nền tảng, phiên và player mô phỏng</a:t>
            </a:r>
          </a:p>
        </p:txBody>
      </p:sp>
      <p:sp>
        <p:nvSpPr>
          <p:cNvPr id="8" name="FastAPI / Pydantic">
            <a:extLst xmlns:a="http://schemas.openxmlformats.org/drawingml/2006/main">
              <a:ext uri="{FF2B5EF4-FFF2-40B4-BE49-F238E27FC236}">
                <a16:creationId xmlns:a16="http://schemas.microsoft.com/office/drawing/2014/main" id="{FBA069C9-6EDE-40EC-A5A6-A57D1D446BE0}"/>
              </a:ext>
            </a:extLst>
          </p:cNvPr>
          <p:cNvSpPr>
            <a:spLocks xmlns:a="http://schemas.openxmlformats.org/drawingml/2006/main" noGrp="1"/>
          </p:cNvSpPr>
          <p:nvPr/>
        </p:nvSpPr>
        <p:spPr>
          <a:xfrm xmlns:a="http://schemas.openxmlformats.org/drawingml/2006/main">
            <a:off x="666750" y="28479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FastAPI / Pydantic</a:t>
            </a:r>
          </a:p>
        </p:txBody>
      </p:sp>
      <p:sp>
        <p:nvSpPr>
          <p:cNvPr id="9" name="API, validation, xác thực và ownership">
            <a:extLst xmlns:a="http://schemas.openxmlformats.org/drawingml/2006/main">
              <a:ext uri="{FF2B5EF4-FFF2-40B4-BE49-F238E27FC236}">
                <a16:creationId xmlns:a16="http://schemas.microsoft.com/office/drawing/2014/main" id="{C29FDF84-3319-4F65-B230-81DFACF821FA}"/>
              </a:ext>
            </a:extLst>
          </p:cNvPr>
          <p:cNvSpPr>
            <a:spLocks xmlns:a="http://schemas.openxmlformats.org/drawingml/2006/main" noGrp="1"/>
          </p:cNvSpPr>
          <p:nvPr/>
        </p:nvSpPr>
        <p:spPr>
          <a:xfrm xmlns:a="http://schemas.openxmlformats.org/drawingml/2006/main">
            <a:off x="5667375" y="28860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API, validation, xác thực và ownership</a:t>
            </a:r>
          </a:p>
        </p:txBody>
      </p:sp>
      <p:sp>
        <p:nvSpPr>
          <p:cNvPr id="10" name="PostgreSQL / Supabase">
            <a:extLst xmlns:a="http://schemas.openxmlformats.org/drawingml/2006/main">
              <a:ext uri="{FF2B5EF4-FFF2-40B4-BE49-F238E27FC236}">
                <a16:creationId xmlns:a16="http://schemas.microsoft.com/office/drawing/2014/main" id="{055183C5-B061-4C86-B6F9-015AAF29F828}"/>
              </a:ext>
            </a:extLst>
          </p:cNvPr>
          <p:cNvSpPr>
            <a:spLocks xmlns:a="http://schemas.openxmlformats.org/drawingml/2006/main" noGrp="1"/>
          </p:cNvSpPr>
          <p:nvPr/>
        </p:nvSpPr>
        <p:spPr>
          <a:xfrm xmlns:a="http://schemas.openxmlformats.org/drawingml/2006/main">
            <a:off x="666750" y="36290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PostgreSQL / Supabase</a:t>
            </a:r>
          </a:p>
        </p:txBody>
      </p:sp>
      <p:sp>
        <p:nvSpPr>
          <p:cNvPr id="11" name="Giao dịch và connection pool qua Psycopg">
            <a:extLst xmlns:a="http://schemas.openxmlformats.org/drawingml/2006/main">
              <a:ext uri="{FF2B5EF4-FFF2-40B4-BE49-F238E27FC236}">
                <a16:creationId xmlns:a16="http://schemas.microsoft.com/office/drawing/2014/main" id="{BC6631C9-8F6F-4E8B-9649-460531DF9BF6}"/>
              </a:ext>
            </a:extLst>
          </p:cNvPr>
          <p:cNvSpPr>
            <a:spLocks xmlns:a="http://schemas.openxmlformats.org/drawingml/2006/main" noGrp="1"/>
          </p:cNvSpPr>
          <p:nvPr/>
        </p:nvSpPr>
        <p:spPr>
          <a:xfrm xmlns:a="http://schemas.openxmlformats.org/drawingml/2006/main">
            <a:off x="5667375" y="36671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Giao dịch và connection pool qua Psycopg</a:t>
            </a:r>
          </a:p>
        </p:txBody>
      </p:sp>
      <p:sp>
        <p:nvSpPr>
          <p:cNvPr id="12" name="Surprise / NumPy / SciPy">
            <a:extLst xmlns:a="http://schemas.openxmlformats.org/drawingml/2006/main">
              <a:ext uri="{FF2B5EF4-FFF2-40B4-BE49-F238E27FC236}">
                <a16:creationId xmlns:a16="http://schemas.microsoft.com/office/drawing/2014/main" id="{51A7A91F-98DD-4125-941F-AA7D901439DB}"/>
              </a:ext>
            </a:extLst>
          </p:cNvPr>
          <p:cNvSpPr>
            <a:spLocks xmlns:a="http://schemas.openxmlformats.org/drawingml/2006/main" noGrp="1"/>
          </p:cNvSpPr>
          <p:nvPr/>
        </p:nvSpPr>
        <p:spPr>
          <a:xfrm xmlns:a="http://schemas.openxmlformats.org/drawingml/2006/main">
            <a:off x="666750" y="44100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5F1E9"/>
                </a:solidFill>
                <a:latin typeface="Arial"/>
                <a:ea typeface="Arial"/>
                <a:cs typeface="Arial"/>
              </a:defRPr>
            </a:defPPr>
            <a:lvl1pPr algn="l">
              <a:defRPr sz="2250" b="1">
                <a:solidFill>
                  <a:srgbClr val="F5F1E9"/>
                </a:solidFill>
                <a:latin typeface="Arial"/>
                <a:ea typeface="Arial"/>
                <a:cs typeface="Arial"/>
              </a:defRPr>
            </a:lvl1pPr>
            <a:lvl2pPr algn="l">
              <a:defRPr sz="2250" b="1">
                <a:solidFill>
                  <a:srgbClr val="F5F1E9"/>
                </a:solidFill>
                <a:latin typeface="Arial"/>
                <a:ea typeface="Arial"/>
                <a:cs typeface="Arial"/>
              </a:defRPr>
            </a:lvl2pPr>
            <a:lvl3pPr algn="l">
              <a:defRPr sz="2250" b="1">
                <a:solidFill>
                  <a:srgbClr val="F5F1E9"/>
                </a:solidFill>
                <a:latin typeface="Arial"/>
                <a:ea typeface="Arial"/>
                <a:cs typeface="Arial"/>
              </a:defRPr>
            </a:lvl3pPr>
            <a:lvl4pPr algn="l">
              <a:defRPr sz="2250" b="1">
                <a:solidFill>
                  <a:srgbClr val="F5F1E9"/>
                </a:solidFill>
                <a:latin typeface="Arial"/>
                <a:ea typeface="Arial"/>
                <a:cs typeface="Arial"/>
              </a:defRPr>
            </a:lvl4pPr>
            <a:lvl5pPr algn="l">
              <a:defRPr sz="2250" b="1">
                <a:solidFill>
                  <a:srgbClr val="F5F1E9"/>
                </a:solidFill>
                <a:latin typeface="Arial"/>
                <a:ea typeface="Arial"/>
                <a:cs typeface="Arial"/>
              </a:defRPr>
            </a:lvl5pPr>
            <a:lvl6pPr algn="l">
              <a:defRPr sz="2250" b="1">
                <a:solidFill>
                  <a:srgbClr val="F5F1E9"/>
                </a:solidFill>
                <a:latin typeface="Arial"/>
                <a:ea typeface="Arial"/>
                <a:cs typeface="Arial"/>
              </a:defRPr>
            </a:lvl6pPr>
            <a:lvl7pPr algn="l">
              <a:defRPr sz="2250" b="1">
                <a:solidFill>
                  <a:srgbClr val="F5F1E9"/>
                </a:solidFill>
                <a:latin typeface="Arial"/>
                <a:ea typeface="Arial"/>
                <a:cs typeface="Arial"/>
              </a:defRPr>
            </a:lvl7pPr>
            <a:lvl8pPr algn="l">
              <a:defRPr sz="2250" b="1">
                <a:solidFill>
                  <a:srgbClr val="F5F1E9"/>
                </a:solidFill>
                <a:latin typeface="Arial"/>
                <a:ea typeface="Arial"/>
                <a:cs typeface="Arial"/>
              </a:defRPr>
            </a:lvl8pPr>
            <a:lvl9pPr algn="l">
              <a:defRPr sz="2250" b="1">
                <a:solidFill>
                  <a:srgbClr val="F5F1E9"/>
                </a:solidFill>
                <a:latin typeface="Arial"/>
                <a:ea typeface="Arial"/>
                <a:cs typeface="Arial"/>
              </a:defRPr>
            </a:lvl9pPr>
          </a:lstStyle>
          <a:p xmlns:a="http://schemas.openxmlformats.org/drawingml/2006/main">
            <a:pPr algn="l">
              <a:defRPr sz="2250" b="1">
                <a:solidFill>
                  <a:srgbClr val="F5F1E9"/>
                </a:solidFill>
                <a:latin typeface="Arial"/>
                <a:ea typeface="Arial"/>
                <a:cs typeface="Arial"/>
              </a:defRPr>
            </a:pPr>
            <a:r>
              <a:rPr sz="2250" b="1">
                <a:solidFill>
                  <a:srgbClr val="F5F1E9"/>
                </a:solidFill>
                <a:latin typeface="Arial"/>
                <a:ea typeface="Arial"/>
                <a:cs typeface="Arial"/>
              </a:rPr>
              <a:t>Surprise / NumPy / SciPy</a:t>
            </a:r>
          </a:p>
        </p:txBody>
      </p:sp>
      <p:sp>
        <p:nvSpPr>
          <p:cNvPr id="13" name="BiasedSVD, baseline và sparse ItemKNN">
            <a:extLst xmlns:a="http://schemas.openxmlformats.org/drawingml/2006/main">
              <a:ext uri="{FF2B5EF4-FFF2-40B4-BE49-F238E27FC236}">
                <a16:creationId xmlns:a16="http://schemas.microsoft.com/office/drawing/2014/main" id="{7B59B44D-771F-4BC6-BD59-412C1AEDDA15}"/>
              </a:ext>
            </a:extLst>
          </p:cNvPr>
          <p:cNvSpPr>
            <a:spLocks xmlns:a="http://schemas.openxmlformats.org/drawingml/2006/main" noGrp="1"/>
          </p:cNvSpPr>
          <p:nvPr/>
        </p:nvSpPr>
        <p:spPr>
          <a:xfrm xmlns:a="http://schemas.openxmlformats.org/drawingml/2006/main">
            <a:off x="5667375" y="444817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BiasedSVD, baseline và sparse ItemKNN</a:t>
            </a:r>
          </a:p>
        </p:txBody>
      </p:sp>
      <p:sp>
        <p:nvSpPr>
          <p:cNvPr id="14" name="Streamlit / Altair">
            <a:extLst xmlns:a="http://schemas.openxmlformats.org/drawingml/2006/main">
              <a:ext uri="{FF2B5EF4-FFF2-40B4-BE49-F238E27FC236}">
                <a16:creationId xmlns:a16="http://schemas.microsoft.com/office/drawing/2014/main" id="{CBDF170A-9395-41DD-AF9D-F124EF5D7FAF}"/>
              </a:ext>
            </a:extLst>
          </p:cNvPr>
          <p:cNvSpPr>
            <a:spLocks xmlns:a="http://schemas.openxmlformats.org/drawingml/2006/main" noGrp="1"/>
          </p:cNvSpPr>
          <p:nvPr/>
        </p:nvSpPr>
        <p:spPr>
          <a:xfrm xmlns:a="http://schemas.openxmlformats.org/drawingml/2006/main">
            <a:off x="666750" y="51911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6AA67"/>
                </a:solidFill>
                <a:latin typeface="Arial"/>
                <a:ea typeface="Arial"/>
                <a:cs typeface="Arial"/>
              </a:defRPr>
            </a:defPPr>
            <a:lvl1pPr algn="l">
              <a:defRPr sz="2250" b="1">
                <a:solidFill>
                  <a:srgbClr val="D6AA67"/>
                </a:solidFill>
                <a:latin typeface="Arial"/>
                <a:ea typeface="Arial"/>
                <a:cs typeface="Arial"/>
              </a:defRPr>
            </a:lvl1pPr>
            <a:lvl2pPr algn="l">
              <a:defRPr sz="2250" b="1">
                <a:solidFill>
                  <a:srgbClr val="D6AA67"/>
                </a:solidFill>
                <a:latin typeface="Arial"/>
                <a:ea typeface="Arial"/>
                <a:cs typeface="Arial"/>
              </a:defRPr>
            </a:lvl2pPr>
            <a:lvl3pPr algn="l">
              <a:defRPr sz="2250" b="1">
                <a:solidFill>
                  <a:srgbClr val="D6AA67"/>
                </a:solidFill>
                <a:latin typeface="Arial"/>
                <a:ea typeface="Arial"/>
                <a:cs typeface="Arial"/>
              </a:defRPr>
            </a:lvl3pPr>
            <a:lvl4pPr algn="l">
              <a:defRPr sz="2250" b="1">
                <a:solidFill>
                  <a:srgbClr val="D6AA67"/>
                </a:solidFill>
                <a:latin typeface="Arial"/>
                <a:ea typeface="Arial"/>
                <a:cs typeface="Arial"/>
              </a:defRPr>
            </a:lvl4pPr>
            <a:lvl5pPr algn="l">
              <a:defRPr sz="2250" b="1">
                <a:solidFill>
                  <a:srgbClr val="D6AA67"/>
                </a:solidFill>
                <a:latin typeface="Arial"/>
                <a:ea typeface="Arial"/>
                <a:cs typeface="Arial"/>
              </a:defRPr>
            </a:lvl5pPr>
            <a:lvl6pPr algn="l">
              <a:defRPr sz="2250" b="1">
                <a:solidFill>
                  <a:srgbClr val="D6AA67"/>
                </a:solidFill>
                <a:latin typeface="Arial"/>
                <a:ea typeface="Arial"/>
                <a:cs typeface="Arial"/>
              </a:defRPr>
            </a:lvl6pPr>
            <a:lvl7pPr algn="l">
              <a:defRPr sz="2250" b="1">
                <a:solidFill>
                  <a:srgbClr val="D6AA67"/>
                </a:solidFill>
                <a:latin typeface="Arial"/>
                <a:ea typeface="Arial"/>
                <a:cs typeface="Arial"/>
              </a:defRPr>
            </a:lvl7pPr>
            <a:lvl8pPr algn="l">
              <a:defRPr sz="2250" b="1">
                <a:solidFill>
                  <a:srgbClr val="D6AA67"/>
                </a:solidFill>
                <a:latin typeface="Arial"/>
                <a:ea typeface="Arial"/>
                <a:cs typeface="Arial"/>
              </a:defRPr>
            </a:lvl8pPr>
            <a:lvl9pPr algn="l">
              <a:defRPr sz="2250" b="1">
                <a:solidFill>
                  <a:srgbClr val="D6AA67"/>
                </a:solidFill>
                <a:latin typeface="Arial"/>
                <a:ea typeface="Arial"/>
                <a:cs typeface="Arial"/>
              </a:defRPr>
            </a:lvl9pPr>
          </a:lstStyle>
          <a:p xmlns:a="http://schemas.openxmlformats.org/drawingml/2006/main">
            <a:pPr algn="l">
              <a:defRPr sz="2250" b="1">
                <a:solidFill>
                  <a:srgbClr val="D6AA67"/>
                </a:solidFill>
                <a:latin typeface="Arial"/>
                <a:ea typeface="Arial"/>
                <a:cs typeface="Arial"/>
              </a:defRPr>
            </a:pPr>
            <a:r>
              <a:rPr sz="2250" b="1">
                <a:solidFill>
                  <a:srgbClr val="D6AA67"/>
                </a:solidFill>
                <a:latin typeface="Arial"/>
                <a:ea typeface="Arial"/>
                <a:cs typeface="Arial"/>
              </a:rPr>
              <a:t>Streamlit / Altair</a:t>
            </a:r>
          </a:p>
        </p:txBody>
      </p:sp>
      <p:sp>
        <p:nvSpPr>
          <p:cNvPr id="15" name="Dashboard đọc artifact, so sánh và truy vết">
            <a:extLst xmlns:a="http://schemas.openxmlformats.org/drawingml/2006/main">
              <a:ext uri="{FF2B5EF4-FFF2-40B4-BE49-F238E27FC236}">
                <a16:creationId xmlns:a16="http://schemas.microsoft.com/office/drawing/2014/main" id="{CB3B0976-4832-4EDB-AD8F-D11301114C89}"/>
              </a:ext>
            </a:extLst>
          </p:cNvPr>
          <p:cNvSpPr>
            <a:spLocks xmlns:a="http://schemas.openxmlformats.org/drawingml/2006/main" noGrp="1"/>
          </p:cNvSpPr>
          <p:nvPr/>
        </p:nvSpPr>
        <p:spPr>
          <a:xfrm xmlns:a="http://schemas.openxmlformats.org/drawingml/2006/main">
            <a:off x="5667375" y="5229225"/>
            <a:ext cx="576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AD5D8"/>
                </a:solidFill>
                <a:latin typeface="Arial"/>
                <a:ea typeface="Arial"/>
                <a:cs typeface="Arial"/>
              </a:defRPr>
            </a:defPPr>
            <a:lvl1pPr algn="l">
              <a:defRPr sz="1875" b="0">
                <a:solidFill>
                  <a:srgbClr val="CAD5D8"/>
                </a:solidFill>
                <a:latin typeface="Arial"/>
                <a:ea typeface="Arial"/>
                <a:cs typeface="Arial"/>
              </a:defRPr>
            </a:lvl1pPr>
            <a:lvl2pPr algn="l">
              <a:defRPr sz="1875" b="0">
                <a:solidFill>
                  <a:srgbClr val="CAD5D8"/>
                </a:solidFill>
                <a:latin typeface="Arial"/>
                <a:ea typeface="Arial"/>
                <a:cs typeface="Arial"/>
              </a:defRPr>
            </a:lvl2pPr>
            <a:lvl3pPr algn="l">
              <a:defRPr sz="1875" b="0">
                <a:solidFill>
                  <a:srgbClr val="CAD5D8"/>
                </a:solidFill>
                <a:latin typeface="Arial"/>
                <a:ea typeface="Arial"/>
                <a:cs typeface="Arial"/>
              </a:defRPr>
            </a:lvl3pPr>
            <a:lvl4pPr algn="l">
              <a:defRPr sz="1875" b="0">
                <a:solidFill>
                  <a:srgbClr val="CAD5D8"/>
                </a:solidFill>
                <a:latin typeface="Arial"/>
                <a:ea typeface="Arial"/>
                <a:cs typeface="Arial"/>
              </a:defRPr>
            </a:lvl4pPr>
            <a:lvl5pPr algn="l">
              <a:defRPr sz="1875" b="0">
                <a:solidFill>
                  <a:srgbClr val="CAD5D8"/>
                </a:solidFill>
                <a:latin typeface="Arial"/>
                <a:ea typeface="Arial"/>
                <a:cs typeface="Arial"/>
              </a:defRPr>
            </a:lvl5pPr>
            <a:lvl6pPr algn="l">
              <a:defRPr sz="1875" b="0">
                <a:solidFill>
                  <a:srgbClr val="CAD5D8"/>
                </a:solidFill>
                <a:latin typeface="Arial"/>
                <a:ea typeface="Arial"/>
                <a:cs typeface="Arial"/>
              </a:defRPr>
            </a:lvl6pPr>
            <a:lvl7pPr algn="l">
              <a:defRPr sz="1875" b="0">
                <a:solidFill>
                  <a:srgbClr val="CAD5D8"/>
                </a:solidFill>
                <a:latin typeface="Arial"/>
                <a:ea typeface="Arial"/>
                <a:cs typeface="Arial"/>
              </a:defRPr>
            </a:lvl7pPr>
            <a:lvl8pPr algn="l">
              <a:defRPr sz="1875" b="0">
                <a:solidFill>
                  <a:srgbClr val="CAD5D8"/>
                </a:solidFill>
                <a:latin typeface="Arial"/>
                <a:ea typeface="Arial"/>
                <a:cs typeface="Arial"/>
              </a:defRPr>
            </a:lvl8pPr>
            <a:lvl9pPr algn="l">
              <a:defRPr sz="1875" b="0">
                <a:solidFill>
                  <a:srgbClr val="CAD5D8"/>
                </a:solidFill>
                <a:latin typeface="Arial"/>
                <a:ea typeface="Arial"/>
                <a:cs typeface="Arial"/>
              </a:defRPr>
            </a:lvl9pPr>
          </a:lstStyle>
          <a:p xmlns:a="http://schemas.openxmlformats.org/drawingml/2006/main">
            <a:pPr algn="l">
              <a:defRPr sz="1875" b="0">
                <a:solidFill>
                  <a:srgbClr val="CAD5D8"/>
                </a:solidFill>
                <a:latin typeface="Arial"/>
                <a:ea typeface="Arial"/>
                <a:cs typeface="Arial"/>
              </a:defRPr>
            </a:pPr>
            <a:r>
              <a:rPr sz="1875" b="0">
                <a:solidFill>
                  <a:srgbClr val="CAD5D8"/>
                </a:solidFill>
                <a:latin typeface="Arial"/>
                <a:ea typeface="Arial"/>
                <a:cs typeface="Arial"/>
              </a:rPr>
              <a:t>Dashboard đọc artifact, so sánh và truy vết</a:t>
            </a:r>
          </a:p>
        </p:txBody>
      </p:sp>
    </p:spTree>
    <p:extLst>
      <p:ext uri="{BB962C8B-B14F-4D97-AF65-F5344CB8AC3E}">
        <p14:creationId xmlns:p14="http://schemas.microsoft.com/office/powerpoint/2010/main" val="62156064"/>
      </p:ext>
    </p:extLst>
  </p:cSld>
</p:sld>
</file>

<file path=ppt/slides/slide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9A6DAB57-7CBB-4328-A0DA-4A7E9B959BCA}"/>
              </a:ext>
            </a:extLst>
          </p:cNvPr>
          <p:cNvCxnSpPr>
            <a:stCxn xmlns:a="http://schemas.openxmlformats.org/drawingml/2006/main" id="10" idx="0"/>
            <a:endCxn xmlns:a="http://schemas.openxmlformats.org/drawingml/2006/main" id="7" idx="2"/>
          </p:cNvCxnSpPr>
          <p:nvPr/>
        </p:nvCxnSpPr>
        <p:spPr>
          <a:xfrm xmlns:a="http://schemas.openxmlformats.org/drawingml/2006/main" flipV="1">
            <a:off x="6048375" y="3286125"/>
            <a:ext cx="0" cy="114300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456DC52E-C4F5-414E-845F-0DABD1304890}"/>
              </a:ext>
            </a:extLst>
          </p:cNvPr>
          <p:cNvCxnSpPr>
            <a:stCxn xmlns:a="http://schemas.openxmlformats.org/drawingml/2006/main" id="9" idx="3"/>
            <a:endCxn xmlns:a="http://schemas.openxmlformats.org/drawingml/2006/main" id="10" idx="1"/>
          </p:cNvCxnSpPr>
          <p:nvPr/>
        </p:nvCxnSpPr>
        <p:spPr>
          <a:xfrm xmlns:a="http://schemas.openxmlformats.org/drawingml/2006/main">
            <a:off x="3143250" y="5000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7280BD8F-C361-4452-A1E3-08340BDE052F}"/>
              </a:ext>
            </a:extLst>
          </p:cNvPr>
          <p:cNvCxnSpPr>
            <a:stCxn xmlns:a="http://schemas.openxmlformats.org/drawingml/2006/main" id="7" idx="3"/>
            <a:endCxn xmlns:a="http://schemas.openxmlformats.org/drawingml/2006/main" id="8" idx="1"/>
          </p:cNvCxnSpPr>
          <p:nvPr/>
        </p:nvCxnSpPr>
        <p:spPr>
          <a:xfrm xmlns:a="http://schemas.openxmlformats.org/drawingml/2006/main">
            <a:off x="7477125" y="2714625"/>
            <a:ext cx="157162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DE39CA27-BFDD-4723-9EF6-AD495E7B4EAD}"/>
              </a:ext>
            </a:extLst>
          </p:cNvPr>
          <p:cNvCxnSpPr>
            <a:stCxn xmlns:a="http://schemas.openxmlformats.org/drawingml/2006/main" id="6" idx="3"/>
            <a:endCxn xmlns:a="http://schemas.openxmlformats.org/drawingml/2006/main" id="7" idx="1"/>
          </p:cNvCxnSpPr>
          <p:nvPr/>
        </p:nvCxnSpPr>
        <p:spPr>
          <a:xfrm xmlns:a="http://schemas.openxmlformats.org/drawingml/2006/main">
            <a:off x="3143250" y="2714625"/>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A9B1BFF8-7FB0-4A07-9CD7-48D9115B9F42}"/>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Kiến trúc ứng dụng và model serving">
            <a:extLst xmlns:a="http://schemas.openxmlformats.org/drawingml/2006/main">
              <a:ext uri="{FF2B5EF4-FFF2-40B4-BE49-F238E27FC236}">
                <a16:creationId xmlns:a16="http://schemas.microsoft.com/office/drawing/2014/main" id="{EABE5D75-1922-48B1-94B7-2CF5259FA806}"/>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Kiến trúc ứng dụng và model serving</a:t>
            </a:r>
          </a:p>
        </p:txBody>
      </p:sp>
      <p:sp>
        <p:nvSpPr>
          <p:cNvPr id="3" name="">
            <a:extLst xmlns:a="http://schemas.openxmlformats.org/drawingml/2006/main">
              <a:ext uri="{FF2B5EF4-FFF2-40B4-BE49-F238E27FC236}">
                <a16:creationId xmlns:a16="http://schemas.microsoft.com/office/drawing/2014/main" id="{ECB90953-46B8-4FE9-A2F5-2044077FD4F2}"/>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2EA05127-CAE9-4B8E-A5D4-960398ECBF4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09">
            <a:extLst xmlns:a="http://schemas.openxmlformats.org/drawingml/2006/main">
              <a:ext uri="{FF2B5EF4-FFF2-40B4-BE49-F238E27FC236}">
                <a16:creationId xmlns:a16="http://schemas.microsoft.com/office/drawing/2014/main" id="{44050C5B-7DCD-4184-A9B0-4FDA8F16045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09</a:t>
            </a:r>
          </a:p>
        </p:txBody>
      </p:sp>
      <p:sp>
        <p:nvSpPr>
          <p:cNvPr id="6" name="Flutter Ứng dụng người dùng">
            <a:extLst xmlns:a="http://schemas.openxmlformats.org/drawingml/2006/main">
              <a:ext uri="{FF2B5EF4-FFF2-40B4-BE49-F238E27FC236}">
                <a16:creationId xmlns:a16="http://schemas.microsoft.com/office/drawing/2014/main" id="{0B8E8FAA-EEE4-4760-90ED-44B1C96FFE56}"/>
              </a:ext>
            </a:extLst>
          </p:cNvPr>
          <p:cNvSpPr>
            <a:spLocks xmlns:a="http://schemas.openxmlformats.org/drawingml/2006/main" noGrp="1"/>
          </p:cNvSpPr>
          <p:nvPr/>
        </p:nvSpPr>
        <p:spPr>
          <a:xfrm xmlns:a="http://schemas.openxmlformats.org/drawingml/2006/main">
            <a:off x="666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Flutter</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Ứng dụng người dùng</a:t>
            </a:r>
          </a:p>
        </p:txBody>
      </p:sp>
      <p:sp>
        <p:nvSpPr>
          <p:cNvPr id="7" name="FastAPI RecommenderService">
            <a:extLst xmlns:a="http://schemas.openxmlformats.org/drawingml/2006/main">
              <a:ext uri="{FF2B5EF4-FFF2-40B4-BE49-F238E27FC236}">
                <a16:creationId xmlns:a16="http://schemas.microsoft.com/office/drawing/2014/main" id="{03F2D2D6-60DD-4070-B055-5DC9FB08B52F}"/>
              </a:ext>
            </a:extLst>
          </p:cNvPr>
          <p:cNvSpPr>
            <a:spLocks xmlns:a="http://schemas.openxmlformats.org/drawingml/2006/main" noGrp="1"/>
          </p:cNvSpPr>
          <p:nvPr/>
        </p:nvSpPr>
        <p:spPr>
          <a:xfrm xmlns:a="http://schemas.openxmlformats.org/drawingml/2006/main">
            <a:off x="4619625" y="2143125"/>
            <a:ext cx="2857500" cy="11430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FFFFFF"/>
                </a:solidFill>
                <a:latin typeface="Arial"/>
                <a:ea typeface="Arial"/>
                <a:cs typeface="Arial"/>
              </a:defRPr>
            </a:defPPr>
            <a:lvl1pPr algn="ctr">
              <a:defRPr sz="2025" b="0">
                <a:solidFill>
                  <a:srgbClr val="FFFFFF"/>
                </a:solidFill>
                <a:latin typeface="Arial"/>
                <a:ea typeface="Arial"/>
                <a:cs typeface="Arial"/>
              </a:defRPr>
            </a:lvl1pPr>
            <a:lvl2pPr algn="ctr">
              <a:defRPr sz="2025" b="0">
                <a:solidFill>
                  <a:srgbClr val="FFFFFF"/>
                </a:solidFill>
                <a:latin typeface="Arial"/>
                <a:ea typeface="Arial"/>
                <a:cs typeface="Arial"/>
              </a:defRPr>
            </a:lvl2pPr>
            <a:lvl3pPr algn="ctr">
              <a:defRPr sz="2025" b="0">
                <a:solidFill>
                  <a:srgbClr val="FFFFFF"/>
                </a:solidFill>
                <a:latin typeface="Arial"/>
                <a:ea typeface="Arial"/>
                <a:cs typeface="Arial"/>
              </a:defRPr>
            </a:lvl3pPr>
            <a:lvl4pPr algn="ctr">
              <a:defRPr sz="2025" b="0">
                <a:solidFill>
                  <a:srgbClr val="FFFFFF"/>
                </a:solidFill>
                <a:latin typeface="Arial"/>
                <a:ea typeface="Arial"/>
                <a:cs typeface="Arial"/>
              </a:defRPr>
            </a:lvl4pPr>
            <a:lvl5pPr algn="ctr">
              <a:defRPr sz="2025" b="0">
                <a:solidFill>
                  <a:srgbClr val="FFFFFF"/>
                </a:solidFill>
                <a:latin typeface="Arial"/>
                <a:ea typeface="Arial"/>
                <a:cs typeface="Arial"/>
              </a:defRPr>
            </a:lvl5pPr>
            <a:lvl6pPr algn="ctr">
              <a:defRPr sz="2025" b="0">
                <a:solidFill>
                  <a:srgbClr val="FFFFFF"/>
                </a:solidFill>
                <a:latin typeface="Arial"/>
                <a:ea typeface="Arial"/>
                <a:cs typeface="Arial"/>
              </a:defRPr>
            </a:lvl6pPr>
            <a:lvl7pPr algn="ctr">
              <a:defRPr sz="2025" b="0">
                <a:solidFill>
                  <a:srgbClr val="FFFFFF"/>
                </a:solidFill>
                <a:latin typeface="Arial"/>
                <a:ea typeface="Arial"/>
                <a:cs typeface="Arial"/>
              </a:defRPr>
            </a:lvl7pPr>
            <a:lvl8pPr algn="ctr">
              <a:defRPr sz="2025" b="0">
                <a:solidFill>
                  <a:srgbClr val="FFFFFF"/>
                </a:solidFill>
                <a:latin typeface="Arial"/>
                <a:ea typeface="Arial"/>
                <a:cs typeface="Arial"/>
              </a:defRPr>
            </a:lvl8pPr>
            <a:lvl9pPr algn="ctr">
              <a:defRPr sz="2025" b="0">
                <a:solidFill>
                  <a:srgbClr val="FFFFFF"/>
                </a:solidFill>
                <a:latin typeface="Arial"/>
                <a:ea typeface="Arial"/>
                <a:cs typeface="Arial"/>
              </a:defRPr>
            </a:lvl9pPr>
          </a:lstStyle>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FastAPI</a:t>
            </a:r>
          </a:p>
          <a:p xmlns:a="http://schemas.openxmlformats.org/drawingml/2006/main">
            <a:pPr algn="ctr">
              <a:defRPr sz="2025" b="0">
                <a:solidFill>
                  <a:srgbClr val="FFFFFF"/>
                </a:solidFill>
                <a:latin typeface="Arial"/>
                <a:ea typeface="Arial"/>
                <a:cs typeface="Arial"/>
              </a:defRPr>
            </a:pPr>
            <a:r>
              <a:rPr sz="2025" b="0">
                <a:solidFill>
                  <a:srgbClr val="FFFFFF"/>
                </a:solidFill>
                <a:latin typeface="Arial"/>
                <a:ea typeface="Arial"/>
                <a:cs typeface="Arial"/>
              </a:rPr>
              <a:t>RecommenderService</a:t>
            </a:r>
          </a:p>
        </p:txBody>
      </p:sp>
      <p:sp>
        <p:nvSpPr>
          <p:cNvPr id="8" name="PostgreSQL Schema moviers">
            <a:extLst xmlns:a="http://schemas.openxmlformats.org/drawingml/2006/main">
              <a:ext uri="{FF2B5EF4-FFF2-40B4-BE49-F238E27FC236}">
                <a16:creationId xmlns:a16="http://schemas.microsoft.com/office/drawing/2014/main" id="{C1F28B3D-2D82-4EED-B674-AD23D427A08A}"/>
              </a:ext>
            </a:extLst>
          </p:cNvPr>
          <p:cNvSpPr>
            <a:spLocks xmlns:a="http://schemas.openxmlformats.org/drawingml/2006/main" noGrp="1"/>
          </p:cNvSpPr>
          <p:nvPr/>
        </p:nvSpPr>
        <p:spPr>
          <a:xfrm xmlns:a="http://schemas.openxmlformats.org/drawingml/2006/main">
            <a:off x="9048750" y="2143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PostgreSQL</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Schema moviers</a:t>
            </a:r>
          </a:p>
        </p:txBody>
      </p:sp>
      <p:sp>
        <p:nvSpPr>
          <p:cNvPr id="9" name="Worker CLI Chọn và fit bằng VAL">
            <a:extLst xmlns:a="http://schemas.openxmlformats.org/drawingml/2006/main">
              <a:ext uri="{FF2B5EF4-FFF2-40B4-BE49-F238E27FC236}">
                <a16:creationId xmlns:a16="http://schemas.microsoft.com/office/drawing/2014/main" id="{42835094-8320-4F37-89E9-7337EF37A00D}"/>
              </a:ext>
            </a:extLst>
          </p:cNvPr>
          <p:cNvSpPr>
            <a:spLocks xmlns:a="http://schemas.openxmlformats.org/drawingml/2006/main" noGrp="1"/>
          </p:cNvSpPr>
          <p:nvPr/>
        </p:nvSpPr>
        <p:spPr>
          <a:xfrm xmlns:a="http://schemas.openxmlformats.org/drawingml/2006/main">
            <a:off x="666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Worker CLI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Chọn và fit bằng VAL</a:t>
            </a:r>
          </a:p>
        </p:txBody>
      </p:sp>
      <p:sp>
        <p:nvSpPr>
          <p:cNvPr id="10" name="Serving bundle Model và current.json">
            <a:extLst xmlns:a="http://schemas.openxmlformats.org/drawingml/2006/main">
              <a:ext uri="{FF2B5EF4-FFF2-40B4-BE49-F238E27FC236}">
                <a16:creationId xmlns:a16="http://schemas.microsoft.com/office/drawing/2014/main" id="{E7E1856F-941C-485A-B990-A02831027825}"/>
              </a:ext>
            </a:extLst>
          </p:cNvPr>
          <p:cNvSpPr>
            <a:spLocks xmlns:a="http://schemas.openxmlformats.org/drawingml/2006/main" noGrp="1"/>
          </p:cNvSpPr>
          <p:nvPr/>
        </p:nvSpPr>
        <p:spPr>
          <a:xfrm xmlns:a="http://schemas.openxmlformats.org/drawingml/2006/main">
            <a:off x="4619625" y="4429125"/>
            <a:ext cx="2857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Serving bundle</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Model và current.json</a:t>
            </a:r>
          </a:p>
        </p:txBody>
      </p:sp>
      <p:sp>
        <p:nvSpPr>
          <p:cNvPr id="11" name="Streamlit Artifact nghiên cứu V2">
            <a:extLst xmlns:a="http://schemas.openxmlformats.org/drawingml/2006/main">
              <a:ext uri="{FF2B5EF4-FFF2-40B4-BE49-F238E27FC236}">
                <a16:creationId xmlns:a16="http://schemas.microsoft.com/office/drawing/2014/main" id="{4A926EDC-E2A3-41C6-ACC6-32048B39D9CF}"/>
              </a:ext>
            </a:extLst>
          </p:cNvPr>
          <p:cNvSpPr>
            <a:spLocks xmlns:a="http://schemas.openxmlformats.org/drawingml/2006/main" noGrp="1"/>
          </p:cNvSpPr>
          <p:nvPr/>
        </p:nvSpPr>
        <p:spPr>
          <a:xfrm xmlns:a="http://schemas.openxmlformats.org/drawingml/2006/main">
            <a:off x="9048750" y="4429125"/>
            <a:ext cx="2476500" cy="11430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Streamlit</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Artifact nghiên cứu V2</a:t>
            </a:r>
          </a:p>
        </p:txBody>
      </p:sp>
      <p:sp>
        <p:nvSpPr>
          <p:cNvPr id="16" name="Bearer / HTTP">
            <a:extLst xmlns:a="http://schemas.openxmlformats.org/drawingml/2006/main">
              <a:ext uri="{FF2B5EF4-FFF2-40B4-BE49-F238E27FC236}">
                <a16:creationId xmlns:a16="http://schemas.microsoft.com/office/drawing/2014/main" id="{8DCE4E65-7C18-4F1A-818A-91324B9CA53B}"/>
              </a:ext>
            </a:extLst>
          </p:cNvPr>
          <p:cNvSpPr>
            <a:spLocks xmlns:a="http://schemas.openxmlformats.org/drawingml/2006/main" noGrp="1"/>
          </p:cNvSpPr>
          <p:nvPr/>
        </p:nvSpPr>
        <p:spPr>
          <a:xfrm xmlns:a="http://schemas.openxmlformats.org/drawingml/2006/main">
            <a:off x="3190875"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Bearer / HTTP</a:t>
            </a:r>
          </a:p>
        </p:txBody>
      </p:sp>
      <p:sp>
        <p:nvSpPr>
          <p:cNvPr id="17" name="Transaction">
            <a:extLst xmlns:a="http://schemas.openxmlformats.org/drawingml/2006/main">
              <a:ext uri="{FF2B5EF4-FFF2-40B4-BE49-F238E27FC236}">
                <a16:creationId xmlns:a16="http://schemas.microsoft.com/office/drawing/2014/main" id="{8A3E6B23-7F5E-4BBD-9114-653D962B5104}"/>
              </a:ext>
            </a:extLst>
          </p:cNvPr>
          <p:cNvSpPr>
            <a:spLocks xmlns:a="http://schemas.openxmlformats.org/drawingml/2006/main" noGrp="1"/>
          </p:cNvSpPr>
          <p:nvPr/>
        </p:nvSpPr>
        <p:spPr>
          <a:xfrm xmlns:a="http://schemas.openxmlformats.org/drawingml/2006/main">
            <a:off x="7543800" y="16573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526674"/>
                </a:solidFill>
                <a:latin typeface="Arial"/>
                <a:ea typeface="Arial"/>
                <a:cs typeface="Arial"/>
              </a:defRPr>
            </a:defPPr>
            <a:lvl1pPr algn="ctr">
              <a:defRPr sz="1575" b="0">
                <a:solidFill>
                  <a:srgbClr val="526674"/>
                </a:solidFill>
                <a:latin typeface="Arial"/>
                <a:ea typeface="Arial"/>
                <a:cs typeface="Arial"/>
              </a:defRPr>
            </a:lvl1pPr>
            <a:lvl2pPr algn="ctr">
              <a:defRPr sz="1575" b="0">
                <a:solidFill>
                  <a:srgbClr val="526674"/>
                </a:solidFill>
                <a:latin typeface="Arial"/>
                <a:ea typeface="Arial"/>
                <a:cs typeface="Arial"/>
              </a:defRPr>
            </a:lvl2pPr>
            <a:lvl3pPr algn="ctr">
              <a:defRPr sz="1575" b="0">
                <a:solidFill>
                  <a:srgbClr val="526674"/>
                </a:solidFill>
                <a:latin typeface="Arial"/>
                <a:ea typeface="Arial"/>
                <a:cs typeface="Arial"/>
              </a:defRPr>
            </a:lvl3pPr>
            <a:lvl4pPr algn="ctr">
              <a:defRPr sz="1575" b="0">
                <a:solidFill>
                  <a:srgbClr val="526674"/>
                </a:solidFill>
                <a:latin typeface="Arial"/>
                <a:ea typeface="Arial"/>
                <a:cs typeface="Arial"/>
              </a:defRPr>
            </a:lvl4pPr>
            <a:lvl5pPr algn="ctr">
              <a:defRPr sz="1575" b="0">
                <a:solidFill>
                  <a:srgbClr val="526674"/>
                </a:solidFill>
                <a:latin typeface="Arial"/>
                <a:ea typeface="Arial"/>
                <a:cs typeface="Arial"/>
              </a:defRPr>
            </a:lvl5pPr>
            <a:lvl6pPr algn="ctr">
              <a:defRPr sz="1575" b="0">
                <a:solidFill>
                  <a:srgbClr val="526674"/>
                </a:solidFill>
                <a:latin typeface="Arial"/>
                <a:ea typeface="Arial"/>
                <a:cs typeface="Arial"/>
              </a:defRPr>
            </a:lvl6pPr>
            <a:lvl7pPr algn="ctr">
              <a:defRPr sz="1575" b="0">
                <a:solidFill>
                  <a:srgbClr val="526674"/>
                </a:solidFill>
                <a:latin typeface="Arial"/>
                <a:ea typeface="Arial"/>
                <a:cs typeface="Arial"/>
              </a:defRPr>
            </a:lvl7pPr>
            <a:lvl8pPr algn="ctr">
              <a:defRPr sz="1575" b="0">
                <a:solidFill>
                  <a:srgbClr val="526674"/>
                </a:solidFill>
                <a:latin typeface="Arial"/>
                <a:ea typeface="Arial"/>
                <a:cs typeface="Arial"/>
              </a:defRPr>
            </a:lvl8pPr>
            <a:lvl9pPr algn="ctr">
              <a:defRPr sz="1575" b="0">
                <a:solidFill>
                  <a:srgbClr val="526674"/>
                </a:solidFill>
                <a:latin typeface="Arial"/>
                <a:ea typeface="Arial"/>
                <a:cs typeface="Arial"/>
              </a:defRPr>
            </a:lvl9pPr>
          </a:lstStyle>
          <a:p xmlns:a="http://schemas.openxmlformats.org/drawingml/2006/main">
            <a:pPr algn="ctr">
              <a:defRPr sz="1575" b="0">
                <a:solidFill>
                  <a:srgbClr val="526674"/>
                </a:solidFill>
                <a:latin typeface="Arial"/>
                <a:ea typeface="Arial"/>
                <a:cs typeface="Arial"/>
              </a:defRPr>
            </a:pPr>
            <a:r>
              <a:rPr sz="1575" b="0">
                <a:solidFill>
                  <a:srgbClr val="526674"/>
                </a:solidFill>
                <a:latin typeface="Arial"/>
                <a:ea typeface="Arial"/>
                <a:cs typeface="Arial"/>
              </a:rPr>
              <a:t>Transaction</a:t>
            </a:r>
          </a:p>
        </p:txBody>
      </p:sp>
      <p:sp>
        <p:nvSpPr>
          <p:cNvPr id="18" name="Đọc bundle&#10;đã verify">
            <a:extLst xmlns:a="http://schemas.openxmlformats.org/drawingml/2006/main">
              <a:ext uri="{FF2B5EF4-FFF2-40B4-BE49-F238E27FC236}">
                <a16:creationId xmlns:a16="http://schemas.microsoft.com/office/drawing/2014/main" id="{1379099C-E4B0-4D06-95B2-31D9B3F6A1EE}"/>
              </a:ext>
            </a:extLst>
          </p:cNvPr>
          <p:cNvSpPr>
            <a:spLocks xmlns:a="http://schemas.openxmlformats.org/drawingml/2006/main" noGrp="1"/>
          </p:cNvSpPr>
          <p:nvPr/>
        </p:nvSpPr>
        <p:spPr>
          <a:xfrm xmlns:a="http://schemas.openxmlformats.org/drawingml/2006/main">
            <a:off x="6572250" y="3571875"/>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97E7C"/>
                </a:solidFill>
                <a:latin typeface="Arial"/>
                <a:ea typeface="Arial"/>
                <a:cs typeface="Arial"/>
              </a:defRPr>
            </a:defPPr>
            <a:lvl1pPr algn="l">
              <a:defRPr sz="1650" b="1">
                <a:solidFill>
                  <a:srgbClr val="297E7C"/>
                </a:solidFill>
                <a:latin typeface="Arial"/>
                <a:ea typeface="Arial"/>
                <a:cs typeface="Arial"/>
              </a:defRPr>
            </a:lvl1pPr>
            <a:lvl2pPr algn="l">
              <a:defRPr sz="1650" b="1">
                <a:solidFill>
                  <a:srgbClr val="297E7C"/>
                </a:solidFill>
                <a:latin typeface="Arial"/>
                <a:ea typeface="Arial"/>
                <a:cs typeface="Arial"/>
              </a:defRPr>
            </a:lvl2pPr>
            <a:lvl3pPr algn="l">
              <a:defRPr sz="1650" b="1">
                <a:solidFill>
                  <a:srgbClr val="297E7C"/>
                </a:solidFill>
                <a:latin typeface="Arial"/>
                <a:ea typeface="Arial"/>
                <a:cs typeface="Arial"/>
              </a:defRPr>
            </a:lvl3pPr>
            <a:lvl4pPr algn="l">
              <a:defRPr sz="1650" b="1">
                <a:solidFill>
                  <a:srgbClr val="297E7C"/>
                </a:solidFill>
                <a:latin typeface="Arial"/>
                <a:ea typeface="Arial"/>
                <a:cs typeface="Arial"/>
              </a:defRPr>
            </a:lvl4pPr>
            <a:lvl5pPr algn="l">
              <a:defRPr sz="1650" b="1">
                <a:solidFill>
                  <a:srgbClr val="297E7C"/>
                </a:solidFill>
                <a:latin typeface="Arial"/>
                <a:ea typeface="Arial"/>
                <a:cs typeface="Arial"/>
              </a:defRPr>
            </a:lvl5pPr>
            <a:lvl6pPr algn="l">
              <a:defRPr sz="1650" b="1">
                <a:solidFill>
                  <a:srgbClr val="297E7C"/>
                </a:solidFill>
                <a:latin typeface="Arial"/>
                <a:ea typeface="Arial"/>
                <a:cs typeface="Arial"/>
              </a:defRPr>
            </a:lvl6pPr>
            <a:lvl7pPr algn="l">
              <a:defRPr sz="1650" b="1">
                <a:solidFill>
                  <a:srgbClr val="297E7C"/>
                </a:solidFill>
                <a:latin typeface="Arial"/>
                <a:ea typeface="Arial"/>
                <a:cs typeface="Arial"/>
              </a:defRPr>
            </a:lvl7pPr>
            <a:lvl8pPr algn="l">
              <a:defRPr sz="1650" b="1">
                <a:solidFill>
                  <a:srgbClr val="297E7C"/>
                </a:solidFill>
                <a:latin typeface="Arial"/>
                <a:ea typeface="Arial"/>
                <a:cs typeface="Arial"/>
              </a:defRPr>
            </a:lvl8pPr>
            <a:lvl9pPr algn="l">
              <a:defRPr sz="1650" b="1">
                <a:solidFill>
                  <a:srgbClr val="297E7C"/>
                </a:solidFill>
                <a:latin typeface="Arial"/>
                <a:ea typeface="Arial"/>
                <a:cs typeface="Arial"/>
              </a:defRPr>
            </a:lvl9pPr>
          </a:lstStyle>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Đọc bundle</a:t>
            </a:r>
          </a:p>
          <a:p xmlns:a="http://schemas.openxmlformats.org/drawingml/2006/main">
            <a:pPr algn="l">
              <a:defRPr sz="1650" b="1">
                <a:solidFill>
                  <a:srgbClr val="297E7C"/>
                </a:solidFill>
                <a:latin typeface="Arial"/>
                <a:ea typeface="Arial"/>
                <a:cs typeface="Arial"/>
              </a:defRPr>
            </a:pPr>
            <a:r>
              <a:rPr sz="1650" b="1">
                <a:solidFill>
                  <a:srgbClr val="297E7C"/>
                </a:solidFill>
                <a:latin typeface="Arial"/>
                <a:ea typeface="Arial"/>
                <a:cs typeface="Arial"/>
              </a:rPr>
              <a:t>đã verify</a:t>
            </a:r>
          </a:p>
        </p:txBody>
      </p:sp>
      <p:sp>
        <p:nvSpPr>
          <p:cNvPr id="19" name="Dashboard phân tích run nghiên cứu độc lập với feedback và model ">
            <a:extLst xmlns:a="http://schemas.openxmlformats.org/drawingml/2006/main">
              <a:ext uri="{FF2B5EF4-FFF2-40B4-BE49-F238E27FC236}">
                <a16:creationId xmlns:a16="http://schemas.microsoft.com/office/drawing/2014/main" id="{0ABA1FD3-2018-431C-9CF1-179053C40F93}"/>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Dashboard phân tích run nghiên cứu độc lập với feedback và model đang phục vụ</a:t>
            </a:r>
          </a:p>
        </p:txBody>
      </p:sp>
    </p:spTree>
    <p:extLst>
      <p:ext uri="{BB962C8B-B14F-4D97-AF65-F5344CB8AC3E}">
        <p14:creationId xmlns:p14="http://schemas.microsoft.com/office/powerpoint/2010/main" val="1433766037"/>
      </p:ext>
    </p:extLst>
  </p:cSld>
</p:sld>
</file>

<file path=ppt/slides/slide1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6" name="04   PHÂN TÍCH THIẾT KẾ">
            <a:extLst xmlns:a="http://schemas.openxmlformats.org/drawingml/2006/main">
              <a:ext uri="{FF2B5EF4-FFF2-40B4-BE49-F238E27FC236}">
                <a16:creationId xmlns:a16="http://schemas.microsoft.com/office/drawing/2014/main" id="{3B70F8A3-4DE7-4905-93D4-3E4CC8301D3D}"/>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Tác nhân và ranh giới truy cập">
            <a:extLst xmlns:a="http://schemas.openxmlformats.org/drawingml/2006/main">
              <a:ext uri="{FF2B5EF4-FFF2-40B4-BE49-F238E27FC236}">
                <a16:creationId xmlns:a16="http://schemas.microsoft.com/office/drawing/2014/main" id="{3DFAAA51-151E-4110-943B-EC2EA44AECBE}"/>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Tác nhân và ranh giới truy cập</a:t>
            </a:r>
          </a:p>
        </p:txBody>
      </p:sp>
      <p:sp>
        <p:nvSpPr>
          <p:cNvPr id="3" name="">
            <a:extLst xmlns:a="http://schemas.openxmlformats.org/drawingml/2006/main">
              <a:ext uri="{FF2B5EF4-FFF2-40B4-BE49-F238E27FC236}">
                <a16:creationId xmlns:a16="http://schemas.microsoft.com/office/drawing/2014/main" id="{66C596AE-3359-44F4-9A8D-74D045F1A74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43A3363E-B2A1-4624-AEE1-BD6AD38D320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0">
            <a:extLst xmlns:a="http://schemas.openxmlformats.org/drawingml/2006/main">
              <a:ext uri="{FF2B5EF4-FFF2-40B4-BE49-F238E27FC236}">
                <a16:creationId xmlns:a16="http://schemas.microsoft.com/office/drawing/2014/main" id="{1DDBD24A-9A1A-43DE-9EFA-A415273F56D9}"/>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10</a:t>
            </a:r>
          </a:p>
        </p:txBody>
      </p:sp>
      <p:sp>
        <p:nvSpPr>
          <p:cNvPr id="6" name="01">
            <a:extLst xmlns:a="http://schemas.openxmlformats.org/drawingml/2006/main">
              <a:ext uri="{FF2B5EF4-FFF2-40B4-BE49-F238E27FC236}">
                <a16:creationId xmlns:a16="http://schemas.microsoft.com/office/drawing/2014/main" id="{D74C3C22-FB3B-4345-91CB-F6DFA87F0436}"/>
              </a:ext>
            </a:extLst>
          </p:cNvPr>
          <p:cNvSpPr>
            <a:spLocks xmlns:a="http://schemas.openxmlformats.org/drawingml/2006/main" noGrp="1"/>
          </p:cNvSpPr>
          <p:nvPr/>
        </p:nvSpPr>
        <p:spPr>
          <a:xfrm xmlns:a="http://schemas.openxmlformats.org/drawingml/2006/main">
            <a:off x="66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01</a:t>
            </a:r>
          </a:p>
        </p:txBody>
      </p:sp>
      <p:sp>
        <p:nvSpPr>
          <p:cNvPr id="7" name="Người dùng">
            <a:extLst xmlns:a="http://schemas.openxmlformats.org/drawingml/2006/main">
              <a:ext uri="{FF2B5EF4-FFF2-40B4-BE49-F238E27FC236}">
                <a16:creationId xmlns:a16="http://schemas.microsoft.com/office/drawing/2014/main" id="{F7E47A9B-F8E0-42E4-A0FE-6D38019452ED}"/>
              </a:ext>
            </a:extLst>
          </p:cNvPr>
          <p:cNvSpPr>
            <a:spLocks xmlns:a="http://schemas.openxmlformats.org/drawingml/2006/main" noGrp="1"/>
          </p:cNvSpPr>
          <p:nvPr/>
        </p:nvSpPr>
        <p:spPr>
          <a:xfrm xmlns:a="http://schemas.openxmlformats.org/drawingml/2006/main">
            <a:off x="66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Người dùng</a:t>
            </a:r>
          </a:p>
        </p:txBody>
      </p:sp>
      <p:sp>
        <p:nvSpPr>
          <p:cNvPr id="8" name="Tài khoản, tìm kiếm, gợi ý&#10;Sao, favorite, tiến độ xem&#10;Chỉ ghi dữ ">
            <a:extLst xmlns:a="http://schemas.openxmlformats.org/drawingml/2006/main">
              <a:ext uri="{FF2B5EF4-FFF2-40B4-BE49-F238E27FC236}">
                <a16:creationId xmlns:a16="http://schemas.microsoft.com/office/drawing/2014/main" id="{1CFE5BA3-A1AE-4D0D-9982-38409AE3235F}"/>
              </a:ext>
            </a:extLst>
          </p:cNvPr>
          <p:cNvSpPr>
            <a:spLocks xmlns:a="http://schemas.openxmlformats.org/drawingml/2006/main" noGrp="1"/>
          </p:cNvSpPr>
          <p:nvPr/>
        </p:nvSpPr>
        <p:spPr>
          <a:xfrm xmlns:a="http://schemas.openxmlformats.org/drawingml/2006/main">
            <a:off x="66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Tài khoản, tìm kiếm, gợi ý</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Sao, favorite, tiến độ xem</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Chỉ ghi dữ liệu của mình</a:t>
            </a:r>
          </a:p>
        </p:txBody>
      </p:sp>
      <p:sp>
        <p:nvSpPr>
          <p:cNvPr id="9" name="02">
            <a:extLst xmlns:a="http://schemas.openxmlformats.org/drawingml/2006/main">
              <a:ext uri="{FF2B5EF4-FFF2-40B4-BE49-F238E27FC236}">
                <a16:creationId xmlns:a16="http://schemas.microsoft.com/office/drawing/2014/main" id="{16BE8F6E-C681-4273-AB80-6F2F5FF1CB5B}"/>
              </a:ext>
            </a:extLst>
          </p:cNvPr>
          <p:cNvSpPr>
            <a:spLocks xmlns:a="http://schemas.openxmlformats.org/drawingml/2006/main" noGrp="1"/>
          </p:cNvSpPr>
          <p:nvPr/>
        </p:nvSpPr>
        <p:spPr>
          <a:xfrm xmlns:a="http://schemas.openxmlformats.org/drawingml/2006/main">
            <a:off x="447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02</a:t>
            </a:r>
          </a:p>
        </p:txBody>
      </p:sp>
      <p:sp>
        <p:nvSpPr>
          <p:cNvPr id="10" name="Nghiên cứu và vận hành">
            <a:extLst xmlns:a="http://schemas.openxmlformats.org/drawingml/2006/main">
              <a:ext uri="{FF2B5EF4-FFF2-40B4-BE49-F238E27FC236}">
                <a16:creationId xmlns:a16="http://schemas.microsoft.com/office/drawing/2014/main" id="{D88D21EE-5286-405D-968F-9B5212597575}"/>
              </a:ext>
            </a:extLst>
          </p:cNvPr>
          <p:cNvSpPr>
            <a:spLocks xmlns:a="http://schemas.openxmlformats.org/drawingml/2006/main" noGrp="1"/>
          </p:cNvSpPr>
          <p:nvPr/>
        </p:nvSpPr>
        <p:spPr>
          <a:xfrm xmlns:a="http://schemas.openxmlformats.org/drawingml/2006/main">
            <a:off x="447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Nghiên cứu và vận hành</a:t>
            </a:r>
          </a:p>
        </p:txBody>
      </p:sp>
      <p:sp>
        <p:nvSpPr>
          <p:cNvPr id="11" name="Audit, benchmark và CI&#10;Theo dõi dashboard&#10;Chạy CLI, reload và rol">
            <a:extLst xmlns:a="http://schemas.openxmlformats.org/drawingml/2006/main">
              <a:ext uri="{FF2B5EF4-FFF2-40B4-BE49-F238E27FC236}">
                <a16:creationId xmlns:a16="http://schemas.microsoft.com/office/drawing/2014/main" id="{71A5CACA-D2B4-40A2-A6D2-97E12E2FED6C}"/>
              </a:ext>
            </a:extLst>
          </p:cNvPr>
          <p:cNvSpPr>
            <a:spLocks xmlns:a="http://schemas.openxmlformats.org/drawingml/2006/main" noGrp="1"/>
          </p:cNvSpPr>
          <p:nvPr/>
        </p:nvSpPr>
        <p:spPr>
          <a:xfrm xmlns:a="http://schemas.openxmlformats.org/drawingml/2006/main">
            <a:off x="447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Audit, benchmark và CI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Theo dõi dashboard</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Chạy CLI, reload và rollback</a:t>
            </a:r>
          </a:p>
        </p:txBody>
      </p:sp>
      <p:sp>
        <p:nvSpPr>
          <p:cNvPr id="12" name="03">
            <a:extLst xmlns:a="http://schemas.openxmlformats.org/drawingml/2006/main">
              <a:ext uri="{FF2B5EF4-FFF2-40B4-BE49-F238E27FC236}">
                <a16:creationId xmlns:a16="http://schemas.microsoft.com/office/drawing/2014/main" id="{AF65920A-AE39-4686-BDA9-EFF3EFEC992B}"/>
              </a:ext>
            </a:extLst>
          </p:cNvPr>
          <p:cNvSpPr>
            <a:spLocks xmlns:a="http://schemas.openxmlformats.org/drawingml/2006/main" noGrp="1"/>
          </p:cNvSpPr>
          <p:nvPr/>
        </p:nvSpPr>
        <p:spPr>
          <a:xfrm xmlns:a="http://schemas.openxmlformats.org/drawingml/2006/main">
            <a:off x="8286750" y="21431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297E7C"/>
                </a:solidFill>
                <a:latin typeface="Arial"/>
                <a:ea typeface="Arial"/>
                <a:cs typeface="Arial"/>
              </a:defRPr>
            </a:defPPr>
            <a:lvl1pPr algn="l">
              <a:defRPr sz="3900" b="1">
                <a:solidFill>
                  <a:srgbClr val="297E7C"/>
                </a:solidFill>
                <a:latin typeface="Arial"/>
                <a:ea typeface="Arial"/>
                <a:cs typeface="Arial"/>
              </a:defRPr>
            </a:lvl1pPr>
            <a:lvl2pPr algn="l">
              <a:defRPr sz="3900" b="1">
                <a:solidFill>
                  <a:srgbClr val="297E7C"/>
                </a:solidFill>
                <a:latin typeface="Arial"/>
                <a:ea typeface="Arial"/>
                <a:cs typeface="Arial"/>
              </a:defRPr>
            </a:lvl2pPr>
            <a:lvl3pPr algn="l">
              <a:defRPr sz="3900" b="1">
                <a:solidFill>
                  <a:srgbClr val="297E7C"/>
                </a:solidFill>
                <a:latin typeface="Arial"/>
                <a:ea typeface="Arial"/>
                <a:cs typeface="Arial"/>
              </a:defRPr>
            </a:lvl3pPr>
            <a:lvl4pPr algn="l">
              <a:defRPr sz="3900" b="1">
                <a:solidFill>
                  <a:srgbClr val="297E7C"/>
                </a:solidFill>
                <a:latin typeface="Arial"/>
                <a:ea typeface="Arial"/>
                <a:cs typeface="Arial"/>
              </a:defRPr>
            </a:lvl4pPr>
            <a:lvl5pPr algn="l">
              <a:defRPr sz="3900" b="1">
                <a:solidFill>
                  <a:srgbClr val="297E7C"/>
                </a:solidFill>
                <a:latin typeface="Arial"/>
                <a:ea typeface="Arial"/>
                <a:cs typeface="Arial"/>
              </a:defRPr>
            </a:lvl5pPr>
            <a:lvl6pPr algn="l">
              <a:defRPr sz="3900" b="1">
                <a:solidFill>
                  <a:srgbClr val="297E7C"/>
                </a:solidFill>
                <a:latin typeface="Arial"/>
                <a:ea typeface="Arial"/>
                <a:cs typeface="Arial"/>
              </a:defRPr>
            </a:lvl6pPr>
            <a:lvl7pPr algn="l">
              <a:defRPr sz="3900" b="1">
                <a:solidFill>
                  <a:srgbClr val="297E7C"/>
                </a:solidFill>
                <a:latin typeface="Arial"/>
                <a:ea typeface="Arial"/>
                <a:cs typeface="Arial"/>
              </a:defRPr>
            </a:lvl7pPr>
            <a:lvl8pPr algn="l">
              <a:defRPr sz="3900" b="1">
                <a:solidFill>
                  <a:srgbClr val="297E7C"/>
                </a:solidFill>
                <a:latin typeface="Arial"/>
                <a:ea typeface="Arial"/>
                <a:cs typeface="Arial"/>
              </a:defRPr>
            </a:lvl8pPr>
            <a:lvl9pPr algn="l">
              <a:defRPr sz="3900" b="1">
                <a:solidFill>
                  <a:srgbClr val="297E7C"/>
                </a:solidFill>
                <a:latin typeface="Arial"/>
                <a:ea typeface="Arial"/>
                <a:cs typeface="Arial"/>
              </a:defRPr>
            </a:lvl9pPr>
          </a:lstStyle>
          <a:p xmlns:a="http://schemas.openxmlformats.org/drawingml/2006/main">
            <a:pPr algn="l">
              <a:defRPr sz="3900" b="1">
                <a:solidFill>
                  <a:srgbClr val="297E7C"/>
                </a:solidFill>
                <a:latin typeface="Arial"/>
                <a:ea typeface="Arial"/>
                <a:cs typeface="Arial"/>
              </a:defRPr>
            </a:pPr>
            <a:r>
              <a:rPr sz="3900" b="1">
                <a:solidFill>
                  <a:srgbClr val="297E7C"/>
                </a:solidFill>
                <a:latin typeface="Arial"/>
                <a:ea typeface="Arial"/>
                <a:cs typeface="Arial"/>
              </a:rPr>
              <a:t>03</a:t>
            </a:r>
          </a:p>
        </p:txBody>
      </p:sp>
      <p:sp>
        <p:nvSpPr>
          <p:cNvPr id="13" name="Worker hệ thống">
            <a:extLst xmlns:a="http://schemas.openxmlformats.org/drawingml/2006/main">
              <a:ext uri="{FF2B5EF4-FFF2-40B4-BE49-F238E27FC236}">
                <a16:creationId xmlns:a16="http://schemas.microsoft.com/office/drawing/2014/main" id="{BF14A479-B61A-411D-8C11-07A865431F82}"/>
              </a:ext>
            </a:extLst>
          </p:cNvPr>
          <p:cNvSpPr>
            <a:spLocks xmlns:a="http://schemas.openxmlformats.org/drawingml/2006/main" noGrp="1"/>
          </p:cNvSpPr>
          <p:nvPr/>
        </p:nvSpPr>
        <p:spPr>
          <a:xfrm xmlns:a="http://schemas.openxmlformats.org/drawingml/2006/main">
            <a:off x="8286750" y="2886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D3D"/>
                </a:solidFill>
                <a:latin typeface="Arial"/>
                <a:ea typeface="Arial"/>
                <a:cs typeface="Arial"/>
              </a:defRPr>
            </a:defPPr>
            <a:lvl1pPr algn="l">
              <a:defRPr sz="2175" b="1">
                <a:solidFill>
                  <a:srgbClr val="172D3D"/>
                </a:solidFill>
                <a:latin typeface="Arial"/>
                <a:ea typeface="Arial"/>
                <a:cs typeface="Arial"/>
              </a:defRPr>
            </a:lvl1pPr>
            <a:lvl2pPr algn="l">
              <a:defRPr sz="2175" b="1">
                <a:solidFill>
                  <a:srgbClr val="172D3D"/>
                </a:solidFill>
                <a:latin typeface="Arial"/>
                <a:ea typeface="Arial"/>
                <a:cs typeface="Arial"/>
              </a:defRPr>
            </a:lvl2pPr>
            <a:lvl3pPr algn="l">
              <a:defRPr sz="2175" b="1">
                <a:solidFill>
                  <a:srgbClr val="172D3D"/>
                </a:solidFill>
                <a:latin typeface="Arial"/>
                <a:ea typeface="Arial"/>
                <a:cs typeface="Arial"/>
              </a:defRPr>
            </a:lvl3pPr>
            <a:lvl4pPr algn="l">
              <a:defRPr sz="2175" b="1">
                <a:solidFill>
                  <a:srgbClr val="172D3D"/>
                </a:solidFill>
                <a:latin typeface="Arial"/>
                <a:ea typeface="Arial"/>
                <a:cs typeface="Arial"/>
              </a:defRPr>
            </a:lvl4pPr>
            <a:lvl5pPr algn="l">
              <a:defRPr sz="2175" b="1">
                <a:solidFill>
                  <a:srgbClr val="172D3D"/>
                </a:solidFill>
                <a:latin typeface="Arial"/>
                <a:ea typeface="Arial"/>
                <a:cs typeface="Arial"/>
              </a:defRPr>
            </a:lvl5pPr>
            <a:lvl6pPr algn="l">
              <a:defRPr sz="2175" b="1">
                <a:solidFill>
                  <a:srgbClr val="172D3D"/>
                </a:solidFill>
                <a:latin typeface="Arial"/>
                <a:ea typeface="Arial"/>
                <a:cs typeface="Arial"/>
              </a:defRPr>
            </a:lvl6pPr>
            <a:lvl7pPr algn="l">
              <a:defRPr sz="2175" b="1">
                <a:solidFill>
                  <a:srgbClr val="172D3D"/>
                </a:solidFill>
                <a:latin typeface="Arial"/>
                <a:ea typeface="Arial"/>
                <a:cs typeface="Arial"/>
              </a:defRPr>
            </a:lvl7pPr>
            <a:lvl8pPr algn="l">
              <a:defRPr sz="2175" b="1">
                <a:solidFill>
                  <a:srgbClr val="172D3D"/>
                </a:solidFill>
                <a:latin typeface="Arial"/>
                <a:ea typeface="Arial"/>
                <a:cs typeface="Arial"/>
              </a:defRPr>
            </a:lvl8pPr>
            <a:lvl9pPr algn="l">
              <a:defRPr sz="2175" b="1">
                <a:solidFill>
                  <a:srgbClr val="172D3D"/>
                </a:solidFill>
                <a:latin typeface="Arial"/>
                <a:ea typeface="Arial"/>
                <a:cs typeface="Arial"/>
              </a:defRPr>
            </a:lvl9pPr>
          </a:lstStyle>
          <a:p xmlns:a="http://schemas.openxmlformats.org/drawingml/2006/main">
            <a:pPr algn="l">
              <a:defRPr sz="2175" b="1">
                <a:solidFill>
                  <a:srgbClr val="172D3D"/>
                </a:solidFill>
                <a:latin typeface="Arial"/>
                <a:ea typeface="Arial"/>
                <a:cs typeface="Arial"/>
              </a:defRPr>
            </a:pPr>
            <a:r>
              <a:rPr sz="2175" b="1">
                <a:solidFill>
                  <a:srgbClr val="172D3D"/>
                </a:solidFill>
                <a:latin typeface="Arial"/>
                <a:ea typeface="Arial"/>
                <a:cs typeface="Arial"/>
              </a:rPr>
              <a:t>Worker hệ thống</a:t>
            </a:r>
          </a:p>
        </p:txBody>
      </p:sp>
      <p:sp>
        <p:nvSpPr>
          <p:cNvPr id="14" name="Một job có khóa&#10;Kiểm định trước promote&#10;Ghi trạng thái và bundle">
            <a:extLst xmlns:a="http://schemas.openxmlformats.org/drawingml/2006/main">
              <a:ext uri="{FF2B5EF4-FFF2-40B4-BE49-F238E27FC236}">
                <a16:creationId xmlns:a16="http://schemas.microsoft.com/office/drawing/2014/main" id="{D6C4186F-FFE2-4901-9FCD-D693D99158C6}"/>
              </a:ext>
            </a:extLst>
          </p:cNvPr>
          <p:cNvSpPr>
            <a:spLocks xmlns:a="http://schemas.openxmlformats.org/drawingml/2006/main" noGrp="1"/>
          </p:cNvSpPr>
          <p:nvPr/>
        </p:nvSpPr>
        <p:spPr>
          <a:xfrm xmlns:a="http://schemas.openxmlformats.org/drawingml/2006/main">
            <a:off x="8286750" y="366712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Một job có khóa</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Kiểm định trước promote</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Ghi trạng thái và bundle</a:t>
            </a:r>
          </a:p>
        </p:txBody>
      </p:sp>
      <p:sp>
        <p:nvSpPr>
          <p:cNvPr id="15" name="Argon2id và bearer opaque 12 giờ. SQL chỉ lưu digest của token. A">
            <a:extLst xmlns:a="http://schemas.openxmlformats.org/drawingml/2006/main">
              <a:ext uri="{FF2B5EF4-FFF2-40B4-BE49-F238E27FC236}">
                <a16:creationId xmlns:a16="http://schemas.microsoft.com/office/drawing/2014/main" id="{5AACB7D2-4B8B-43A9-9363-6F51A634DD6A}"/>
              </a:ext>
            </a:extLst>
          </p:cNvPr>
          <p:cNvSpPr>
            <a:spLocks xmlns:a="http://schemas.openxmlformats.org/drawingml/2006/main" noGrp="1"/>
          </p:cNvSpPr>
          <p:nvPr/>
        </p:nvSpPr>
        <p:spPr>
          <a:xfrm xmlns:a="http://schemas.openxmlformats.org/drawingml/2006/main">
            <a:off x="666750" y="5553075"/>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D3D"/>
                </a:solidFill>
                <a:latin typeface="Arial"/>
                <a:ea typeface="Arial"/>
                <a:cs typeface="Arial"/>
              </a:defRPr>
            </a:defPPr>
            <a:lvl1pPr algn="l">
              <a:defRPr sz="1875" b="1">
                <a:solidFill>
                  <a:srgbClr val="172D3D"/>
                </a:solidFill>
                <a:latin typeface="Arial"/>
                <a:ea typeface="Arial"/>
                <a:cs typeface="Arial"/>
              </a:defRPr>
            </a:lvl1pPr>
            <a:lvl2pPr algn="l">
              <a:defRPr sz="1875" b="1">
                <a:solidFill>
                  <a:srgbClr val="172D3D"/>
                </a:solidFill>
                <a:latin typeface="Arial"/>
                <a:ea typeface="Arial"/>
                <a:cs typeface="Arial"/>
              </a:defRPr>
            </a:lvl2pPr>
            <a:lvl3pPr algn="l">
              <a:defRPr sz="1875" b="1">
                <a:solidFill>
                  <a:srgbClr val="172D3D"/>
                </a:solidFill>
                <a:latin typeface="Arial"/>
                <a:ea typeface="Arial"/>
                <a:cs typeface="Arial"/>
              </a:defRPr>
            </a:lvl3pPr>
            <a:lvl4pPr algn="l">
              <a:defRPr sz="1875" b="1">
                <a:solidFill>
                  <a:srgbClr val="172D3D"/>
                </a:solidFill>
                <a:latin typeface="Arial"/>
                <a:ea typeface="Arial"/>
                <a:cs typeface="Arial"/>
              </a:defRPr>
            </a:lvl4pPr>
            <a:lvl5pPr algn="l">
              <a:defRPr sz="1875" b="1">
                <a:solidFill>
                  <a:srgbClr val="172D3D"/>
                </a:solidFill>
                <a:latin typeface="Arial"/>
                <a:ea typeface="Arial"/>
                <a:cs typeface="Arial"/>
              </a:defRPr>
            </a:lvl5pPr>
            <a:lvl6pPr algn="l">
              <a:defRPr sz="1875" b="1">
                <a:solidFill>
                  <a:srgbClr val="172D3D"/>
                </a:solidFill>
                <a:latin typeface="Arial"/>
                <a:ea typeface="Arial"/>
                <a:cs typeface="Arial"/>
              </a:defRPr>
            </a:lvl6pPr>
            <a:lvl7pPr algn="l">
              <a:defRPr sz="1875" b="1">
                <a:solidFill>
                  <a:srgbClr val="172D3D"/>
                </a:solidFill>
                <a:latin typeface="Arial"/>
                <a:ea typeface="Arial"/>
                <a:cs typeface="Arial"/>
              </a:defRPr>
            </a:lvl7pPr>
            <a:lvl8pPr algn="l">
              <a:defRPr sz="1875" b="1">
                <a:solidFill>
                  <a:srgbClr val="172D3D"/>
                </a:solidFill>
                <a:latin typeface="Arial"/>
                <a:ea typeface="Arial"/>
                <a:cs typeface="Arial"/>
              </a:defRPr>
            </a:lvl8pPr>
            <a:lvl9pPr algn="l">
              <a:defRPr sz="1875" b="1">
                <a:solidFill>
                  <a:srgbClr val="172D3D"/>
                </a:solidFill>
                <a:latin typeface="Arial"/>
                <a:ea typeface="Arial"/>
                <a:cs typeface="Arial"/>
              </a:defRPr>
            </a:lvl9pPr>
          </a:lstStyle>
          <a:p xmlns:a="http://schemas.openxmlformats.org/drawingml/2006/main">
            <a:pPr algn="l">
              <a:defRPr sz="1875" b="1">
                <a:solidFill>
                  <a:srgbClr val="172D3D"/>
                </a:solidFill>
                <a:latin typeface="Arial"/>
                <a:ea typeface="Arial"/>
                <a:cs typeface="Arial"/>
              </a:defRPr>
            </a:pPr>
            <a:r>
              <a:rPr sz="1875" b="1">
                <a:solidFill>
                  <a:srgbClr val="172D3D"/>
                </a:solidFill>
                <a:latin typeface="Arial"/>
                <a:ea typeface="Arial"/>
                <a:cs typeface="Arial"/>
              </a:rPr>
              <a:t>Argon2id và bearer opaque 12 giờ. SQL chỉ lưu digest của token. API kiểm tra ownership.</a:t>
            </a:r>
          </a:p>
        </p:txBody>
      </p:sp>
    </p:spTree>
    <p:extLst>
      <p:ext uri="{BB962C8B-B14F-4D97-AF65-F5344CB8AC3E}">
        <p14:creationId xmlns:p14="http://schemas.microsoft.com/office/powerpoint/2010/main" val="850791368"/>
      </p:ext>
    </p:extLst>
  </p:cSld>
</p:sld>
</file>

<file path=ppt/slides/slide1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64DE9A8-2873-437F-9438-0BAC6DD1C051}"/>
              </a:ext>
            </a:extLst>
          </p:cNvPr>
          <p:cNvCxnSpPr>
            <a:stCxn xmlns:a="http://schemas.openxmlformats.org/drawingml/2006/main" id="12" idx="0"/>
            <a:endCxn xmlns:a="http://schemas.openxmlformats.org/drawingml/2006/main" id="11" idx="2"/>
          </p:cNvCxnSpPr>
          <p:nvPr/>
        </p:nvCxnSpPr>
        <p:spPr>
          <a:xfrm xmlns:a="http://schemas.openxmlformats.org/drawingml/2006/main" flipV="1">
            <a:off x="6096000"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8AF2206A-7DDF-4D4D-8933-F0A19219A3B6}"/>
              </a:ext>
            </a:extLst>
          </p:cNvPr>
          <p:cNvCxnSpPr>
            <a:stCxn xmlns:a="http://schemas.openxmlformats.org/drawingml/2006/main" id="6" idx="2"/>
            <a:endCxn xmlns:a="http://schemas.openxmlformats.org/drawingml/2006/main" id="11" idx="0"/>
          </p:cNvCxnSpPr>
          <p:nvPr/>
        </p:nvCxnSpPr>
        <p:spPr>
          <a:xfrm xmlns:a="http://schemas.openxmlformats.org/drawingml/2006/main">
            <a:off x="6096000"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0C7D0725-8341-4CEA-8528-F7D94CEAA28F}"/>
              </a:ext>
            </a:extLst>
          </p:cNvPr>
          <p:cNvCxnSpPr>
            <a:stCxn xmlns:a="http://schemas.openxmlformats.org/drawingml/2006/main" id="12" idx="0"/>
            <a:endCxn xmlns:a="http://schemas.openxmlformats.org/drawingml/2006/main" id="10" idx="2"/>
          </p:cNvCxnSpPr>
          <p:nvPr/>
        </p:nvCxnSpPr>
        <p:spPr>
          <a:xfrm xmlns:a="http://schemas.openxmlformats.org/drawingml/2006/main" flipV="1">
            <a:off x="6096000" y="4619625"/>
            <a:ext cx="0" cy="781050"/>
          </a:xfrm>
          <a:prstGeom xmlns:a="http://schemas.openxmlformats.org/drawingml/2006/main" prst="straightConnector1">
            <a:avLst/>
          </a:prstGeom>
          <a:ln xmlns:a="http://schemas.openxmlformats.org/drawingml/2006/main" w="19050">
            <a:solidFill>
              <a:srgbClr val="D6AA6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E98983BE-9FDB-4FA1-8B4E-5B24D783EA7B}"/>
              </a:ext>
            </a:extLst>
          </p:cNvPr>
          <p:cNvCxnSpPr>
            <a:stCxn xmlns:a="http://schemas.openxmlformats.org/drawingml/2006/main" id="6" idx="2"/>
            <a:endCxn xmlns:a="http://schemas.openxmlformats.org/drawingml/2006/main" id="10" idx="0"/>
          </p:cNvCxnSpPr>
          <p:nvPr/>
        </p:nvCxnSpPr>
        <p:spPr>
          <a:xfrm xmlns:a="http://schemas.openxmlformats.org/drawingml/2006/main">
            <a:off x="6096000" y="2686050"/>
            <a:ext cx="0" cy="98107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0A3533D1-D1F9-4EAC-A82E-D65F3C45F6ED}"/>
              </a:ext>
            </a:extLst>
          </p:cNvPr>
          <p:cNvCxnSpPr>
            <a:stCxn xmlns:a="http://schemas.openxmlformats.org/drawingml/2006/main" id="12" idx="0"/>
            <a:endCxn xmlns:a="http://schemas.openxmlformats.org/drawingml/2006/main" id="9" idx="2"/>
          </p:cNvCxnSpPr>
          <p:nvPr/>
        </p:nvCxnSpPr>
        <p:spPr>
          <a:xfrm xmlns:a="http://schemas.openxmlformats.org/drawingml/2006/main" flipH="1" flipV="1">
            <a:off x="2238375" y="4619625"/>
            <a:ext cx="3857625" cy="781050"/>
          </a:xfrm>
          <a:prstGeom xmlns:a="http://schemas.openxmlformats.org/drawingml/2006/main" prst="bentConnector4">
            <a:avLst>
              <a:gd name="adj1" fmla="val 0"/>
              <a:gd name="adj2" fmla="val 50000"/>
            </a:avLst>
          </a:prstGeom>
          <a:ln xmlns:a="http://schemas.openxmlformats.org/drawingml/2006/main" w="19050">
            <a:solidFill>
              <a:srgbClr val="D6AA6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29906CF2-54E6-44D2-8D20-1D55D789A492}"/>
              </a:ext>
            </a:extLst>
          </p:cNvPr>
          <p:cNvCxnSpPr>
            <a:stCxn xmlns:a="http://schemas.openxmlformats.org/drawingml/2006/main" id="6" idx="2"/>
            <a:endCxn xmlns:a="http://schemas.openxmlformats.org/drawingml/2006/main" id="9" idx="0"/>
          </p:cNvCxnSpPr>
          <p:nvPr/>
        </p:nvCxnSpPr>
        <p:spPr>
          <a:xfrm xmlns:a="http://schemas.openxmlformats.org/drawingml/2006/main" flipH="1">
            <a:off x="2238375" y="2686050"/>
            <a:ext cx="3857625" cy="981075"/>
          </a:xfrm>
          <a:prstGeom xmlns:a="http://schemas.openxmlformats.org/drawingml/2006/main" prst="bentConnector4">
            <a:avLst>
              <a:gd name="adj1" fmla="val 0"/>
              <a:gd name="adj2" fmla="val 50000"/>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DEA35F2B-1FE0-4E43-913D-5208702EFFFC}"/>
              </a:ext>
            </a:extLst>
          </p:cNvPr>
          <p:cNvCxnSpPr>
            <a:stCxn xmlns:a="http://schemas.openxmlformats.org/drawingml/2006/main" id="6" idx="3"/>
            <a:endCxn xmlns:a="http://schemas.openxmlformats.org/drawingml/2006/main" id="8" idx="1"/>
          </p:cNvCxnSpPr>
          <p:nvPr/>
        </p:nvCxnSpPr>
        <p:spPr>
          <a:xfrm xmlns:a="http://schemas.openxmlformats.org/drawingml/2006/main">
            <a:off x="742950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cxnSp>
        <p:nvCxnSpPr>
          <p:cNvPr id="14" name="">
            <a:extLst xmlns:a="http://schemas.openxmlformats.org/drawingml/2006/main">
              <a:ext uri="{FF2B5EF4-FFF2-40B4-BE49-F238E27FC236}">
                <a16:creationId xmlns:a16="http://schemas.microsoft.com/office/drawing/2014/main" id="{2265ACB6-6860-4C81-BBDC-D169CBB2F2A0}"/>
              </a:ext>
            </a:extLst>
          </p:cNvPr>
          <p:cNvCxnSpPr>
            <a:stCxn xmlns:a="http://schemas.openxmlformats.org/drawingml/2006/main" id="6" idx="1"/>
            <a:endCxn xmlns:a="http://schemas.openxmlformats.org/drawingml/2006/main" id="7" idx="3"/>
          </p:cNvCxnSpPr>
          <p:nvPr/>
        </p:nvCxnSpPr>
        <p:spPr>
          <a:xfrm xmlns:a="http://schemas.openxmlformats.org/drawingml/2006/main" flipH="1">
            <a:off x="3333750" y="2252663"/>
            <a:ext cx="1428750" cy="0"/>
          </a:xfrm>
          <a:prstGeom xmlns:a="http://schemas.openxmlformats.org/drawingml/2006/main" prst="straightConnector1">
            <a:avLst/>
          </a:prstGeom>
          <a:ln xmlns:a="http://schemas.openxmlformats.org/drawingml/2006/main" w="19050">
            <a:solidFill>
              <a:srgbClr val="297E7C"/>
            </a:solidFill>
            <a:prstDash val="solid"/>
            <a:tailEnd type="none" w="med" len="med"/>
          </a:ln>
        </p:spPr>
      </p:cxnSp>
      <p:sp>
        <p:nvSpPr>
          <p:cNvPr id="23" name="04   PHÂN TÍCH THIẾT KẾ">
            <a:extLst xmlns:a="http://schemas.openxmlformats.org/drawingml/2006/main">
              <a:ext uri="{FF2B5EF4-FFF2-40B4-BE49-F238E27FC236}">
                <a16:creationId xmlns:a16="http://schemas.microsoft.com/office/drawing/2014/main" id="{C736345B-EA01-4A1B-A9F4-A26150B821BB}"/>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Mô hình dữ liệu runtime">
            <a:extLst xmlns:a="http://schemas.openxmlformats.org/drawingml/2006/main">
              <a:ext uri="{FF2B5EF4-FFF2-40B4-BE49-F238E27FC236}">
                <a16:creationId xmlns:a16="http://schemas.microsoft.com/office/drawing/2014/main" id="{2331A69F-6E8D-4E75-A58F-E9D3D9C07327}"/>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Mô hình dữ liệu runtime</a:t>
            </a:r>
          </a:p>
        </p:txBody>
      </p:sp>
      <p:sp>
        <p:nvSpPr>
          <p:cNvPr id="3" name="">
            <a:extLst xmlns:a="http://schemas.openxmlformats.org/drawingml/2006/main">
              <a:ext uri="{FF2B5EF4-FFF2-40B4-BE49-F238E27FC236}">
                <a16:creationId xmlns:a16="http://schemas.microsoft.com/office/drawing/2014/main" id="{2F0CAE37-83BA-4A0E-8DA7-F94C5631042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4653DFC7-15DF-4E8E-844B-034400EFAA8A}"/>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1">
            <a:extLst xmlns:a="http://schemas.openxmlformats.org/drawingml/2006/main">
              <a:ext uri="{FF2B5EF4-FFF2-40B4-BE49-F238E27FC236}">
                <a16:creationId xmlns:a16="http://schemas.microsoft.com/office/drawing/2014/main" id="{DEC44F20-7DCB-4AF4-ACB8-AA5402E742A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11</a:t>
            </a:r>
          </a:p>
        </p:txBody>
      </p:sp>
      <p:sp>
        <p:nvSpPr>
          <p:cNvPr id="6" name="app_users PK user_id">
            <a:extLst xmlns:a="http://schemas.openxmlformats.org/drawingml/2006/main">
              <a:ext uri="{FF2B5EF4-FFF2-40B4-BE49-F238E27FC236}">
                <a16:creationId xmlns:a16="http://schemas.microsoft.com/office/drawing/2014/main" id="{385414A1-E44F-417E-BBCF-E6D9F571E331}"/>
              </a:ext>
            </a:extLst>
          </p:cNvPr>
          <p:cNvSpPr>
            <a:spLocks xmlns:a="http://schemas.openxmlformats.org/drawingml/2006/main" noGrp="1"/>
          </p:cNvSpPr>
          <p:nvPr/>
        </p:nvSpPr>
        <p:spPr>
          <a:xfrm xmlns:a="http://schemas.openxmlformats.org/drawingml/2006/main">
            <a:off x="4762500" y="1819275"/>
            <a:ext cx="2667000" cy="86677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app_users</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PK user_id</a:t>
            </a:r>
          </a:p>
        </p:txBody>
      </p:sp>
      <p:sp>
        <p:nvSpPr>
          <p:cNvPr id="7" name="sessions FK user_id">
            <a:extLst xmlns:a="http://schemas.openxmlformats.org/drawingml/2006/main">
              <a:ext uri="{FF2B5EF4-FFF2-40B4-BE49-F238E27FC236}">
                <a16:creationId xmlns:a16="http://schemas.microsoft.com/office/drawing/2014/main" id="{BB8B073D-34EA-4E12-A511-C3B08A9FB21E}"/>
              </a:ext>
            </a:extLst>
          </p:cNvPr>
          <p:cNvSpPr>
            <a:spLocks xmlns:a="http://schemas.openxmlformats.org/drawingml/2006/main" noGrp="1"/>
          </p:cNvSpPr>
          <p:nvPr/>
        </p:nvSpPr>
        <p:spPr>
          <a:xfrm xmlns:a="http://schemas.openxmlformats.org/drawingml/2006/main">
            <a:off x="6667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72D3D"/>
                </a:solidFill>
                <a:latin typeface="Arial"/>
                <a:ea typeface="Arial"/>
                <a:cs typeface="Arial"/>
              </a:defRPr>
            </a:defPPr>
            <a:lvl1pPr algn="ctr">
              <a:defRPr sz="1800" b="0">
                <a:solidFill>
                  <a:srgbClr val="172D3D"/>
                </a:solidFill>
                <a:latin typeface="Arial"/>
                <a:ea typeface="Arial"/>
                <a:cs typeface="Arial"/>
              </a:defRPr>
            </a:lvl1pPr>
            <a:lvl2pPr algn="ctr">
              <a:defRPr sz="1800" b="0">
                <a:solidFill>
                  <a:srgbClr val="172D3D"/>
                </a:solidFill>
                <a:latin typeface="Arial"/>
                <a:ea typeface="Arial"/>
                <a:cs typeface="Arial"/>
              </a:defRPr>
            </a:lvl2pPr>
            <a:lvl3pPr algn="ctr">
              <a:defRPr sz="1800" b="0">
                <a:solidFill>
                  <a:srgbClr val="172D3D"/>
                </a:solidFill>
                <a:latin typeface="Arial"/>
                <a:ea typeface="Arial"/>
                <a:cs typeface="Arial"/>
              </a:defRPr>
            </a:lvl3pPr>
            <a:lvl4pPr algn="ctr">
              <a:defRPr sz="1800" b="0">
                <a:solidFill>
                  <a:srgbClr val="172D3D"/>
                </a:solidFill>
                <a:latin typeface="Arial"/>
                <a:ea typeface="Arial"/>
                <a:cs typeface="Arial"/>
              </a:defRPr>
            </a:lvl4pPr>
            <a:lvl5pPr algn="ctr">
              <a:defRPr sz="1800" b="0">
                <a:solidFill>
                  <a:srgbClr val="172D3D"/>
                </a:solidFill>
                <a:latin typeface="Arial"/>
                <a:ea typeface="Arial"/>
                <a:cs typeface="Arial"/>
              </a:defRPr>
            </a:lvl5pPr>
            <a:lvl6pPr algn="ctr">
              <a:defRPr sz="1800" b="0">
                <a:solidFill>
                  <a:srgbClr val="172D3D"/>
                </a:solidFill>
                <a:latin typeface="Arial"/>
                <a:ea typeface="Arial"/>
                <a:cs typeface="Arial"/>
              </a:defRPr>
            </a:lvl6pPr>
            <a:lvl7pPr algn="ctr">
              <a:defRPr sz="1800" b="0">
                <a:solidFill>
                  <a:srgbClr val="172D3D"/>
                </a:solidFill>
                <a:latin typeface="Arial"/>
                <a:ea typeface="Arial"/>
                <a:cs typeface="Arial"/>
              </a:defRPr>
            </a:lvl7pPr>
            <a:lvl8pPr algn="ctr">
              <a:defRPr sz="1800" b="0">
                <a:solidFill>
                  <a:srgbClr val="172D3D"/>
                </a:solidFill>
                <a:latin typeface="Arial"/>
                <a:ea typeface="Arial"/>
                <a:cs typeface="Arial"/>
              </a:defRPr>
            </a:lvl8pPr>
            <a:lvl9pPr algn="ctr">
              <a:defRPr sz="1800" b="0">
                <a:solidFill>
                  <a:srgbClr val="172D3D"/>
                </a:solidFill>
                <a:latin typeface="Arial"/>
                <a:ea typeface="Arial"/>
                <a:cs typeface="Arial"/>
              </a:defRPr>
            </a:lvl9pPr>
          </a:lstStyle>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sessions</a:t>
            </a:r>
          </a:p>
          <a:p xmlns:a="http://schemas.openxmlformats.org/drawingml/2006/main">
            <a:pPr algn="ctr">
              <a:defRPr sz="1800" b="0">
                <a:solidFill>
                  <a:srgbClr val="172D3D"/>
                </a:solidFill>
                <a:latin typeface="Arial"/>
                <a:ea typeface="Arial"/>
                <a:cs typeface="Arial"/>
              </a:defRPr>
            </a:pPr>
            <a:r>
              <a:rPr sz="1800" b="0">
                <a:solidFill>
                  <a:srgbClr val="172D3D"/>
                </a:solidFill>
                <a:latin typeface="Arial"/>
                <a:ea typeface="Arial"/>
                <a:cs typeface="Arial"/>
              </a:rPr>
              <a:t>FK user_id</a:t>
            </a:r>
          </a:p>
        </p:txBody>
      </p:sp>
      <p:sp>
        <p:nvSpPr>
          <p:cNvPr id="8" name="idempotency_keys FK user_id">
            <a:extLst xmlns:a="http://schemas.openxmlformats.org/drawingml/2006/main">
              <a:ext uri="{FF2B5EF4-FFF2-40B4-BE49-F238E27FC236}">
                <a16:creationId xmlns:a16="http://schemas.microsoft.com/office/drawing/2014/main" id="{973218CD-C8CC-4795-BC3E-F71B3758BAA1}"/>
              </a:ext>
            </a:extLst>
          </p:cNvPr>
          <p:cNvSpPr>
            <a:spLocks xmlns:a="http://schemas.openxmlformats.org/drawingml/2006/main" noGrp="1"/>
          </p:cNvSpPr>
          <p:nvPr/>
        </p:nvSpPr>
        <p:spPr>
          <a:xfrm xmlns:a="http://schemas.openxmlformats.org/drawingml/2006/main">
            <a:off x="8858250" y="1819275"/>
            <a:ext cx="2667000" cy="866775"/>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idempotency_keys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FK user_id</a:t>
            </a:r>
          </a:p>
        </p:txBody>
      </p:sp>
      <p:sp>
        <p:nvSpPr>
          <p:cNvPr id="9" name="feedback PK / FK user_id, movie_id">
            <a:extLst xmlns:a="http://schemas.openxmlformats.org/drawingml/2006/main">
              <a:ext uri="{FF2B5EF4-FFF2-40B4-BE49-F238E27FC236}">
                <a16:creationId xmlns:a16="http://schemas.microsoft.com/office/drawing/2014/main" id="{A126D3D2-CD04-4DF2-9613-7E249E13071F}"/>
              </a:ext>
            </a:extLst>
          </p:cNvPr>
          <p:cNvSpPr>
            <a:spLocks xmlns:a="http://schemas.openxmlformats.org/drawingml/2006/main" noGrp="1"/>
          </p:cNvSpPr>
          <p:nvPr/>
        </p:nvSpPr>
        <p:spPr>
          <a:xfrm xmlns:a="http://schemas.openxmlformats.org/drawingml/2006/main">
            <a:off x="66675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feedback</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0" name="favorites PK / FK user_id, movie_id">
            <a:extLst xmlns:a="http://schemas.openxmlformats.org/drawingml/2006/main">
              <a:ext uri="{FF2B5EF4-FFF2-40B4-BE49-F238E27FC236}">
                <a16:creationId xmlns:a16="http://schemas.microsoft.com/office/drawing/2014/main" id="{B79A25CC-1E85-4F02-A3C7-EB00865C44C5}"/>
              </a:ext>
            </a:extLst>
          </p:cNvPr>
          <p:cNvSpPr>
            <a:spLocks xmlns:a="http://schemas.openxmlformats.org/drawingml/2006/main" noGrp="1"/>
          </p:cNvSpPr>
          <p:nvPr/>
        </p:nvSpPr>
        <p:spPr>
          <a:xfrm xmlns:a="http://schemas.openxmlformats.org/drawingml/2006/main">
            <a:off x="4524375"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favorites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1" name="watch_progress PK / FK user_id, movie_id">
            <a:extLst xmlns:a="http://schemas.openxmlformats.org/drawingml/2006/main">
              <a:ext uri="{FF2B5EF4-FFF2-40B4-BE49-F238E27FC236}">
                <a16:creationId xmlns:a16="http://schemas.microsoft.com/office/drawing/2014/main" id="{007FBE64-0CB9-4178-8A45-BFA423886CD4}"/>
              </a:ext>
            </a:extLst>
          </p:cNvPr>
          <p:cNvSpPr>
            <a:spLocks xmlns:a="http://schemas.openxmlformats.org/drawingml/2006/main" noGrp="1"/>
          </p:cNvSpPr>
          <p:nvPr/>
        </p:nvSpPr>
        <p:spPr>
          <a:xfrm xmlns:a="http://schemas.openxmlformats.org/drawingml/2006/main">
            <a:off x="8382000" y="3667125"/>
            <a:ext cx="3143250" cy="952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watch_progress</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PK / FK user_id, movie_id</a:t>
            </a:r>
          </a:p>
        </p:txBody>
      </p:sp>
      <p:sp>
        <p:nvSpPr>
          <p:cNvPr id="12" name="movies PK movie_id">
            <a:extLst xmlns:a="http://schemas.openxmlformats.org/drawingml/2006/main">
              <a:ext uri="{FF2B5EF4-FFF2-40B4-BE49-F238E27FC236}">
                <a16:creationId xmlns:a16="http://schemas.microsoft.com/office/drawing/2014/main" id="{5477B306-DDBE-439D-9662-07B2DE6986B1}"/>
              </a:ext>
            </a:extLst>
          </p:cNvPr>
          <p:cNvSpPr>
            <a:spLocks xmlns:a="http://schemas.openxmlformats.org/drawingml/2006/main" noGrp="1"/>
          </p:cNvSpPr>
          <p:nvPr/>
        </p:nvSpPr>
        <p:spPr>
          <a:xfrm xmlns:a="http://schemas.openxmlformats.org/drawingml/2006/main">
            <a:off x="4762500" y="5400675"/>
            <a:ext cx="2667000" cy="771525"/>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FFFFFF"/>
                </a:solidFill>
                <a:latin typeface="Arial"/>
                <a:ea typeface="Arial"/>
                <a:cs typeface="Arial"/>
              </a:defRPr>
            </a:defPPr>
            <a:lvl1pPr algn="ctr">
              <a:defRPr sz="1800" b="0">
                <a:solidFill>
                  <a:srgbClr val="FFFFFF"/>
                </a:solidFill>
                <a:latin typeface="Arial"/>
                <a:ea typeface="Arial"/>
                <a:cs typeface="Arial"/>
              </a:defRPr>
            </a:lvl1pPr>
            <a:lvl2pPr algn="ctr">
              <a:defRPr sz="1800" b="0">
                <a:solidFill>
                  <a:srgbClr val="FFFFFF"/>
                </a:solidFill>
                <a:latin typeface="Arial"/>
                <a:ea typeface="Arial"/>
                <a:cs typeface="Arial"/>
              </a:defRPr>
            </a:lvl2pPr>
            <a:lvl3pPr algn="ctr">
              <a:defRPr sz="1800" b="0">
                <a:solidFill>
                  <a:srgbClr val="FFFFFF"/>
                </a:solidFill>
                <a:latin typeface="Arial"/>
                <a:ea typeface="Arial"/>
                <a:cs typeface="Arial"/>
              </a:defRPr>
            </a:lvl3pPr>
            <a:lvl4pPr algn="ctr">
              <a:defRPr sz="1800" b="0">
                <a:solidFill>
                  <a:srgbClr val="FFFFFF"/>
                </a:solidFill>
                <a:latin typeface="Arial"/>
                <a:ea typeface="Arial"/>
                <a:cs typeface="Arial"/>
              </a:defRPr>
            </a:lvl4pPr>
            <a:lvl5pPr algn="ctr">
              <a:defRPr sz="1800" b="0">
                <a:solidFill>
                  <a:srgbClr val="FFFFFF"/>
                </a:solidFill>
                <a:latin typeface="Arial"/>
                <a:ea typeface="Arial"/>
                <a:cs typeface="Arial"/>
              </a:defRPr>
            </a:lvl5pPr>
            <a:lvl6pPr algn="ctr">
              <a:defRPr sz="1800" b="0">
                <a:solidFill>
                  <a:srgbClr val="FFFFFF"/>
                </a:solidFill>
                <a:latin typeface="Arial"/>
                <a:ea typeface="Arial"/>
                <a:cs typeface="Arial"/>
              </a:defRPr>
            </a:lvl6pPr>
            <a:lvl7pPr algn="ctr">
              <a:defRPr sz="1800" b="0">
                <a:solidFill>
                  <a:srgbClr val="FFFFFF"/>
                </a:solidFill>
                <a:latin typeface="Arial"/>
                <a:ea typeface="Arial"/>
                <a:cs typeface="Arial"/>
              </a:defRPr>
            </a:lvl7pPr>
            <a:lvl8pPr algn="ctr">
              <a:defRPr sz="1800" b="0">
                <a:solidFill>
                  <a:srgbClr val="FFFFFF"/>
                </a:solidFill>
                <a:latin typeface="Arial"/>
                <a:ea typeface="Arial"/>
                <a:cs typeface="Arial"/>
              </a:defRPr>
            </a:lvl8pPr>
            <a:lvl9pPr algn="ctr">
              <a:defRPr sz="1800" b="0">
                <a:solidFill>
                  <a:srgbClr val="FFFFFF"/>
                </a:solidFill>
                <a:latin typeface="Arial"/>
                <a:ea typeface="Arial"/>
                <a:cs typeface="Arial"/>
              </a:defRPr>
            </a:lvl9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movies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PK movie_id</a:t>
            </a:r>
          </a:p>
        </p:txBody>
      </p:sp>
      <p:sp>
        <p:nvSpPr>
          <p:cNvPr id="13" name="schema_version Đánh dấu migration">
            <a:extLst xmlns:a="http://schemas.openxmlformats.org/drawingml/2006/main">
              <a:ext uri="{FF2B5EF4-FFF2-40B4-BE49-F238E27FC236}">
                <a16:creationId xmlns:a16="http://schemas.microsoft.com/office/drawing/2014/main" id="{2465F38E-CBCA-42B9-B52D-16EC79CFD731}"/>
              </a:ext>
            </a:extLst>
          </p:cNvPr>
          <p:cNvSpPr>
            <a:spLocks xmlns:a="http://schemas.openxmlformats.org/drawingml/2006/main" noGrp="1"/>
          </p:cNvSpPr>
          <p:nvPr/>
        </p:nvSpPr>
        <p:spPr>
          <a:xfrm xmlns:a="http://schemas.openxmlformats.org/drawingml/2006/main">
            <a:off x="666750" y="5400675"/>
            <a:ext cx="3143250" cy="771525"/>
          </a:xfrm>
          <a:prstGeom xmlns:a="http://schemas.openxmlformats.org/drawingml/2006/main" prst="rect">
            <a:avLst/>
          </a:prstGeom>
          <a:solidFill xmlns:a="http://schemas.openxmlformats.org/drawingml/2006/main">
            <a:srgbClr val="F5F1E9"/>
          </a:solidFill>
          <a:ln xmlns:a="http://schemas.openxmlformats.org/drawingml/2006/main" w="14288">
            <a:solidFill>
              <a:srgbClr val="C9C9BD"/>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72D3D"/>
                </a:solidFill>
                <a:latin typeface="Arial"/>
                <a:ea typeface="Arial"/>
                <a:cs typeface="Arial"/>
              </a:defRPr>
            </a:defPPr>
            <a:lvl1pPr algn="ctr">
              <a:defRPr sz="1725" b="0">
                <a:solidFill>
                  <a:srgbClr val="172D3D"/>
                </a:solidFill>
                <a:latin typeface="Arial"/>
                <a:ea typeface="Arial"/>
                <a:cs typeface="Arial"/>
              </a:defRPr>
            </a:lvl1pPr>
            <a:lvl2pPr algn="ctr">
              <a:defRPr sz="1725" b="0">
                <a:solidFill>
                  <a:srgbClr val="172D3D"/>
                </a:solidFill>
                <a:latin typeface="Arial"/>
                <a:ea typeface="Arial"/>
                <a:cs typeface="Arial"/>
              </a:defRPr>
            </a:lvl2pPr>
            <a:lvl3pPr algn="ctr">
              <a:defRPr sz="1725" b="0">
                <a:solidFill>
                  <a:srgbClr val="172D3D"/>
                </a:solidFill>
                <a:latin typeface="Arial"/>
                <a:ea typeface="Arial"/>
                <a:cs typeface="Arial"/>
              </a:defRPr>
            </a:lvl3pPr>
            <a:lvl4pPr algn="ctr">
              <a:defRPr sz="1725" b="0">
                <a:solidFill>
                  <a:srgbClr val="172D3D"/>
                </a:solidFill>
                <a:latin typeface="Arial"/>
                <a:ea typeface="Arial"/>
                <a:cs typeface="Arial"/>
              </a:defRPr>
            </a:lvl4pPr>
            <a:lvl5pPr algn="ctr">
              <a:defRPr sz="1725" b="0">
                <a:solidFill>
                  <a:srgbClr val="172D3D"/>
                </a:solidFill>
                <a:latin typeface="Arial"/>
                <a:ea typeface="Arial"/>
                <a:cs typeface="Arial"/>
              </a:defRPr>
            </a:lvl5pPr>
            <a:lvl6pPr algn="ctr">
              <a:defRPr sz="1725" b="0">
                <a:solidFill>
                  <a:srgbClr val="172D3D"/>
                </a:solidFill>
                <a:latin typeface="Arial"/>
                <a:ea typeface="Arial"/>
                <a:cs typeface="Arial"/>
              </a:defRPr>
            </a:lvl6pPr>
            <a:lvl7pPr algn="ctr">
              <a:defRPr sz="1725" b="0">
                <a:solidFill>
                  <a:srgbClr val="172D3D"/>
                </a:solidFill>
                <a:latin typeface="Arial"/>
                <a:ea typeface="Arial"/>
                <a:cs typeface="Arial"/>
              </a:defRPr>
            </a:lvl7pPr>
            <a:lvl8pPr algn="ctr">
              <a:defRPr sz="1725" b="0">
                <a:solidFill>
                  <a:srgbClr val="172D3D"/>
                </a:solidFill>
                <a:latin typeface="Arial"/>
                <a:ea typeface="Arial"/>
                <a:cs typeface="Arial"/>
              </a:defRPr>
            </a:lvl8pPr>
            <a:lvl9pPr algn="ctr">
              <a:defRPr sz="1725" b="0">
                <a:solidFill>
                  <a:srgbClr val="172D3D"/>
                </a:solidFill>
                <a:latin typeface="Arial"/>
                <a:ea typeface="Arial"/>
                <a:cs typeface="Arial"/>
              </a:defRPr>
            </a:lvl9pPr>
          </a:lstStyle>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schema_version</a:t>
            </a:r>
          </a:p>
          <a:p xmlns:a="http://schemas.openxmlformats.org/drawingml/2006/main">
            <a:pPr algn="ctr">
              <a:defRPr sz="1725" b="0">
                <a:solidFill>
                  <a:srgbClr val="172D3D"/>
                </a:solidFill>
                <a:latin typeface="Arial"/>
                <a:ea typeface="Arial"/>
                <a:cs typeface="Arial"/>
              </a:defRPr>
            </a:pPr>
            <a:r>
              <a:rPr sz="1725" b="0">
                <a:solidFill>
                  <a:srgbClr val="172D3D"/>
                </a:solidFill>
                <a:latin typeface="Arial"/>
                <a:ea typeface="Arial"/>
                <a:cs typeface="Arial"/>
              </a:rPr>
              <a:t>Đánh dấu migration</a:t>
            </a:r>
          </a:p>
        </p:txBody>
      </p:sp>
      <p:sp>
        <p:nvSpPr>
          <p:cNvPr id="22" name="Một user hoặc movie có thể có nhiều bản ghi con">
            <a:extLst xmlns:a="http://schemas.openxmlformats.org/drawingml/2006/main">
              <a:ext uri="{FF2B5EF4-FFF2-40B4-BE49-F238E27FC236}">
                <a16:creationId xmlns:a16="http://schemas.microsoft.com/office/drawing/2014/main" id="{23273087-60B3-4FBC-A1F5-F358E0E09FAA}"/>
              </a:ext>
            </a:extLst>
          </p:cNvPr>
          <p:cNvSpPr>
            <a:spLocks xmlns:a="http://schemas.openxmlformats.org/drawingml/2006/main" noGrp="1"/>
          </p:cNvSpPr>
          <p:nvPr/>
        </p:nvSpPr>
        <p:spPr>
          <a:xfrm xmlns:a="http://schemas.openxmlformats.org/drawingml/2006/main">
            <a:off x="7953375" y="5543550"/>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Một user hoặc movie có thể có nhiều bản ghi con</a:t>
            </a:r>
          </a:p>
        </p:txBody>
      </p:sp>
    </p:spTree>
    <p:extLst>
      <p:ext uri="{BB962C8B-B14F-4D97-AF65-F5344CB8AC3E}">
        <p14:creationId xmlns:p14="http://schemas.microsoft.com/office/powerpoint/2010/main" val="1755242013"/>
      </p:ext>
    </p:extLst>
  </p:cSld>
</p:sld>
</file>

<file path=ppt/slides/slide1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F8E0C28F-674E-4817-9FB7-996514E3C8AC}"/>
              </a:ext>
            </a:extLst>
          </p:cNvPr>
          <p:cNvCxnSpPr>
            <a:stCxn xmlns:a="http://schemas.openxmlformats.org/drawingml/2006/main" id="13" idx="3"/>
            <a:endCxn xmlns:a="http://schemas.openxmlformats.org/drawingml/2006/main" id="15" idx="1"/>
          </p:cNvCxnSpPr>
          <p:nvPr/>
        </p:nvCxnSpPr>
        <p:spPr>
          <a:xfrm xmlns:a="http://schemas.openxmlformats.org/drawingml/2006/main">
            <a:off x="96107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95385162-5B97-4E4D-A39A-02284B653A28}"/>
              </a:ext>
            </a:extLst>
          </p:cNvPr>
          <p:cNvCxnSpPr>
            <a:stCxn xmlns:a="http://schemas.openxmlformats.org/drawingml/2006/main" id="11" idx="3"/>
            <a:endCxn xmlns:a="http://schemas.openxmlformats.org/drawingml/2006/main" id="13" idx="1"/>
          </p:cNvCxnSpPr>
          <p:nvPr/>
        </p:nvCxnSpPr>
        <p:spPr>
          <a:xfrm xmlns:a="http://schemas.openxmlformats.org/drawingml/2006/main">
            <a:off x="77628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55B0EB3B-6BA5-404C-876C-4E4035DCD8E3}"/>
              </a:ext>
            </a:extLst>
          </p:cNvPr>
          <p:cNvCxnSpPr>
            <a:stCxn xmlns:a="http://schemas.openxmlformats.org/drawingml/2006/main" id="9" idx="3"/>
            <a:endCxn xmlns:a="http://schemas.openxmlformats.org/drawingml/2006/main" id="11" idx="1"/>
          </p:cNvCxnSpPr>
          <p:nvPr/>
        </p:nvCxnSpPr>
        <p:spPr>
          <a:xfrm xmlns:a="http://schemas.openxmlformats.org/drawingml/2006/main">
            <a:off x="59150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71119D09-07B3-4499-A010-E41EED12C947}"/>
              </a:ext>
            </a:extLst>
          </p:cNvPr>
          <p:cNvCxnSpPr>
            <a:stCxn xmlns:a="http://schemas.openxmlformats.org/drawingml/2006/main" id="7" idx="3"/>
            <a:endCxn xmlns:a="http://schemas.openxmlformats.org/drawingml/2006/main" id="9" idx="1"/>
          </p:cNvCxnSpPr>
          <p:nvPr/>
        </p:nvCxnSpPr>
        <p:spPr>
          <a:xfrm xmlns:a="http://schemas.openxmlformats.org/drawingml/2006/main">
            <a:off x="406717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91E525EB-022B-4CE4-AB16-D9136600693D}"/>
              </a:ext>
            </a:extLst>
          </p:cNvPr>
          <p:cNvCxnSpPr>
            <a:stCxn xmlns:a="http://schemas.openxmlformats.org/drawingml/2006/main" id="6" idx="3"/>
            <a:endCxn xmlns:a="http://schemas.openxmlformats.org/drawingml/2006/main" id="7" idx="1"/>
          </p:cNvCxnSpPr>
          <p:nvPr/>
        </p:nvCxnSpPr>
        <p:spPr>
          <a:xfrm xmlns:a="http://schemas.openxmlformats.org/drawingml/2006/main">
            <a:off x="2219325" y="3019425"/>
            <a:ext cx="24765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1" name="04   PHÂN TÍCH THIẾT KẾ">
            <a:extLst xmlns:a="http://schemas.openxmlformats.org/drawingml/2006/main">
              <a:ext uri="{FF2B5EF4-FFF2-40B4-BE49-F238E27FC236}">
                <a16:creationId xmlns:a16="http://schemas.microsoft.com/office/drawing/2014/main" id="{B581FED6-AB09-4302-AF74-C8ECF29430CB}"/>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Quy trình nghiên cứu có thể tái lập">
            <a:extLst xmlns:a="http://schemas.openxmlformats.org/drawingml/2006/main">
              <a:ext uri="{FF2B5EF4-FFF2-40B4-BE49-F238E27FC236}">
                <a16:creationId xmlns:a16="http://schemas.microsoft.com/office/drawing/2014/main" id="{AA5DD858-15CC-40D1-A5A8-2DC7FFB77E37}"/>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Quy trình nghiên cứu có thể tái lập</a:t>
            </a:r>
          </a:p>
        </p:txBody>
      </p:sp>
      <p:sp>
        <p:nvSpPr>
          <p:cNvPr id="3" name="">
            <a:extLst xmlns:a="http://schemas.openxmlformats.org/drawingml/2006/main">
              <a:ext uri="{FF2B5EF4-FFF2-40B4-BE49-F238E27FC236}">
                <a16:creationId xmlns:a16="http://schemas.microsoft.com/office/drawing/2014/main" id="{94395D1D-DFDE-445F-8FA1-84D8B22609A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43B3C702-B1BF-40DE-8138-0BE7F20D918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2">
            <a:extLst xmlns:a="http://schemas.openxmlformats.org/drawingml/2006/main">
              <a:ext uri="{FF2B5EF4-FFF2-40B4-BE49-F238E27FC236}">
                <a16:creationId xmlns:a16="http://schemas.microsoft.com/office/drawing/2014/main" id="{DEA949F4-1981-4120-9D71-05BC42EA9FCE}"/>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12</a:t>
            </a:r>
          </a:p>
        </p:txBody>
      </p:sp>
      <p:sp>
        <p:nvSpPr>
          <p:cNvPr id="6" name="Audit raw ML-25M">
            <a:extLst xmlns:a="http://schemas.openxmlformats.org/drawingml/2006/main">
              <a:ext uri="{FF2B5EF4-FFF2-40B4-BE49-F238E27FC236}">
                <a16:creationId xmlns:a16="http://schemas.microsoft.com/office/drawing/2014/main" id="{9EB056B2-D125-4DD4-B039-83500C09EAE2}"/>
              </a:ext>
            </a:extLst>
          </p:cNvPr>
          <p:cNvSpPr>
            <a:spLocks xmlns:a="http://schemas.openxmlformats.org/drawingml/2006/main" noGrp="1"/>
          </p:cNvSpPr>
          <p:nvPr/>
        </p:nvSpPr>
        <p:spPr>
          <a:xfrm xmlns:a="http://schemas.openxmlformats.org/drawingml/2006/main">
            <a:off x="6191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Audit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raw ML-25M</a:t>
            </a:r>
          </a:p>
        </p:txBody>
      </p:sp>
      <p:sp>
        <p:nvSpPr>
          <p:cNvPr id="7" name="Chọn user bằng SHA256">
            <a:extLst xmlns:a="http://schemas.openxmlformats.org/drawingml/2006/main">
              <a:ext uri="{FF2B5EF4-FFF2-40B4-BE49-F238E27FC236}">
                <a16:creationId xmlns:a16="http://schemas.microsoft.com/office/drawing/2014/main" id="{A7F69FE2-D987-47A5-A3A0-4C766EBACCDE}"/>
              </a:ext>
            </a:extLst>
          </p:cNvPr>
          <p:cNvSpPr>
            <a:spLocks xmlns:a="http://schemas.openxmlformats.org/drawingml/2006/main" noGrp="1"/>
          </p:cNvSpPr>
          <p:nvPr/>
        </p:nvSpPr>
        <p:spPr>
          <a:xfrm xmlns:a="http://schemas.openxmlformats.org/drawingml/2006/main">
            <a:off x="24669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Chọn user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bằng SHA256</a:t>
            </a:r>
          </a:p>
        </p:txBody>
      </p:sp>
      <p:sp>
        <p:nvSpPr>
          <p:cNvPr id="9" name="Snapshot và split">
            <a:extLst xmlns:a="http://schemas.openxmlformats.org/drawingml/2006/main">
              <a:ext uri="{FF2B5EF4-FFF2-40B4-BE49-F238E27FC236}">
                <a16:creationId xmlns:a16="http://schemas.microsoft.com/office/drawing/2014/main" id="{0364E89D-FDB1-4908-B2EE-04A48BEECB59}"/>
              </a:ext>
            </a:extLst>
          </p:cNvPr>
          <p:cNvSpPr>
            <a:spLocks xmlns:a="http://schemas.openxmlformats.org/drawingml/2006/main" noGrp="1"/>
          </p:cNvSpPr>
          <p:nvPr/>
        </p:nvSpPr>
        <p:spPr>
          <a:xfrm xmlns:a="http://schemas.openxmlformats.org/drawingml/2006/main">
            <a:off x="431482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Snapshot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split</a:t>
            </a:r>
          </a:p>
        </p:txBody>
      </p:sp>
      <p:sp>
        <p:nvSpPr>
          <p:cNvPr id="11" name="Fit TRAIN các model">
            <a:extLst xmlns:a="http://schemas.openxmlformats.org/drawingml/2006/main">
              <a:ext uri="{FF2B5EF4-FFF2-40B4-BE49-F238E27FC236}">
                <a16:creationId xmlns:a16="http://schemas.microsoft.com/office/drawing/2014/main" id="{867396AB-52B0-42F0-BC86-17CF8BD2FBF4}"/>
              </a:ext>
            </a:extLst>
          </p:cNvPr>
          <p:cNvSpPr>
            <a:spLocks xmlns:a="http://schemas.openxmlformats.org/drawingml/2006/main" noGrp="1"/>
          </p:cNvSpPr>
          <p:nvPr/>
        </p:nvSpPr>
        <p:spPr>
          <a:xfrm xmlns:a="http://schemas.openxmlformats.org/drawingml/2006/main">
            <a:off x="61626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Fit TRAIN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các model</a:t>
            </a:r>
          </a:p>
        </p:txBody>
      </p:sp>
      <p:sp>
        <p:nvSpPr>
          <p:cNvPr id="13" name="Chọn VAL khóa selection">
            <a:extLst xmlns:a="http://schemas.openxmlformats.org/drawingml/2006/main">
              <a:ext uri="{FF2B5EF4-FFF2-40B4-BE49-F238E27FC236}">
                <a16:creationId xmlns:a16="http://schemas.microsoft.com/office/drawing/2014/main" id="{37349584-23D6-4F5B-AF74-6A02CD01A243}"/>
              </a:ext>
            </a:extLst>
          </p:cNvPr>
          <p:cNvSpPr>
            <a:spLocks xmlns:a="http://schemas.openxmlformats.org/drawingml/2006/main" noGrp="1"/>
          </p:cNvSpPr>
          <p:nvPr/>
        </p:nvSpPr>
        <p:spPr>
          <a:xfrm xmlns:a="http://schemas.openxmlformats.org/drawingml/2006/main">
            <a:off x="8010525" y="2352675"/>
            <a:ext cx="1600200" cy="133350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Chọn VAL</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khóa selection</a:t>
            </a:r>
          </a:p>
        </p:txBody>
      </p:sp>
      <p:sp>
        <p:nvSpPr>
          <p:cNvPr id="15" name="Refit và chấm TEST">
            <a:extLst xmlns:a="http://schemas.openxmlformats.org/drawingml/2006/main">
              <a:ext uri="{FF2B5EF4-FFF2-40B4-BE49-F238E27FC236}">
                <a16:creationId xmlns:a16="http://schemas.microsoft.com/office/drawing/2014/main" id="{DFC44356-8831-441F-BB4F-39838A3CEF89}"/>
              </a:ext>
            </a:extLst>
          </p:cNvPr>
          <p:cNvSpPr>
            <a:spLocks xmlns:a="http://schemas.openxmlformats.org/drawingml/2006/main" noGrp="1"/>
          </p:cNvSpPr>
          <p:nvPr/>
        </p:nvSpPr>
        <p:spPr>
          <a:xfrm xmlns:a="http://schemas.openxmlformats.org/drawingml/2006/main">
            <a:off x="9858375" y="2352675"/>
            <a:ext cx="1600200" cy="133350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Refit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chấm TEST</a:t>
            </a:r>
          </a:p>
        </p:txBody>
      </p:sp>
      <p:sp>
        <p:nvSpPr>
          <p:cNvPr id="17" name="Cùng tập ứng viên và user đánh giá">
            <a:extLst xmlns:a="http://schemas.openxmlformats.org/drawingml/2006/main">
              <a:ext uri="{FF2B5EF4-FFF2-40B4-BE49-F238E27FC236}">
                <a16:creationId xmlns:a16="http://schemas.microsoft.com/office/drawing/2014/main" id="{E81AFBDB-DC92-4E7E-9459-C86A12461B06}"/>
              </a:ext>
            </a:extLst>
          </p:cNvPr>
          <p:cNvSpPr>
            <a:spLocks xmlns:a="http://schemas.openxmlformats.org/drawingml/2006/main" noGrp="1"/>
          </p:cNvSpPr>
          <p:nvPr/>
        </p:nvSpPr>
        <p:spPr>
          <a:xfrm xmlns:a="http://schemas.openxmlformats.org/drawingml/2006/main">
            <a:off x="666750" y="43624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Cùng tập ứng viên và user đánh giá</a:t>
            </a:r>
          </a:p>
        </p:txBody>
      </p:sp>
      <p:sp>
        <p:nvSpPr>
          <p:cNvPr id="18" name="Baseline và hybrid cùng protocol.&#10;Mô hình thất bại vẫn xuất hiện ">
            <a:extLst xmlns:a="http://schemas.openxmlformats.org/drawingml/2006/main">
              <a:ext uri="{FF2B5EF4-FFF2-40B4-BE49-F238E27FC236}">
                <a16:creationId xmlns:a16="http://schemas.microsoft.com/office/drawing/2014/main" id="{B62FE752-3112-491D-831A-D5E226D081BD}"/>
              </a:ext>
            </a:extLst>
          </p:cNvPr>
          <p:cNvSpPr>
            <a:spLocks xmlns:a="http://schemas.openxmlformats.org/drawingml/2006/main" noGrp="1"/>
          </p:cNvSpPr>
          <p:nvPr/>
        </p:nvSpPr>
        <p:spPr>
          <a:xfrm xmlns:a="http://schemas.openxmlformats.org/drawingml/2006/main">
            <a:off x="666750" y="5095875"/>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Baseline và hybrid cùng protocol.</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Mô hình thất bại vẫn xuất hiện trong hồ sơ.</a:t>
            </a:r>
          </a:p>
        </p:txBody>
      </p:sp>
      <p:sp>
        <p:nvSpPr>
          <p:cNvPr id="19" name="Artifact bất biến">
            <a:extLst xmlns:a="http://schemas.openxmlformats.org/drawingml/2006/main">
              <a:ext uri="{FF2B5EF4-FFF2-40B4-BE49-F238E27FC236}">
                <a16:creationId xmlns:a16="http://schemas.microsoft.com/office/drawing/2014/main" id="{AEE8819F-E374-41A3-B1BA-821F2C684AA2}"/>
              </a:ext>
            </a:extLst>
          </p:cNvPr>
          <p:cNvSpPr>
            <a:spLocks xmlns:a="http://schemas.openxmlformats.org/drawingml/2006/main" noGrp="1"/>
          </p:cNvSpPr>
          <p:nvPr/>
        </p:nvSpPr>
        <p:spPr>
          <a:xfrm xmlns:a="http://schemas.openxmlformats.org/drawingml/2006/main">
            <a:off x="6810375" y="4362450"/>
            <a:ext cx="461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Artifact bất biến</a:t>
            </a:r>
          </a:p>
        </p:txBody>
      </p:sp>
      <p:sp>
        <p:nvSpPr>
          <p:cNvPr id="20" name="Manifest, checksum, source_code.zip&#10;và metric theo từng user">
            <a:extLst xmlns:a="http://schemas.openxmlformats.org/drawingml/2006/main">
              <a:ext uri="{FF2B5EF4-FFF2-40B4-BE49-F238E27FC236}">
                <a16:creationId xmlns:a16="http://schemas.microsoft.com/office/drawing/2014/main" id="{9507029F-9672-451A-B611-D79D9CBD0D4F}"/>
              </a:ext>
            </a:extLst>
          </p:cNvPr>
          <p:cNvSpPr>
            <a:spLocks xmlns:a="http://schemas.openxmlformats.org/drawingml/2006/main" noGrp="1"/>
          </p:cNvSpPr>
          <p:nvPr/>
        </p:nvSpPr>
        <p:spPr>
          <a:xfrm xmlns:a="http://schemas.openxmlformats.org/drawingml/2006/main">
            <a:off x="6810375" y="5095875"/>
            <a:ext cx="461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Manifest, checksum, source_code.zip</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và metric theo từng user</a:t>
            </a:r>
          </a:p>
        </p:txBody>
      </p:sp>
    </p:spTree>
    <p:extLst>
      <p:ext uri="{BB962C8B-B14F-4D97-AF65-F5344CB8AC3E}">
        <p14:creationId xmlns:p14="http://schemas.microsoft.com/office/powerpoint/2010/main" val="90365630"/>
      </p:ext>
    </p:extLst>
  </p:cSld>
</p:sld>
</file>

<file path=ppt/slides/slide1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6DDD4EB-7234-4DE4-834E-E8AAF7CF04ED}"/>
              </a:ext>
            </a:extLst>
          </p:cNvPr>
          <p:cNvCxnSpPr>
            <a:stCxn xmlns:a="http://schemas.openxmlformats.org/drawingml/2006/main" id="11" idx="3"/>
            <a:endCxn xmlns:a="http://schemas.openxmlformats.org/drawingml/2006/main" id="13" idx="1"/>
          </p:cNvCxnSpPr>
          <p:nvPr/>
        </p:nvCxnSpPr>
        <p:spPr>
          <a:xfrm xmlns:a="http://schemas.openxmlformats.org/drawingml/2006/main">
            <a:off x="93154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F08102AA-BC05-41D6-97C3-B939D5335C55}"/>
              </a:ext>
            </a:extLst>
          </p:cNvPr>
          <p:cNvCxnSpPr>
            <a:stCxn xmlns:a="http://schemas.openxmlformats.org/drawingml/2006/main" id="9" idx="3"/>
            <a:endCxn xmlns:a="http://schemas.openxmlformats.org/drawingml/2006/main" id="11" idx="1"/>
          </p:cNvCxnSpPr>
          <p:nvPr/>
        </p:nvCxnSpPr>
        <p:spPr>
          <a:xfrm xmlns:a="http://schemas.openxmlformats.org/drawingml/2006/main">
            <a:off x="70866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8553329A-DFC8-48F9-A0CC-0ED1418AD0C5}"/>
              </a:ext>
            </a:extLst>
          </p:cNvPr>
          <p:cNvCxnSpPr>
            <a:stCxn xmlns:a="http://schemas.openxmlformats.org/drawingml/2006/main" id="7" idx="3"/>
            <a:endCxn xmlns:a="http://schemas.openxmlformats.org/drawingml/2006/main" id="9" idx="1"/>
          </p:cNvCxnSpPr>
          <p:nvPr/>
        </p:nvCxnSpPr>
        <p:spPr>
          <a:xfrm xmlns:a="http://schemas.openxmlformats.org/drawingml/2006/main">
            <a:off x="485775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21866C31-4B19-4BA8-94B1-EB5E97F2BA40}"/>
              </a:ext>
            </a:extLst>
          </p:cNvPr>
          <p:cNvCxnSpPr>
            <a:stCxn xmlns:a="http://schemas.openxmlformats.org/drawingml/2006/main" id="6" idx="3"/>
            <a:endCxn xmlns:a="http://schemas.openxmlformats.org/drawingml/2006/main" id="7" idx="1"/>
          </p:cNvCxnSpPr>
          <p:nvPr/>
        </p:nvCxnSpPr>
        <p:spPr>
          <a:xfrm xmlns:a="http://schemas.openxmlformats.org/drawingml/2006/main">
            <a:off x="2628900" y="2724150"/>
            <a:ext cx="266700"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19" name="04   PHÂN TÍCH THIẾT KẾ">
            <a:extLst xmlns:a="http://schemas.openxmlformats.org/drawingml/2006/main">
              <a:ext uri="{FF2B5EF4-FFF2-40B4-BE49-F238E27FC236}">
                <a16:creationId xmlns:a16="http://schemas.microsoft.com/office/drawing/2014/main" id="{5FA0D705-48BA-402E-A114-424384A2CF68}"/>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Luồng ghi phản hồi nhất quán">
            <a:extLst xmlns:a="http://schemas.openxmlformats.org/drawingml/2006/main">
              <a:ext uri="{FF2B5EF4-FFF2-40B4-BE49-F238E27FC236}">
                <a16:creationId xmlns:a16="http://schemas.microsoft.com/office/drawing/2014/main" id="{D4F95372-7622-4DC4-B2EE-62C8CC78AC73}"/>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Luồng ghi phản hồi nhất quán</a:t>
            </a:r>
          </a:p>
        </p:txBody>
      </p:sp>
      <p:sp>
        <p:nvSpPr>
          <p:cNvPr id="3" name="">
            <a:extLst xmlns:a="http://schemas.openxmlformats.org/drawingml/2006/main">
              <a:ext uri="{FF2B5EF4-FFF2-40B4-BE49-F238E27FC236}">
                <a16:creationId xmlns:a16="http://schemas.microsoft.com/office/drawing/2014/main" id="{01DD2D8E-3E67-4464-9506-3C53DE1D44E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C8BD26B8-FF6A-4609-836A-DD6246F6AF79}"/>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3">
            <a:extLst xmlns:a="http://schemas.openxmlformats.org/drawingml/2006/main">
              <a:ext uri="{FF2B5EF4-FFF2-40B4-BE49-F238E27FC236}">
                <a16:creationId xmlns:a16="http://schemas.microsoft.com/office/drawing/2014/main" id="{D4D50C76-821C-4703-AE4E-D645AC9EC25F}"/>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13</a:t>
            </a:r>
          </a:p>
        </p:txBody>
      </p:sp>
      <p:sp>
        <p:nvSpPr>
          <p:cNvPr id="6" name="Bearer và key">
            <a:extLst xmlns:a="http://schemas.openxmlformats.org/drawingml/2006/main">
              <a:ext uri="{FF2B5EF4-FFF2-40B4-BE49-F238E27FC236}">
                <a16:creationId xmlns:a16="http://schemas.microsoft.com/office/drawing/2014/main" id="{1C8C7AAC-938F-4430-BBA6-E1F70DA6073A}"/>
              </a:ext>
            </a:extLst>
          </p:cNvPr>
          <p:cNvSpPr>
            <a:spLocks xmlns:a="http://schemas.openxmlformats.org/drawingml/2006/main" noGrp="1"/>
          </p:cNvSpPr>
          <p:nvPr/>
        </p:nvSpPr>
        <p:spPr>
          <a:xfrm xmlns:a="http://schemas.openxmlformats.org/drawingml/2006/main">
            <a:off x="6667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Bearer</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key</a:t>
            </a:r>
          </a:p>
        </p:txBody>
      </p:sp>
      <p:sp>
        <p:nvSpPr>
          <p:cNvPr id="7" name="Kiểm tra ownership">
            <a:extLst xmlns:a="http://schemas.openxmlformats.org/drawingml/2006/main">
              <a:ext uri="{FF2B5EF4-FFF2-40B4-BE49-F238E27FC236}">
                <a16:creationId xmlns:a16="http://schemas.microsoft.com/office/drawing/2014/main" id="{0EBCB06F-20DC-4F86-97D9-7AD9437AA02B}"/>
              </a:ext>
            </a:extLst>
          </p:cNvPr>
          <p:cNvSpPr>
            <a:spLocks xmlns:a="http://schemas.openxmlformats.org/drawingml/2006/main" noGrp="1"/>
          </p:cNvSpPr>
          <p:nvPr/>
        </p:nvSpPr>
        <p:spPr>
          <a:xfrm xmlns:a="http://schemas.openxmlformats.org/drawingml/2006/main">
            <a:off x="289560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Kiểm tra</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ownership</a:t>
            </a:r>
          </a:p>
        </p:txBody>
      </p:sp>
      <p:sp>
        <p:nvSpPr>
          <p:cNvPr id="9" name="Transaction và ledger">
            <a:extLst xmlns:a="http://schemas.openxmlformats.org/drawingml/2006/main">
              <a:ext uri="{FF2B5EF4-FFF2-40B4-BE49-F238E27FC236}">
                <a16:creationId xmlns:a16="http://schemas.microsoft.com/office/drawing/2014/main" id="{459C9900-9E84-4474-9A79-C2CE218AC6C9}"/>
              </a:ext>
            </a:extLst>
          </p:cNvPr>
          <p:cNvSpPr>
            <a:spLocks xmlns:a="http://schemas.openxmlformats.org/drawingml/2006/main" noGrp="1"/>
          </p:cNvSpPr>
          <p:nvPr/>
        </p:nvSpPr>
        <p:spPr>
          <a:xfrm xmlns:a="http://schemas.openxmlformats.org/drawingml/2006/main">
            <a:off x="51244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Transaction</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và ledger</a:t>
            </a:r>
          </a:p>
        </p:txBody>
      </p:sp>
      <p:sp>
        <p:nvSpPr>
          <p:cNvPr id="11" name="COMMIT dữ liệu">
            <a:extLst xmlns:a="http://schemas.openxmlformats.org/drawingml/2006/main">
              <a:ext uri="{FF2B5EF4-FFF2-40B4-BE49-F238E27FC236}">
                <a16:creationId xmlns:a16="http://schemas.microsoft.com/office/drawing/2014/main" id="{547BE42E-F3E0-42E8-B767-6CB3C7E6D6EC}"/>
              </a:ext>
            </a:extLst>
          </p:cNvPr>
          <p:cNvSpPr>
            <a:spLocks xmlns:a="http://schemas.openxmlformats.org/drawingml/2006/main" noGrp="1"/>
          </p:cNvSpPr>
          <p:nvPr/>
        </p:nvSpPr>
        <p:spPr>
          <a:xfrm xmlns:a="http://schemas.openxmlformats.org/drawingml/2006/main">
            <a:off x="7353300" y="2200275"/>
            <a:ext cx="1962150" cy="1047750"/>
          </a:xfrm>
          <a:prstGeom xmlns:a="http://schemas.openxmlformats.org/drawingml/2006/main" prst="rect">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COMMIT</a:t>
            </a:r>
          </a:p>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dữ liệu</a:t>
            </a:r>
          </a:p>
        </p:txBody>
      </p:sp>
      <p:sp>
        <p:nvSpPr>
          <p:cNvPr id="13" name="Invalidate sau commit">
            <a:extLst xmlns:a="http://schemas.openxmlformats.org/drawingml/2006/main">
              <a:ext uri="{FF2B5EF4-FFF2-40B4-BE49-F238E27FC236}">
                <a16:creationId xmlns:a16="http://schemas.microsoft.com/office/drawing/2014/main" id="{253CCFE1-0294-421D-AC18-E2AD747079D0}"/>
              </a:ext>
            </a:extLst>
          </p:cNvPr>
          <p:cNvSpPr>
            <a:spLocks xmlns:a="http://schemas.openxmlformats.org/drawingml/2006/main" noGrp="1"/>
          </p:cNvSpPr>
          <p:nvPr/>
        </p:nvSpPr>
        <p:spPr>
          <a:xfrm xmlns:a="http://schemas.openxmlformats.org/drawingml/2006/main">
            <a:off x="9582150" y="2200275"/>
            <a:ext cx="19621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Invalidate</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sau commit</a:t>
            </a:r>
          </a:p>
        </p:txBody>
      </p:sp>
      <p:sp>
        <p:nvSpPr>
          <p:cNvPr id="15" name="Thứ tự ưu tiên nguồn">
            <a:extLst xmlns:a="http://schemas.openxmlformats.org/drawingml/2006/main">
              <a:ext uri="{FF2B5EF4-FFF2-40B4-BE49-F238E27FC236}">
                <a16:creationId xmlns:a16="http://schemas.microsoft.com/office/drawing/2014/main" id="{6D3DF85F-5995-46CD-83F6-023E7B68F60C}"/>
              </a:ext>
            </a:extLst>
          </p:cNvPr>
          <p:cNvSpPr>
            <a:spLocks xmlns:a="http://schemas.openxmlformats.org/drawingml/2006/main" noGrp="1"/>
          </p:cNvSpPr>
          <p:nvPr/>
        </p:nvSpPr>
        <p:spPr>
          <a:xfrm xmlns:a="http://schemas.openxmlformats.org/drawingml/2006/main">
            <a:off x="666750" y="3905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Thứ tự ưu tiên nguồn</a:t>
            </a:r>
          </a:p>
        </p:txBody>
      </p:sp>
      <p:sp>
        <p:nvSpPr>
          <p:cNvPr id="16" name="Sao explicit và legacy_unknown&#10;Favorite 4,5&#10;Xem hoàn thành từ 95%">
            <a:extLst xmlns:a="http://schemas.openxmlformats.org/drawingml/2006/main">
              <a:ext uri="{FF2B5EF4-FFF2-40B4-BE49-F238E27FC236}">
                <a16:creationId xmlns:a16="http://schemas.microsoft.com/office/drawing/2014/main" id="{6921A9D1-D157-4F79-8F9C-092ABF911D8F}"/>
              </a:ext>
            </a:extLst>
          </p:cNvPr>
          <p:cNvSpPr>
            <a:spLocks xmlns:a="http://schemas.openxmlformats.org/drawingml/2006/main" noGrp="1"/>
          </p:cNvSpPr>
          <p:nvPr/>
        </p:nvSpPr>
        <p:spPr>
          <a:xfrm xmlns:a="http://schemas.openxmlformats.org/drawingml/2006/main">
            <a:off x="666750" y="4648200"/>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3D"/>
                </a:solidFill>
                <a:latin typeface="Arial"/>
                <a:ea typeface="Arial"/>
                <a:cs typeface="Arial"/>
              </a:defRPr>
            </a:defPPr>
            <a:lvl1pPr algn="l">
              <a:defRPr sz="1950" b="0">
                <a:solidFill>
                  <a:srgbClr val="172D3D"/>
                </a:solidFill>
                <a:latin typeface="Arial"/>
                <a:ea typeface="Arial"/>
                <a:cs typeface="Arial"/>
              </a:defRPr>
            </a:lvl1pPr>
            <a:lvl2pPr algn="l">
              <a:defRPr sz="1950" b="0">
                <a:solidFill>
                  <a:srgbClr val="172D3D"/>
                </a:solidFill>
                <a:latin typeface="Arial"/>
                <a:ea typeface="Arial"/>
                <a:cs typeface="Arial"/>
              </a:defRPr>
            </a:lvl2pPr>
            <a:lvl3pPr algn="l">
              <a:defRPr sz="1950" b="0">
                <a:solidFill>
                  <a:srgbClr val="172D3D"/>
                </a:solidFill>
                <a:latin typeface="Arial"/>
                <a:ea typeface="Arial"/>
                <a:cs typeface="Arial"/>
              </a:defRPr>
            </a:lvl3pPr>
            <a:lvl4pPr algn="l">
              <a:defRPr sz="1950" b="0">
                <a:solidFill>
                  <a:srgbClr val="172D3D"/>
                </a:solidFill>
                <a:latin typeface="Arial"/>
                <a:ea typeface="Arial"/>
                <a:cs typeface="Arial"/>
              </a:defRPr>
            </a:lvl4pPr>
            <a:lvl5pPr algn="l">
              <a:defRPr sz="1950" b="0">
                <a:solidFill>
                  <a:srgbClr val="172D3D"/>
                </a:solidFill>
                <a:latin typeface="Arial"/>
                <a:ea typeface="Arial"/>
                <a:cs typeface="Arial"/>
              </a:defRPr>
            </a:lvl5pPr>
            <a:lvl6pPr algn="l">
              <a:defRPr sz="1950" b="0">
                <a:solidFill>
                  <a:srgbClr val="172D3D"/>
                </a:solidFill>
                <a:latin typeface="Arial"/>
                <a:ea typeface="Arial"/>
                <a:cs typeface="Arial"/>
              </a:defRPr>
            </a:lvl6pPr>
            <a:lvl7pPr algn="l">
              <a:defRPr sz="1950" b="0">
                <a:solidFill>
                  <a:srgbClr val="172D3D"/>
                </a:solidFill>
                <a:latin typeface="Arial"/>
                <a:ea typeface="Arial"/>
                <a:cs typeface="Arial"/>
              </a:defRPr>
            </a:lvl7pPr>
            <a:lvl8pPr algn="l">
              <a:defRPr sz="1950" b="0">
                <a:solidFill>
                  <a:srgbClr val="172D3D"/>
                </a:solidFill>
                <a:latin typeface="Arial"/>
                <a:ea typeface="Arial"/>
                <a:cs typeface="Arial"/>
              </a:defRPr>
            </a:lvl8pPr>
            <a:lvl9pPr algn="l">
              <a:defRPr sz="1950" b="0">
                <a:solidFill>
                  <a:srgbClr val="172D3D"/>
                </a:solidFill>
                <a:latin typeface="Arial"/>
                <a:ea typeface="Arial"/>
                <a:cs typeface="Arial"/>
              </a:defRPr>
            </a:lvl9pPr>
          </a:lstStyle>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Sao explicit và legacy_unknown</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Favorite 4,5</a:t>
            </a:r>
          </a:p>
          <a:p xmlns:a="http://schemas.openxmlformats.org/drawingml/2006/main">
            <a:pPr algn="l">
              <a:defRPr sz="1950" b="0">
                <a:solidFill>
                  <a:srgbClr val="172D3D"/>
                </a:solidFill>
                <a:latin typeface="Arial"/>
                <a:ea typeface="Arial"/>
                <a:cs typeface="Arial"/>
              </a:defRPr>
            </a:pPr>
            <a:r>
              <a:rPr sz="1950" b="0">
                <a:solidFill>
                  <a:srgbClr val="172D3D"/>
                </a:solidFill>
                <a:latin typeface="Arial"/>
                <a:ea typeface="Arial"/>
                <a:cs typeface="Arial"/>
              </a:rPr>
              <a:t>Xem hoàn thành từ 95% tạo proxy 4,0</a:t>
            </a:r>
          </a:p>
        </p:txBody>
      </p:sp>
      <p:sp>
        <p:nvSpPr>
          <p:cNvPr id="17" name="Idempotency trong 24 giờ">
            <a:extLst xmlns:a="http://schemas.openxmlformats.org/drawingml/2006/main">
              <a:ext uri="{FF2B5EF4-FFF2-40B4-BE49-F238E27FC236}">
                <a16:creationId xmlns:a16="http://schemas.microsoft.com/office/drawing/2014/main" id="{DE032ABA-348D-41A2-AEA5-E1445097083E}"/>
              </a:ext>
            </a:extLst>
          </p:cNvPr>
          <p:cNvSpPr>
            <a:spLocks xmlns:a="http://schemas.openxmlformats.org/drawingml/2006/main" noGrp="1"/>
          </p:cNvSpPr>
          <p:nvPr/>
        </p:nvSpPr>
        <p:spPr>
          <a:xfrm xmlns:a="http://schemas.openxmlformats.org/drawingml/2006/main">
            <a:off x="7000875" y="3905250"/>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D"/>
                </a:solidFill>
                <a:latin typeface="Arial"/>
                <a:ea typeface="Arial"/>
                <a:cs typeface="Arial"/>
              </a:defRPr>
            </a:defPPr>
            <a:lvl1pPr algn="l">
              <a:defRPr sz="2250" b="1">
                <a:solidFill>
                  <a:srgbClr val="172D3D"/>
                </a:solidFill>
                <a:latin typeface="Arial"/>
                <a:ea typeface="Arial"/>
                <a:cs typeface="Arial"/>
              </a:defRPr>
            </a:lvl1pPr>
            <a:lvl2pPr algn="l">
              <a:defRPr sz="2250" b="1">
                <a:solidFill>
                  <a:srgbClr val="172D3D"/>
                </a:solidFill>
                <a:latin typeface="Arial"/>
                <a:ea typeface="Arial"/>
                <a:cs typeface="Arial"/>
              </a:defRPr>
            </a:lvl2pPr>
            <a:lvl3pPr algn="l">
              <a:defRPr sz="2250" b="1">
                <a:solidFill>
                  <a:srgbClr val="172D3D"/>
                </a:solidFill>
                <a:latin typeface="Arial"/>
                <a:ea typeface="Arial"/>
                <a:cs typeface="Arial"/>
              </a:defRPr>
            </a:lvl3pPr>
            <a:lvl4pPr algn="l">
              <a:defRPr sz="2250" b="1">
                <a:solidFill>
                  <a:srgbClr val="172D3D"/>
                </a:solidFill>
                <a:latin typeface="Arial"/>
                <a:ea typeface="Arial"/>
                <a:cs typeface="Arial"/>
              </a:defRPr>
            </a:lvl4pPr>
            <a:lvl5pPr algn="l">
              <a:defRPr sz="2250" b="1">
                <a:solidFill>
                  <a:srgbClr val="172D3D"/>
                </a:solidFill>
                <a:latin typeface="Arial"/>
                <a:ea typeface="Arial"/>
                <a:cs typeface="Arial"/>
              </a:defRPr>
            </a:lvl5pPr>
            <a:lvl6pPr algn="l">
              <a:defRPr sz="2250" b="1">
                <a:solidFill>
                  <a:srgbClr val="172D3D"/>
                </a:solidFill>
                <a:latin typeface="Arial"/>
                <a:ea typeface="Arial"/>
                <a:cs typeface="Arial"/>
              </a:defRPr>
            </a:lvl6pPr>
            <a:lvl7pPr algn="l">
              <a:defRPr sz="2250" b="1">
                <a:solidFill>
                  <a:srgbClr val="172D3D"/>
                </a:solidFill>
                <a:latin typeface="Arial"/>
                <a:ea typeface="Arial"/>
                <a:cs typeface="Arial"/>
              </a:defRPr>
            </a:lvl7pPr>
            <a:lvl8pPr algn="l">
              <a:defRPr sz="2250" b="1">
                <a:solidFill>
                  <a:srgbClr val="172D3D"/>
                </a:solidFill>
                <a:latin typeface="Arial"/>
                <a:ea typeface="Arial"/>
                <a:cs typeface="Arial"/>
              </a:defRPr>
            </a:lvl8pPr>
            <a:lvl9pPr algn="l">
              <a:defRPr sz="2250" b="1">
                <a:solidFill>
                  <a:srgbClr val="172D3D"/>
                </a:solidFill>
                <a:latin typeface="Arial"/>
                <a:ea typeface="Arial"/>
                <a:cs typeface="Arial"/>
              </a:defRPr>
            </a:lvl9pPr>
          </a:lstStyle>
          <a:p xmlns:a="http://schemas.openxmlformats.org/drawingml/2006/main">
            <a:pPr algn="l">
              <a:defRPr sz="2250" b="1">
                <a:solidFill>
                  <a:srgbClr val="172D3D"/>
                </a:solidFill>
                <a:latin typeface="Arial"/>
                <a:ea typeface="Arial"/>
                <a:cs typeface="Arial"/>
              </a:defRPr>
            </a:pPr>
            <a:r>
              <a:rPr sz="2250" b="1">
                <a:solidFill>
                  <a:srgbClr val="172D3D"/>
                </a:solidFill>
                <a:latin typeface="Arial"/>
                <a:ea typeface="Arial"/>
                <a:cs typeface="Arial"/>
              </a:rPr>
              <a:t>Idempotency trong 24 giờ</a:t>
            </a:r>
          </a:p>
        </p:txBody>
      </p:sp>
      <p:sp>
        <p:nvSpPr>
          <p:cNvPr id="18" name="Replay không ghi lặp hoặc đảo trạng thái mới.&#10;Cùng key, payload k">
            <a:extLst xmlns:a="http://schemas.openxmlformats.org/drawingml/2006/main">
              <a:ext uri="{FF2B5EF4-FFF2-40B4-BE49-F238E27FC236}">
                <a16:creationId xmlns:a16="http://schemas.microsoft.com/office/drawing/2014/main" id="{F7ADC025-B70F-4482-8B74-0127635A1E1D}"/>
              </a:ext>
            </a:extLst>
          </p:cNvPr>
          <p:cNvSpPr>
            <a:spLocks xmlns:a="http://schemas.openxmlformats.org/drawingml/2006/main" noGrp="1"/>
          </p:cNvSpPr>
          <p:nvPr/>
        </p:nvSpPr>
        <p:spPr>
          <a:xfrm xmlns:a="http://schemas.openxmlformats.org/drawingml/2006/main">
            <a:off x="7000875" y="4648200"/>
            <a:ext cx="4524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4"/>
                </a:solidFill>
                <a:latin typeface="Arial"/>
                <a:ea typeface="Arial"/>
                <a:cs typeface="Arial"/>
              </a:defRPr>
            </a:defPPr>
            <a:lvl1pPr algn="l">
              <a:defRPr sz="1875" b="0">
                <a:solidFill>
                  <a:srgbClr val="526674"/>
                </a:solidFill>
                <a:latin typeface="Arial"/>
                <a:ea typeface="Arial"/>
                <a:cs typeface="Arial"/>
              </a:defRPr>
            </a:lvl1pPr>
            <a:lvl2pPr algn="l">
              <a:defRPr sz="1875" b="0">
                <a:solidFill>
                  <a:srgbClr val="526674"/>
                </a:solidFill>
                <a:latin typeface="Arial"/>
                <a:ea typeface="Arial"/>
                <a:cs typeface="Arial"/>
              </a:defRPr>
            </a:lvl2pPr>
            <a:lvl3pPr algn="l">
              <a:defRPr sz="1875" b="0">
                <a:solidFill>
                  <a:srgbClr val="526674"/>
                </a:solidFill>
                <a:latin typeface="Arial"/>
                <a:ea typeface="Arial"/>
                <a:cs typeface="Arial"/>
              </a:defRPr>
            </a:lvl3pPr>
            <a:lvl4pPr algn="l">
              <a:defRPr sz="1875" b="0">
                <a:solidFill>
                  <a:srgbClr val="526674"/>
                </a:solidFill>
                <a:latin typeface="Arial"/>
                <a:ea typeface="Arial"/>
                <a:cs typeface="Arial"/>
              </a:defRPr>
            </a:lvl4pPr>
            <a:lvl5pPr algn="l">
              <a:defRPr sz="1875" b="0">
                <a:solidFill>
                  <a:srgbClr val="526674"/>
                </a:solidFill>
                <a:latin typeface="Arial"/>
                <a:ea typeface="Arial"/>
                <a:cs typeface="Arial"/>
              </a:defRPr>
            </a:lvl5pPr>
            <a:lvl6pPr algn="l">
              <a:defRPr sz="1875" b="0">
                <a:solidFill>
                  <a:srgbClr val="526674"/>
                </a:solidFill>
                <a:latin typeface="Arial"/>
                <a:ea typeface="Arial"/>
                <a:cs typeface="Arial"/>
              </a:defRPr>
            </a:lvl6pPr>
            <a:lvl7pPr algn="l">
              <a:defRPr sz="1875" b="0">
                <a:solidFill>
                  <a:srgbClr val="526674"/>
                </a:solidFill>
                <a:latin typeface="Arial"/>
                <a:ea typeface="Arial"/>
                <a:cs typeface="Arial"/>
              </a:defRPr>
            </a:lvl7pPr>
            <a:lvl8pPr algn="l">
              <a:defRPr sz="1875" b="0">
                <a:solidFill>
                  <a:srgbClr val="526674"/>
                </a:solidFill>
                <a:latin typeface="Arial"/>
                <a:ea typeface="Arial"/>
                <a:cs typeface="Arial"/>
              </a:defRPr>
            </a:lvl8pPr>
            <a:lvl9pPr algn="l">
              <a:defRPr sz="1875" b="0">
                <a:solidFill>
                  <a:srgbClr val="526674"/>
                </a:solidFill>
                <a:latin typeface="Arial"/>
                <a:ea typeface="Arial"/>
                <a:cs typeface="Arial"/>
              </a:defRPr>
            </a:lvl9pPr>
          </a:lstStyle>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Replay không ghi lặp hoặc đảo trạng thái mới.</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Cùng key, payload khác trả 409.</a:t>
            </a:r>
          </a:p>
          <a:p xmlns:a="http://schemas.openxmlformats.org/drawingml/2006/main">
            <a:pPr algn="l">
              <a:defRPr sz="1875" b="0">
                <a:solidFill>
                  <a:srgbClr val="526674"/>
                </a:solidFill>
                <a:latin typeface="Arial"/>
                <a:ea typeface="Arial"/>
                <a:cs typeface="Arial"/>
              </a:defRPr>
            </a:pPr>
            <a:r>
              <a:rPr sz="1875" b="0">
                <a:solidFill>
                  <a:srgbClr val="526674"/>
                </a:solidFill>
                <a:latin typeface="Arial"/>
                <a:ea typeface="Arial"/>
                <a:cs typeface="Arial"/>
              </a:rPr>
              <a:t>Retry không lặp SGD.</a:t>
            </a:r>
          </a:p>
        </p:txBody>
      </p:sp>
    </p:spTree>
    <p:extLst>
      <p:ext uri="{BB962C8B-B14F-4D97-AF65-F5344CB8AC3E}">
        <p14:creationId xmlns:p14="http://schemas.microsoft.com/office/powerpoint/2010/main" val="567317144"/>
      </p:ext>
    </p:extLst>
  </p:cSld>
</p:sld>
</file>

<file path=ppt/slides/slide1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BAA4984-8902-4047-A6A9-0F8482623BE2}"/>
              </a:ext>
            </a:extLst>
          </p:cNvPr>
          <p:cNvCxnSpPr>
            <a:stCxn xmlns:a="http://schemas.openxmlformats.org/drawingml/2006/main" id="10" idx="1"/>
            <a:endCxn xmlns:a="http://schemas.openxmlformats.org/drawingml/2006/main" id="11" idx="3"/>
          </p:cNvCxnSpPr>
          <p:nvPr/>
        </p:nvCxnSpPr>
        <p:spPr>
          <a:xfrm xmlns:a="http://schemas.openxmlformats.org/drawingml/2006/main" flipH="1">
            <a:off x="3619500" y="5048250"/>
            <a:ext cx="1095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193E096F-0B98-48F2-940B-19268CC4D20A}"/>
              </a:ext>
            </a:extLst>
          </p:cNvPr>
          <p:cNvCxnSpPr>
            <a:stCxn xmlns:a="http://schemas.openxmlformats.org/drawingml/2006/main" id="8" idx="2"/>
            <a:endCxn xmlns:a="http://schemas.openxmlformats.org/drawingml/2006/main" id="9" idx="0"/>
          </p:cNvCxnSpPr>
          <p:nvPr/>
        </p:nvCxnSpPr>
        <p:spPr>
          <a:xfrm xmlns:a="http://schemas.openxmlformats.org/drawingml/2006/main">
            <a:off x="10358438" y="3429000"/>
            <a:ext cx="0" cy="1095375"/>
          </a:xfrm>
          <a:prstGeom xmlns:a="http://schemas.openxmlformats.org/drawingml/2006/main" prst="straightConnector1">
            <a:avLst/>
          </a:prstGeom>
          <a:ln xmlns:a="http://schemas.openxmlformats.org/drawingml/2006/main" w="19050">
            <a:solidFill>
              <a:srgbClr val="D6AA67"/>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3C694DC-4BCE-4E80-9F26-BA95C325912A}"/>
              </a:ext>
            </a:extLst>
          </p:cNvPr>
          <p:cNvCxnSpPr>
            <a:stCxn xmlns:a="http://schemas.openxmlformats.org/drawingml/2006/main" id="8" idx="2"/>
            <a:endCxn xmlns:a="http://schemas.openxmlformats.org/drawingml/2006/main" id="10" idx="0"/>
          </p:cNvCxnSpPr>
          <p:nvPr/>
        </p:nvCxnSpPr>
        <p:spPr>
          <a:xfrm xmlns:a="http://schemas.openxmlformats.org/drawingml/2006/main" flipH="1">
            <a:off x="6191250" y="3429000"/>
            <a:ext cx="4167188" cy="1095375"/>
          </a:xfrm>
          <a:prstGeom xmlns:a="http://schemas.openxmlformats.org/drawingml/2006/main" prst="bentConnector4">
            <a:avLst>
              <a:gd name="adj1" fmla="val 0"/>
              <a:gd name="adj2" fmla="val 79130"/>
            </a:avLst>
          </a:prstGeom>
          <a:ln xmlns:a="http://schemas.openxmlformats.org/drawingml/2006/main" w="19050">
            <a:solidFill>
              <a:srgbClr val="297E7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3807C1B5-3711-463B-B076-D3DEAB46221C}"/>
              </a:ext>
            </a:extLst>
          </p:cNvPr>
          <p:cNvCxnSpPr>
            <a:stCxn xmlns:a="http://schemas.openxmlformats.org/drawingml/2006/main" id="7" idx="3"/>
            <a:endCxn xmlns:a="http://schemas.openxmlformats.org/drawingml/2006/main" id="8" idx="1"/>
          </p:cNvCxnSpPr>
          <p:nvPr/>
        </p:nvCxnSpPr>
        <p:spPr>
          <a:xfrm xmlns:a="http://schemas.openxmlformats.org/drawingml/2006/main">
            <a:off x="7667625" y="2705100"/>
            <a:ext cx="1524000" cy="9525"/>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94E4D2C9-116E-4E55-A6D9-EFB1E456D4F4}"/>
              </a:ext>
            </a:extLst>
          </p:cNvPr>
          <p:cNvCxnSpPr>
            <a:stCxn xmlns:a="http://schemas.openxmlformats.org/drawingml/2006/main" id="6" idx="3"/>
            <a:endCxn xmlns:a="http://schemas.openxmlformats.org/drawingml/2006/main" id="7" idx="1"/>
          </p:cNvCxnSpPr>
          <p:nvPr/>
        </p:nvCxnSpPr>
        <p:spPr>
          <a:xfrm xmlns:a="http://schemas.openxmlformats.org/drawingml/2006/main">
            <a:off x="3238500" y="2705100"/>
            <a:ext cx="1476375" cy="0"/>
          </a:xfrm>
          <a:prstGeom xmlns:a="http://schemas.openxmlformats.org/drawingml/2006/main" prst="straightConnector1">
            <a:avLst/>
          </a:prstGeom>
          <a:ln xmlns:a="http://schemas.openxmlformats.org/drawingml/2006/main" w="19050">
            <a:solidFill>
              <a:srgbClr val="297E7C"/>
            </a:solidFill>
            <a:prstDash val="solid"/>
            <a:tailEnd type="triangle" w="sm" len="sm"/>
          </a:ln>
        </p:spPr>
      </p:cxnSp>
      <p:sp>
        <p:nvSpPr>
          <p:cNvPr id="20" name="04   PHÂN TÍCH THIẾT KẾ">
            <a:extLst xmlns:a="http://schemas.openxmlformats.org/drawingml/2006/main">
              <a:ext uri="{FF2B5EF4-FFF2-40B4-BE49-F238E27FC236}">
                <a16:creationId xmlns:a16="http://schemas.microsoft.com/office/drawing/2014/main" id="{26DCD452-2A08-42BB-A9B5-46787E7D4F24}"/>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04   PHÂN TÍCH THIẾT KẾ</a:t>
            </a:r>
          </a:p>
        </p:txBody>
      </p:sp>
      <p:sp>
        <p:nvSpPr>
          <p:cNvPr id="2" name="Phát hành model và rollback">
            <a:extLst xmlns:a="http://schemas.openxmlformats.org/drawingml/2006/main">
              <a:ext uri="{FF2B5EF4-FFF2-40B4-BE49-F238E27FC236}">
                <a16:creationId xmlns:a16="http://schemas.microsoft.com/office/drawing/2014/main" id="{DE758DBD-7F66-403C-9977-D4EEC8418DAB}"/>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Phát hành model và rollback</a:t>
            </a:r>
          </a:p>
        </p:txBody>
      </p:sp>
      <p:sp>
        <p:nvSpPr>
          <p:cNvPr id="3" name="">
            <a:extLst xmlns:a="http://schemas.openxmlformats.org/drawingml/2006/main">
              <a:ext uri="{FF2B5EF4-FFF2-40B4-BE49-F238E27FC236}">
                <a16:creationId xmlns:a16="http://schemas.microsoft.com/office/drawing/2014/main" id="{957DB681-4766-4EC4-9A02-18C96ADAA2E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B7897927-7C82-43CE-96C3-6523F8AD417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4">
            <a:extLst xmlns:a="http://schemas.openxmlformats.org/drawingml/2006/main">
              <a:ext uri="{FF2B5EF4-FFF2-40B4-BE49-F238E27FC236}">
                <a16:creationId xmlns:a16="http://schemas.microsoft.com/office/drawing/2014/main" id="{C64FEC44-3851-4530-81F9-586C74FB30E3}"/>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14</a:t>
            </a:r>
          </a:p>
        </p:txBody>
      </p:sp>
      <p:sp>
        <p:nvSpPr>
          <p:cNvPr id="6" name="Worker CLI Khóa một job">
            <a:extLst xmlns:a="http://schemas.openxmlformats.org/drawingml/2006/main">
              <a:ext uri="{FF2B5EF4-FFF2-40B4-BE49-F238E27FC236}">
                <a16:creationId xmlns:a16="http://schemas.microsoft.com/office/drawing/2014/main" id="{C78D1630-47F1-46AF-A923-D8592BBB7490}"/>
              </a:ext>
            </a:extLst>
          </p:cNvPr>
          <p:cNvSpPr>
            <a:spLocks xmlns:a="http://schemas.openxmlformats.org/drawingml/2006/main" noGrp="1"/>
          </p:cNvSpPr>
          <p:nvPr/>
        </p:nvSpPr>
        <p:spPr>
          <a:xfrm xmlns:a="http://schemas.openxmlformats.org/drawingml/2006/main">
            <a:off x="666750" y="2181225"/>
            <a:ext cx="2571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2025" b="0">
                <a:solidFill>
                  <a:srgbClr val="172D3D"/>
                </a:solidFill>
                <a:latin typeface="Arial"/>
                <a:ea typeface="Arial"/>
                <a:cs typeface="Arial"/>
              </a:defRPr>
            </a:defPPr>
            <a:lvl1pPr algn="ctr">
              <a:defRPr sz="2025" b="0">
                <a:solidFill>
                  <a:srgbClr val="172D3D"/>
                </a:solidFill>
                <a:latin typeface="Arial"/>
                <a:ea typeface="Arial"/>
                <a:cs typeface="Arial"/>
              </a:defRPr>
            </a:lvl1pPr>
            <a:lvl2pPr algn="ctr">
              <a:defRPr sz="2025" b="0">
                <a:solidFill>
                  <a:srgbClr val="172D3D"/>
                </a:solidFill>
                <a:latin typeface="Arial"/>
                <a:ea typeface="Arial"/>
                <a:cs typeface="Arial"/>
              </a:defRPr>
            </a:lvl2pPr>
            <a:lvl3pPr algn="ctr">
              <a:defRPr sz="2025" b="0">
                <a:solidFill>
                  <a:srgbClr val="172D3D"/>
                </a:solidFill>
                <a:latin typeface="Arial"/>
                <a:ea typeface="Arial"/>
                <a:cs typeface="Arial"/>
              </a:defRPr>
            </a:lvl3pPr>
            <a:lvl4pPr algn="ctr">
              <a:defRPr sz="2025" b="0">
                <a:solidFill>
                  <a:srgbClr val="172D3D"/>
                </a:solidFill>
                <a:latin typeface="Arial"/>
                <a:ea typeface="Arial"/>
                <a:cs typeface="Arial"/>
              </a:defRPr>
            </a:lvl4pPr>
            <a:lvl5pPr algn="ctr">
              <a:defRPr sz="2025" b="0">
                <a:solidFill>
                  <a:srgbClr val="172D3D"/>
                </a:solidFill>
                <a:latin typeface="Arial"/>
                <a:ea typeface="Arial"/>
                <a:cs typeface="Arial"/>
              </a:defRPr>
            </a:lvl5pPr>
            <a:lvl6pPr algn="ctr">
              <a:defRPr sz="2025" b="0">
                <a:solidFill>
                  <a:srgbClr val="172D3D"/>
                </a:solidFill>
                <a:latin typeface="Arial"/>
                <a:ea typeface="Arial"/>
                <a:cs typeface="Arial"/>
              </a:defRPr>
            </a:lvl6pPr>
            <a:lvl7pPr algn="ctr">
              <a:defRPr sz="2025" b="0">
                <a:solidFill>
                  <a:srgbClr val="172D3D"/>
                </a:solidFill>
                <a:latin typeface="Arial"/>
                <a:ea typeface="Arial"/>
                <a:cs typeface="Arial"/>
              </a:defRPr>
            </a:lvl7pPr>
            <a:lvl8pPr algn="ctr">
              <a:defRPr sz="2025" b="0">
                <a:solidFill>
                  <a:srgbClr val="172D3D"/>
                </a:solidFill>
                <a:latin typeface="Arial"/>
                <a:ea typeface="Arial"/>
                <a:cs typeface="Arial"/>
              </a:defRPr>
            </a:lvl8pPr>
            <a:lvl9pPr algn="ctr">
              <a:defRPr sz="2025" b="0">
                <a:solidFill>
                  <a:srgbClr val="172D3D"/>
                </a:solidFill>
                <a:latin typeface="Arial"/>
                <a:ea typeface="Arial"/>
                <a:cs typeface="Arial"/>
              </a:defRPr>
            </a:lvl9pPr>
          </a:lstStyle>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Worker CLI</a:t>
            </a:r>
          </a:p>
          <a:p xmlns:a="http://schemas.openxmlformats.org/drawingml/2006/main">
            <a:pPr algn="ctr">
              <a:defRPr sz="2025" b="0">
                <a:solidFill>
                  <a:srgbClr val="172D3D"/>
                </a:solidFill>
                <a:latin typeface="Arial"/>
                <a:ea typeface="Arial"/>
                <a:cs typeface="Arial"/>
              </a:defRPr>
            </a:pPr>
            <a:r>
              <a:rPr sz="2025" b="0">
                <a:solidFill>
                  <a:srgbClr val="172D3D"/>
                </a:solidFill>
                <a:latin typeface="Arial"/>
                <a:ea typeface="Arial"/>
                <a:cs typeface="Arial"/>
              </a:rPr>
              <a:t>Khóa một job</a:t>
            </a:r>
          </a:p>
        </p:txBody>
      </p:sp>
      <p:sp>
        <p:nvSpPr>
          <p:cNvPr id="7" name="Candidate và incumbent Cùng TRAIN / VAL">
            <a:extLst xmlns:a="http://schemas.openxmlformats.org/drawingml/2006/main">
              <a:ext uri="{FF2B5EF4-FFF2-40B4-BE49-F238E27FC236}">
                <a16:creationId xmlns:a16="http://schemas.microsoft.com/office/drawing/2014/main" id="{464399F3-7A4D-40A1-8500-0D165AE20469}"/>
              </a:ext>
            </a:extLst>
          </p:cNvPr>
          <p:cNvSpPr>
            <a:spLocks xmlns:a="http://schemas.openxmlformats.org/drawingml/2006/main" noGrp="1"/>
          </p:cNvSpPr>
          <p:nvPr/>
        </p:nvSpPr>
        <p:spPr>
          <a:xfrm xmlns:a="http://schemas.openxmlformats.org/drawingml/2006/main">
            <a:off x="4714875" y="218122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Candidate và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Cùng TRAIN / VAL</a:t>
            </a:r>
          </a:p>
        </p:txBody>
      </p:sp>
      <p:sp>
        <p:nvSpPr>
          <p:cNvPr id="8" name="Vượt gate?">
            <a:extLst xmlns:a="http://schemas.openxmlformats.org/drawingml/2006/main">
              <a:ext uri="{FF2B5EF4-FFF2-40B4-BE49-F238E27FC236}">
                <a16:creationId xmlns:a16="http://schemas.microsoft.com/office/drawing/2014/main" id="{F2130469-9B27-487E-AC83-B4D99E16A604}"/>
              </a:ext>
            </a:extLst>
          </p:cNvPr>
          <p:cNvSpPr>
            <a:spLocks xmlns:a="http://schemas.openxmlformats.org/drawingml/2006/main" noGrp="1"/>
          </p:cNvSpPr>
          <p:nvPr/>
        </p:nvSpPr>
        <p:spPr>
          <a:xfrm xmlns:a="http://schemas.openxmlformats.org/drawingml/2006/main">
            <a:off x="9191625" y="2000250"/>
            <a:ext cx="2333625" cy="1428750"/>
          </a:xfrm>
          <a:prstGeom xmlns:a="http://schemas.openxmlformats.org/drawingml/2006/main" prst="diamond">
            <a:avLst/>
          </a:prstGeom>
          <a:solidFill xmlns:a="http://schemas.openxmlformats.org/drawingml/2006/main">
            <a:srgbClr val="172D3D"/>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FFFFFF"/>
                </a:solidFill>
                <a:latin typeface="Arial"/>
                <a:ea typeface="Arial"/>
                <a:cs typeface="Arial"/>
              </a:defRPr>
            </a:defPPr>
            <a:lvl1pPr algn="ctr">
              <a:defRPr sz="1875" b="0">
                <a:solidFill>
                  <a:srgbClr val="FFFFFF"/>
                </a:solidFill>
                <a:latin typeface="Arial"/>
                <a:ea typeface="Arial"/>
                <a:cs typeface="Arial"/>
              </a:defRPr>
            </a:lvl1pPr>
            <a:lvl2pPr algn="ctr">
              <a:defRPr sz="1875" b="0">
                <a:solidFill>
                  <a:srgbClr val="FFFFFF"/>
                </a:solidFill>
                <a:latin typeface="Arial"/>
                <a:ea typeface="Arial"/>
                <a:cs typeface="Arial"/>
              </a:defRPr>
            </a:lvl2pPr>
            <a:lvl3pPr algn="ctr">
              <a:defRPr sz="1875" b="0">
                <a:solidFill>
                  <a:srgbClr val="FFFFFF"/>
                </a:solidFill>
                <a:latin typeface="Arial"/>
                <a:ea typeface="Arial"/>
                <a:cs typeface="Arial"/>
              </a:defRPr>
            </a:lvl3pPr>
            <a:lvl4pPr algn="ctr">
              <a:defRPr sz="1875" b="0">
                <a:solidFill>
                  <a:srgbClr val="FFFFFF"/>
                </a:solidFill>
                <a:latin typeface="Arial"/>
                <a:ea typeface="Arial"/>
                <a:cs typeface="Arial"/>
              </a:defRPr>
            </a:lvl4pPr>
            <a:lvl5pPr algn="ctr">
              <a:defRPr sz="1875" b="0">
                <a:solidFill>
                  <a:srgbClr val="FFFFFF"/>
                </a:solidFill>
                <a:latin typeface="Arial"/>
                <a:ea typeface="Arial"/>
                <a:cs typeface="Arial"/>
              </a:defRPr>
            </a:lvl5pPr>
            <a:lvl6pPr algn="ctr">
              <a:defRPr sz="1875" b="0">
                <a:solidFill>
                  <a:srgbClr val="FFFFFF"/>
                </a:solidFill>
                <a:latin typeface="Arial"/>
                <a:ea typeface="Arial"/>
                <a:cs typeface="Arial"/>
              </a:defRPr>
            </a:lvl6pPr>
            <a:lvl7pPr algn="ctr">
              <a:defRPr sz="1875" b="0">
                <a:solidFill>
                  <a:srgbClr val="FFFFFF"/>
                </a:solidFill>
                <a:latin typeface="Arial"/>
                <a:ea typeface="Arial"/>
                <a:cs typeface="Arial"/>
              </a:defRPr>
            </a:lvl7pPr>
            <a:lvl8pPr algn="ctr">
              <a:defRPr sz="1875" b="0">
                <a:solidFill>
                  <a:srgbClr val="FFFFFF"/>
                </a:solidFill>
                <a:latin typeface="Arial"/>
                <a:ea typeface="Arial"/>
                <a:cs typeface="Arial"/>
              </a:defRPr>
            </a:lvl8pPr>
            <a:lvl9pPr algn="ctr">
              <a:defRPr sz="1875" b="0">
                <a:solidFill>
                  <a:srgbClr val="FFFFFF"/>
                </a:solidFill>
                <a:latin typeface="Arial"/>
                <a:ea typeface="Arial"/>
                <a:cs typeface="Arial"/>
              </a:defRPr>
            </a:lvl9pPr>
          </a:lstStyle>
          <a:p xmlns:a="http://schemas.openxmlformats.org/drawingml/2006/main">
            <a:pPr algn="ctr">
              <a:defRPr sz="1875" b="0">
                <a:solidFill>
                  <a:srgbClr val="FFFFFF"/>
                </a:solidFill>
                <a:latin typeface="Arial"/>
                <a:ea typeface="Arial"/>
                <a:cs typeface="Arial"/>
              </a:defRPr>
            </a:pPr>
            <a:r>
              <a:rPr sz="1875" b="0">
                <a:solidFill>
                  <a:srgbClr val="FFFFFF"/>
                </a:solidFill>
                <a:latin typeface="Arial"/>
                <a:ea typeface="Arial"/>
                <a:cs typeface="Arial"/>
              </a:rPr>
              <a:t>Vượt gate?</a:t>
            </a:r>
          </a:p>
        </p:txBody>
      </p:sp>
      <p:sp>
        <p:nvSpPr>
          <p:cNvPr id="9" name="Giữ incumbent Ghi rejected / failed">
            <a:extLst xmlns:a="http://schemas.openxmlformats.org/drawingml/2006/main">
              <a:ext uri="{FF2B5EF4-FFF2-40B4-BE49-F238E27FC236}">
                <a16:creationId xmlns:a16="http://schemas.microsoft.com/office/drawing/2014/main" id="{A3D44F45-948C-4AC3-A935-53283940073A}"/>
              </a:ext>
            </a:extLst>
          </p:cNvPr>
          <p:cNvSpPr>
            <a:spLocks xmlns:a="http://schemas.openxmlformats.org/drawingml/2006/main" noGrp="1"/>
          </p:cNvSpPr>
          <p:nvPr/>
        </p:nvSpPr>
        <p:spPr>
          <a:xfrm xmlns:a="http://schemas.openxmlformats.org/drawingml/2006/main">
            <a:off x="9191625" y="4524375"/>
            <a:ext cx="2333625"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Giữ incumbent</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Ghi rejected / failed</a:t>
            </a:r>
          </a:p>
        </p:txBody>
      </p:sp>
      <p:sp>
        <p:nvSpPr>
          <p:cNvPr id="10" name="Bundle mới Verify checksum">
            <a:extLst xmlns:a="http://schemas.openxmlformats.org/drawingml/2006/main">
              <a:ext uri="{FF2B5EF4-FFF2-40B4-BE49-F238E27FC236}">
                <a16:creationId xmlns:a16="http://schemas.microsoft.com/office/drawing/2014/main" id="{20CDBD03-3091-440E-AC3D-ECF3EDD0FA32}"/>
              </a:ext>
            </a:extLst>
          </p:cNvPr>
          <p:cNvSpPr>
            <a:spLocks xmlns:a="http://schemas.openxmlformats.org/drawingml/2006/main" noGrp="1"/>
          </p:cNvSpPr>
          <p:nvPr/>
        </p:nvSpPr>
        <p:spPr>
          <a:xfrm xmlns:a="http://schemas.openxmlformats.org/drawingml/2006/main">
            <a:off x="4714875"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950" b="0">
                <a:solidFill>
                  <a:srgbClr val="172D3D"/>
                </a:solidFill>
                <a:latin typeface="Arial"/>
                <a:ea typeface="Arial"/>
                <a:cs typeface="Arial"/>
              </a:defRPr>
            </a:defPPr>
            <a:lvl1pPr algn="ctr">
              <a:defRPr sz="1950" b="0">
                <a:solidFill>
                  <a:srgbClr val="172D3D"/>
                </a:solidFill>
                <a:latin typeface="Arial"/>
                <a:ea typeface="Arial"/>
                <a:cs typeface="Arial"/>
              </a:defRPr>
            </a:lvl1pPr>
            <a:lvl2pPr algn="ctr">
              <a:defRPr sz="1950" b="0">
                <a:solidFill>
                  <a:srgbClr val="172D3D"/>
                </a:solidFill>
                <a:latin typeface="Arial"/>
                <a:ea typeface="Arial"/>
                <a:cs typeface="Arial"/>
              </a:defRPr>
            </a:lvl2pPr>
            <a:lvl3pPr algn="ctr">
              <a:defRPr sz="1950" b="0">
                <a:solidFill>
                  <a:srgbClr val="172D3D"/>
                </a:solidFill>
                <a:latin typeface="Arial"/>
                <a:ea typeface="Arial"/>
                <a:cs typeface="Arial"/>
              </a:defRPr>
            </a:lvl3pPr>
            <a:lvl4pPr algn="ctr">
              <a:defRPr sz="1950" b="0">
                <a:solidFill>
                  <a:srgbClr val="172D3D"/>
                </a:solidFill>
                <a:latin typeface="Arial"/>
                <a:ea typeface="Arial"/>
                <a:cs typeface="Arial"/>
              </a:defRPr>
            </a:lvl4pPr>
            <a:lvl5pPr algn="ctr">
              <a:defRPr sz="1950" b="0">
                <a:solidFill>
                  <a:srgbClr val="172D3D"/>
                </a:solidFill>
                <a:latin typeface="Arial"/>
                <a:ea typeface="Arial"/>
                <a:cs typeface="Arial"/>
              </a:defRPr>
            </a:lvl5pPr>
            <a:lvl6pPr algn="ctr">
              <a:defRPr sz="1950" b="0">
                <a:solidFill>
                  <a:srgbClr val="172D3D"/>
                </a:solidFill>
                <a:latin typeface="Arial"/>
                <a:ea typeface="Arial"/>
                <a:cs typeface="Arial"/>
              </a:defRPr>
            </a:lvl6pPr>
            <a:lvl7pPr algn="ctr">
              <a:defRPr sz="1950" b="0">
                <a:solidFill>
                  <a:srgbClr val="172D3D"/>
                </a:solidFill>
                <a:latin typeface="Arial"/>
                <a:ea typeface="Arial"/>
                <a:cs typeface="Arial"/>
              </a:defRPr>
            </a:lvl7pPr>
            <a:lvl8pPr algn="ctr">
              <a:defRPr sz="1950" b="0">
                <a:solidFill>
                  <a:srgbClr val="172D3D"/>
                </a:solidFill>
                <a:latin typeface="Arial"/>
                <a:ea typeface="Arial"/>
                <a:cs typeface="Arial"/>
              </a:defRPr>
            </a:lvl8pPr>
            <a:lvl9pPr algn="ctr">
              <a:defRPr sz="1950" b="0">
                <a:solidFill>
                  <a:srgbClr val="172D3D"/>
                </a:solidFill>
                <a:latin typeface="Arial"/>
                <a:ea typeface="Arial"/>
                <a:cs typeface="Arial"/>
              </a:defRPr>
            </a:lvl9pPr>
          </a:lstStyle>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Bundle mới</a:t>
            </a:r>
          </a:p>
          <a:p xmlns:a="http://schemas.openxmlformats.org/drawingml/2006/main">
            <a:pPr algn="ctr">
              <a:defRPr sz="1950" b="0">
                <a:solidFill>
                  <a:srgbClr val="172D3D"/>
                </a:solidFill>
                <a:latin typeface="Arial"/>
                <a:ea typeface="Arial"/>
                <a:cs typeface="Arial"/>
              </a:defRPr>
            </a:pPr>
            <a:r>
              <a:rPr sz="1950" b="0">
                <a:solidFill>
                  <a:srgbClr val="172D3D"/>
                </a:solidFill>
                <a:latin typeface="Arial"/>
                <a:ea typeface="Arial"/>
                <a:cs typeface="Arial"/>
              </a:rPr>
              <a:t>Verify checksum</a:t>
            </a:r>
          </a:p>
        </p:txBody>
      </p:sp>
      <p:sp>
        <p:nvSpPr>
          <p:cNvPr id="11" name="Đổi pointer nguyên tử Reload và kiểm tra version">
            <a:extLst xmlns:a="http://schemas.openxmlformats.org/drawingml/2006/main">
              <a:ext uri="{FF2B5EF4-FFF2-40B4-BE49-F238E27FC236}">
                <a16:creationId xmlns:a16="http://schemas.microsoft.com/office/drawing/2014/main" id="{A0CCC047-7743-444A-ACE8-458DFF2600CF}"/>
              </a:ext>
            </a:extLst>
          </p:cNvPr>
          <p:cNvSpPr>
            <a:spLocks xmlns:a="http://schemas.openxmlformats.org/drawingml/2006/main" noGrp="1"/>
          </p:cNvSpPr>
          <p:nvPr/>
        </p:nvSpPr>
        <p:spPr>
          <a:xfrm xmlns:a="http://schemas.openxmlformats.org/drawingml/2006/main">
            <a:off x="666750" y="4524375"/>
            <a:ext cx="2952750" cy="1047750"/>
          </a:xfrm>
          <a:prstGeom xmlns:a="http://schemas.openxmlformats.org/drawingml/2006/main" prst="rect">
            <a:avLst/>
          </a:prstGeom>
          <a:solidFill xmlns:a="http://schemas.openxmlformats.org/drawingml/2006/main">
            <a:srgbClr val="F5F1E9"/>
          </a:solidFill>
          <a:ln xmlns:a="http://schemas.openxmlformats.org/drawingml/2006/main" w="14288">
            <a:solidFill>
              <a:srgbClr val="172D3D"/>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72D3D"/>
                </a:solidFill>
                <a:latin typeface="Arial"/>
                <a:ea typeface="Arial"/>
                <a:cs typeface="Arial"/>
              </a:defRPr>
            </a:defPPr>
            <a:lvl1pPr algn="ctr">
              <a:defRPr sz="1875" b="0">
                <a:solidFill>
                  <a:srgbClr val="172D3D"/>
                </a:solidFill>
                <a:latin typeface="Arial"/>
                <a:ea typeface="Arial"/>
                <a:cs typeface="Arial"/>
              </a:defRPr>
            </a:lvl1pPr>
            <a:lvl2pPr algn="ctr">
              <a:defRPr sz="1875" b="0">
                <a:solidFill>
                  <a:srgbClr val="172D3D"/>
                </a:solidFill>
                <a:latin typeface="Arial"/>
                <a:ea typeface="Arial"/>
                <a:cs typeface="Arial"/>
              </a:defRPr>
            </a:lvl2pPr>
            <a:lvl3pPr algn="ctr">
              <a:defRPr sz="1875" b="0">
                <a:solidFill>
                  <a:srgbClr val="172D3D"/>
                </a:solidFill>
                <a:latin typeface="Arial"/>
                <a:ea typeface="Arial"/>
                <a:cs typeface="Arial"/>
              </a:defRPr>
            </a:lvl3pPr>
            <a:lvl4pPr algn="ctr">
              <a:defRPr sz="1875" b="0">
                <a:solidFill>
                  <a:srgbClr val="172D3D"/>
                </a:solidFill>
                <a:latin typeface="Arial"/>
                <a:ea typeface="Arial"/>
                <a:cs typeface="Arial"/>
              </a:defRPr>
            </a:lvl4pPr>
            <a:lvl5pPr algn="ctr">
              <a:defRPr sz="1875" b="0">
                <a:solidFill>
                  <a:srgbClr val="172D3D"/>
                </a:solidFill>
                <a:latin typeface="Arial"/>
                <a:ea typeface="Arial"/>
                <a:cs typeface="Arial"/>
              </a:defRPr>
            </a:lvl5pPr>
            <a:lvl6pPr algn="ctr">
              <a:defRPr sz="1875" b="0">
                <a:solidFill>
                  <a:srgbClr val="172D3D"/>
                </a:solidFill>
                <a:latin typeface="Arial"/>
                <a:ea typeface="Arial"/>
                <a:cs typeface="Arial"/>
              </a:defRPr>
            </a:lvl6pPr>
            <a:lvl7pPr algn="ctr">
              <a:defRPr sz="1875" b="0">
                <a:solidFill>
                  <a:srgbClr val="172D3D"/>
                </a:solidFill>
                <a:latin typeface="Arial"/>
                <a:ea typeface="Arial"/>
                <a:cs typeface="Arial"/>
              </a:defRPr>
            </a:lvl7pPr>
            <a:lvl8pPr algn="ctr">
              <a:defRPr sz="1875" b="0">
                <a:solidFill>
                  <a:srgbClr val="172D3D"/>
                </a:solidFill>
                <a:latin typeface="Arial"/>
                <a:ea typeface="Arial"/>
                <a:cs typeface="Arial"/>
              </a:defRPr>
            </a:lvl8pPr>
            <a:lvl9pPr algn="ctr">
              <a:defRPr sz="1875" b="0">
                <a:solidFill>
                  <a:srgbClr val="172D3D"/>
                </a:solidFill>
                <a:latin typeface="Arial"/>
                <a:ea typeface="Arial"/>
                <a:cs typeface="Arial"/>
              </a:defRPr>
            </a:lvl9pPr>
          </a:lstStyle>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Đổi pointer nguyên tử</a:t>
            </a:r>
          </a:p>
          <a:p xmlns:a="http://schemas.openxmlformats.org/drawingml/2006/main">
            <a:pPr algn="ctr">
              <a:defRPr sz="1875" b="0">
                <a:solidFill>
                  <a:srgbClr val="172D3D"/>
                </a:solidFill>
                <a:latin typeface="Arial"/>
                <a:ea typeface="Arial"/>
                <a:cs typeface="Arial"/>
              </a:defRPr>
            </a:pPr>
            <a:r>
              <a:rPr sz="1875" b="0">
                <a:solidFill>
                  <a:srgbClr val="172D3D"/>
                </a:solidFill>
                <a:latin typeface="Arial"/>
                <a:ea typeface="Arial"/>
                <a:cs typeface="Arial"/>
              </a:rPr>
              <a:t>Reload và kiểm tra version</a:t>
            </a:r>
          </a:p>
        </p:txBody>
      </p:sp>
      <p:sp>
        <p:nvSpPr>
          <p:cNvPr id="17" name="Đạt">
            <a:extLst xmlns:a="http://schemas.openxmlformats.org/drawingml/2006/main">
              <a:ext uri="{FF2B5EF4-FFF2-40B4-BE49-F238E27FC236}">
                <a16:creationId xmlns:a16="http://schemas.microsoft.com/office/drawing/2014/main" id="{9D6F5283-4244-47D8-B984-0033419CF169}"/>
              </a:ext>
            </a:extLst>
          </p:cNvPr>
          <p:cNvSpPr>
            <a:spLocks xmlns:a="http://schemas.openxmlformats.org/drawingml/2006/main" noGrp="1"/>
          </p:cNvSpPr>
          <p:nvPr/>
        </p:nvSpPr>
        <p:spPr>
          <a:xfrm xmlns:a="http://schemas.openxmlformats.org/drawingml/2006/main">
            <a:off x="7572375" y="35052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97E7C"/>
                </a:solidFill>
                <a:latin typeface="Arial"/>
                <a:ea typeface="Arial"/>
                <a:cs typeface="Arial"/>
              </a:defRPr>
            </a:defPPr>
            <a:lvl1pPr algn="l">
              <a:defRPr sz="1725" b="1">
                <a:solidFill>
                  <a:srgbClr val="297E7C"/>
                </a:solidFill>
                <a:latin typeface="Arial"/>
                <a:ea typeface="Arial"/>
                <a:cs typeface="Arial"/>
              </a:defRPr>
            </a:lvl1pPr>
            <a:lvl2pPr algn="l">
              <a:defRPr sz="1725" b="1">
                <a:solidFill>
                  <a:srgbClr val="297E7C"/>
                </a:solidFill>
                <a:latin typeface="Arial"/>
                <a:ea typeface="Arial"/>
                <a:cs typeface="Arial"/>
              </a:defRPr>
            </a:lvl2pPr>
            <a:lvl3pPr algn="l">
              <a:defRPr sz="1725" b="1">
                <a:solidFill>
                  <a:srgbClr val="297E7C"/>
                </a:solidFill>
                <a:latin typeface="Arial"/>
                <a:ea typeface="Arial"/>
                <a:cs typeface="Arial"/>
              </a:defRPr>
            </a:lvl3pPr>
            <a:lvl4pPr algn="l">
              <a:defRPr sz="1725" b="1">
                <a:solidFill>
                  <a:srgbClr val="297E7C"/>
                </a:solidFill>
                <a:latin typeface="Arial"/>
                <a:ea typeface="Arial"/>
                <a:cs typeface="Arial"/>
              </a:defRPr>
            </a:lvl4pPr>
            <a:lvl5pPr algn="l">
              <a:defRPr sz="1725" b="1">
                <a:solidFill>
                  <a:srgbClr val="297E7C"/>
                </a:solidFill>
                <a:latin typeface="Arial"/>
                <a:ea typeface="Arial"/>
                <a:cs typeface="Arial"/>
              </a:defRPr>
            </a:lvl5pPr>
            <a:lvl6pPr algn="l">
              <a:defRPr sz="1725" b="1">
                <a:solidFill>
                  <a:srgbClr val="297E7C"/>
                </a:solidFill>
                <a:latin typeface="Arial"/>
                <a:ea typeface="Arial"/>
                <a:cs typeface="Arial"/>
              </a:defRPr>
            </a:lvl6pPr>
            <a:lvl7pPr algn="l">
              <a:defRPr sz="1725" b="1">
                <a:solidFill>
                  <a:srgbClr val="297E7C"/>
                </a:solidFill>
                <a:latin typeface="Arial"/>
                <a:ea typeface="Arial"/>
                <a:cs typeface="Arial"/>
              </a:defRPr>
            </a:lvl7pPr>
            <a:lvl8pPr algn="l">
              <a:defRPr sz="1725" b="1">
                <a:solidFill>
                  <a:srgbClr val="297E7C"/>
                </a:solidFill>
                <a:latin typeface="Arial"/>
                <a:ea typeface="Arial"/>
                <a:cs typeface="Arial"/>
              </a:defRPr>
            </a:lvl8pPr>
            <a:lvl9pPr algn="l">
              <a:defRPr sz="1725" b="1">
                <a:solidFill>
                  <a:srgbClr val="297E7C"/>
                </a:solidFill>
                <a:latin typeface="Arial"/>
                <a:ea typeface="Arial"/>
                <a:cs typeface="Arial"/>
              </a:defRPr>
            </a:lvl9pPr>
          </a:lstStyle>
          <a:p xmlns:a="http://schemas.openxmlformats.org/drawingml/2006/main">
            <a:pPr algn="l">
              <a:defRPr sz="1725" b="1">
                <a:solidFill>
                  <a:srgbClr val="297E7C"/>
                </a:solidFill>
                <a:latin typeface="Arial"/>
                <a:ea typeface="Arial"/>
                <a:cs typeface="Arial"/>
              </a:defRPr>
            </a:pPr>
            <a:r>
              <a:rPr sz="1725" b="1">
                <a:solidFill>
                  <a:srgbClr val="297E7C"/>
                </a:solidFill>
                <a:latin typeface="Arial"/>
                <a:ea typeface="Arial"/>
                <a:cs typeface="Arial"/>
              </a:rPr>
              <a:t>Đạt</a:t>
            </a:r>
          </a:p>
        </p:txBody>
      </p:sp>
      <p:sp>
        <p:nvSpPr>
          <p:cNvPr id="18" name="Không đạt">
            <a:extLst xmlns:a="http://schemas.openxmlformats.org/drawingml/2006/main">
              <a:ext uri="{FF2B5EF4-FFF2-40B4-BE49-F238E27FC236}">
                <a16:creationId xmlns:a16="http://schemas.microsoft.com/office/drawing/2014/main" id="{17FC4776-796F-4852-B38A-4748A008B18F}"/>
              </a:ext>
            </a:extLst>
          </p:cNvPr>
          <p:cNvSpPr>
            <a:spLocks xmlns:a="http://schemas.openxmlformats.org/drawingml/2006/main" noGrp="1"/>
          </p:cNvSpPr>
          <p:nvPr/>
        </p:nvSpPr>
        <p:spPr>
          <a:xfrm xmlns:a="http://schemas.openxmlformats.org/drawingml/2006/main">
            <a:off x="10572750" y="379095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Không đạt</a:t>
            </a:r>
          </a:p>
        </p:txBody>
      </p:sp>
      <p:sp>
        <p:nvSpPr>
          <p:cNvPr id="19" name="Gate kiểm tra cohort, latency và RMSE khi phù hợp. TEST nghiên cứ">
            <a:extLst xmlns:a="http://schemas.openxmlformats.org/drawingml/2006/main">
              <a:ext uri="{FF2B5EF4-FFF2-40B4-BE49-F238E27FC236}">
                <a16:creationId xmlns:a16="http://schemas.microsoft.com/office/drawing/2014/main" id="{856ECF0A-8517-409C-8CA2-3D2B29714D6F}"/>
              </a:ext>
            </a:extLst>
          </p:cNvPr>
          <p:cNvSpPr>
            <a:spLocks xmlns:a="http://schemas.openxmlformats.org/drawingml/2006/main" noGrp="1"/>
          </p:cNvSpPr>
          <p:nvPr/>
        </p:nvSpPr>
        <p:spPr>
          <a:xfrm xmlns:a="http://schemas.openxmlformats.org/drawingml/2006/main">
            <a:off x="666750" y="58578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4"/>
                </a:solidFill>
                <a:latin typeface="Arial"/>
                <a:ea typeface="Arial"/>
                <a:cs typeface="Arial"/>
              </a:defRPr>
            </a:defPPr>
            <a:lvl1pPr algn="l">
              <a:defRPr sz="1725" b="0">
                <a:solidFill>
                  <a:srgbClr val="526674"/>
                </a:solidFill>
                <a:latin typeface="Arial"/>
                <a:ea typeface="Arial"/>
                <a:cs typeface="Arial"/>
              </a:defRPr>
            </a:lvl1pPr>
            <a:lvl2pPr algn="l">
              <a:defRPr sz="1725" b="0">
                <a:solidFill>
                  <a:srgbClr val="526674"/>
                </a:solidFill>
                <a:latin typeface="Arial"/>
                <a:ea typeface="Arial"/>
                <a:cs typeface="Arial"/>
              </a:defRPr>
            </a:lvl2pPr>
            <a:lvl3pPr algn="l">
              <a:defRPr sz="1725" b="0">
                <a:solidFill>
                  <a:srgbClr val="526674"/>
                </a:solidFill>
                <a:latin typeface="Arial"/>
                <a:ea typeface="Arial"/>
                <a:cs typeface="Arial"/>
              </a:defRPr>
            </a:lvl3pPr>
            <a:lvl4pPr algn="l">
              <a:defRPr sz="1725" b="0">
                <a:solidFill>
                  <a:srgbClr val="526674"/>
                </a:solidFill>
                <a:latin typeface="Arial"/>
                <a:ea typeface="Arial"/>
                <a:cs typeface="Arial"/>
              </a:defRPr>
            </a:lvl4pPr>
            <a:lvl5pPr algn="l">
              <a:defRPr sz="1725" b="0">
                <a:solidFill>
                  <a:srgbClr val="526674"/>
                </a:solidFill>
                <a:latin typeface="Arial"/>
                <a:ea typeface="Arial"/>
                <a:cs typeface="Arial"/>
              </a:defRPr>
            </a:lvl5pPr>
            <a:lvl6pPr algn="l">
              <a:defRPr sz="1725" b="0">
                <a:solidFill>
                  <a:srgbClr val="526674"/>
                </a:solidFill>
                <a:latin typeface="Arial"/>
                <a:ea typeface="Arial"/>
                <a:cs typeface="Arial"/>
              </a:defRPr>
            </a:lvl6pPr>
            <a:lvl7pPr algn="l">
              <a:defRPr sz="1725" b="0">
                <a:solidFill>
                  <a:srgbClr val="526674"/>
                </a:solidFill>
                <a:latin typeface="Arial"/>
                <a:ea typeface="Arial"/>
                <a:cs typeface="Arial"/>
              </a:defRPr>
            </a:lvl7pPr>
            <a:lvl8pPr algn="l">
              <a:defRPr sz="1725" b="0">
                <a:solidFill>
                  <a:srgbClr val="526674"/>
                </a:solidFill>
                <a:latin typeface="Arial"/>
                <a:ea typeface="Arial"/>
                <a:cs typeface="Arial"/>
              </a:defRPr>
            </a:lvl8pPr>
            <a:lvl9pPr algn="l">
              <a:defRPr sz="1725" b="0">
                <a:solidFill>
                  <a:srgbClr val="526674"/>
                </a:solidFill>
                <a:latin typeface="Arial"/>
                <a:ea typeface="Arial"/>
                <a:cs typeface="Arial"/>
              </a:defRPr>
            </a:lvl9pPr>
          </a:lstStyle>
          <a:p xmlns:a="http://schemas.openxmlformats.org/drawingml/2006/main">
            <a:pPr algn="l">
              <a:defRPr sz="1725" b="0">
                <a:solidFill>
                  <a:srgbClr val="526674"/>
                </a:solidFill>
                <a:latin typeface="Arial"/>
                <a:ea typeface="Arial"/>
                <a:cs typeface="Arial"/>
              </a:defRPr>
            </a:pPr>
            <a:r>
              <a:rPr sz="1725" b="0">
                <a:solidFill>
                  <a:srgbClr val="526674"/>
                </a:solidFill>
                <a:latin typeface="Arial"/>
                <a:ea typeface="Arial"/>
                <a:cs typeface="Arial"/>
              </a:rPr>
              <a:t>Gate kiểm tra cohort, latency và RMSE khi phù hợp. TEST nghiên cứu không chọn model serving.</a:t>
            </a:r>
          </a:p>
        </p:txBody>
      </p:sp>
    </p:spTree>
    <p:extLst>
      <p:ext uri="{BB962C8B-B14F-4D97-AF65-F5344CB8AC3E}">
        <p14:creationId xmlns:p14="http://schemas.microsoft.com/office/powerpoint/2010/main" val="350802784"/>
      </p:ext>
    </p:extLst>
  </p:cSld>
</p:sld>
</file>

<file path=ppt/slides/slide1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B2494614-FB8A-4213-A5D5-04F0694A1F97}"/>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Nguyên mẫu ứng dụng phim">
            <a:extLst xmlns:a="http://schemas.openxmlformats.org/drawingml/2006/main">
              <a:ext uri="{FF2B5EF4-FFF2-40B4-BE49-F238E27FC236}">
                <a16:creationId xmlns:a16="http://schemas.microsoft.com/office/drawing/2014/main" id="{B9180222-7D52-4B42-A835-721910AE38B3}"/>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Nguyên mẫu ứng dụng phim</a:t>
            </a:r>
          </a:p>
        </p:txBody>
      </p:sp>
      <p:sp>
        <p:nvSpPr>
          <p:cNvPr id="3" name="">
            <a:extLst xmlns:a="http://schemas.openxmlformats.org/drawingml/2006/main">
              <a:ext uri="{FF2B5EF4-FFF2-40B4-BE49-F238E27FC236}">
                <a16:creationId xmlns:a16="http://schemas.microsoft.com/office/drawing/2014/main" id="{22609504-0833-4BB8-B66F-312D8D8E7E6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AA8B5B78-033C-4446-8C3A-E9775AC4FC97}"/>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5">
            <a:extLst xmlns:a="http://schemas.openxmlformats.org/drawingml/2006/main">
              <a:ext uri="{FF2B5EF4-FFF2-40B4-BE49-F238E27FC236}">
                <a16:creationId xmlns:a16="http://schemas.microsoft.com/office/drawing/2014/main" id="{1433D9C2-4AC8-4B56-9F21-B65593CADBA3}"/>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15</a:t>
            </a:r>
          </a:p>
        </p:txBody>
      </p:sp>
      <p:sp>
        <p:nvSpPr>
          <p:cNvPr id="6" name="Các chức năng chính">
            <a:extLst xmlns:a="http://schemas.openxmlformats.org/drawingml/2006/main">
              <a:ext uri="{FF2B5EF4-FFF2-40B4-BE49-F238E27FC236}">
                <a16:creationId xmlns:a16="http://schemas.microsoft.com/office/drawing/2014/main" id="{1F87FD3F-D8B0-4B00-821C-A550BFBF08A6}"/>
              </a:ext>
            </a:extLst>
          </p:cNvPr>
          <p:cNvSpPr>
            <a:spLocks xmlns:a="http://schemas.openxmlformats.org/drawingml/2006/main" noGrp="1"/>
          </p:cNvSpPr>
          <p:nvPr/>
        </p:nvSpPr>
        <p:spPr>
          <a:xfrm xmlns:a="http://schemas.openxmlformats.org/drawingml/2006/main">
            <a:off x="666750" y="22383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E7C"/>
                </a:solidFill>
                <a:latin typeface="Arial"/>
                <a:ea typeface="Arial"/>
                <a:cs typeface="Arial"/>
              </a:defRPr>
            </a:defPPr>
            <a:lvl1pPr algn="l">
              <a:defRPr sz="2250" b="1">
                <a:solidFill>
                  <a:srgbClr val="297E7C"/>
                </a:solidFill>
                <a:latin typeface="Arial"/>
                <a:ea typeface="Arial"/>
                <a:cs typeface="Arial"/>
              </a:defRPr>
            </a:lvl1pPr>
            <a:lvl2pPr algn="l">
              <a:defRPr sz="2250" b="1">
                <a:solidFill>
                  <a:srgbClr val="297E7C"/>
                </a:solidFill>
                <a:latin typeface="Arial"/>
                <a:ea typeface="Arial"/>
                <a:cs typeface="Arial"/>
              </a:defRPr>
            </a:lvl2pPr>
            <a:lvl3pPr algn="l">
              <a:defRPr sz="2250" b="1">
                <a:solidFill>
                  <a:srgbClr val="297E7C"/>
                </a:solidFill>
                <a:latin typeface="Arial"/>
                <a:ea typeface="Arial"/>
                <a:cs typeface="Arial"/>
              </a:defRPr>
            </a:lvl3pPr>
            <a:lvl4pPr algn="l">
              <a:defRPr sz="2250" b="1">
                <a:solidFill>
                  <a:srgbClr val="297E7C"/>
                </a:solidFill>
                <a:latin typeface="Arial"/>
                <a:ea typeface="Arial"/>
                <a:cs typeface="Arial"/>
              </a:defRPr>
            </a:lvl4pPr>
            <a:lvl5pPr algn="l">
              <a:defRPr sz="2250" b="1">
                <a:solidFill>
                  <a:srgbClr val="297E7C"/>
                </a:solidFill>
                <a:latin typeface="Arial"/>
                <a:ea typeface="Arial"/>
                <a:cs typeface="Arial"/>
              </a:defRPr>
            </a:lvl5pPr>
            <a:lvl6pPr algn="l">
              <a:defRPr sz="2250" b="1">
                <a:solidFill>
                  <a:srgbClr val="297E7C"/>
                </a:solidFill>
                <a:latin typeface="Arial"/>
                <a:ea typeface="Arial"/>
                <a:cs typeface="Arial"/>
              </a:defRPr>
            </a:lvl6pPr>
            <a:lvl7pPr algn="l">
              <a:defRPr sz="2250" b="1">
                <a:solidFill>
                  <a:srgbClr val="297E7C"/>
                </a:solidFill>
                <a:latin typeface="Arial"/>
                <a:ea typeface="Arial"/>
                <a:cs typeface="Arial"/>
              </a:defRPr>
            </a:lvl7pPr>
            <a:lvl8pPr algn="l">
              <a:defRPr sz="2250" b="1">
                <a:solidFill>
                  <a:srgbClr val="297E7C"/>
                </a:solidFill>
                <a:latin typeface="Arial"/>
                <a:ea typeface="Arial"/>
                <a:cs typeface="Arial"/>
              </a:defRPr>
            </a:lvl8pPr>
            <a:lvl9pPr algn="l">
              <a:defRPr sz="2250" b="1">
                <a:solidFill>
                  <a:srgbClr val="297E7C"/>
                </a:solidFill>
                <a:latin typeface="Arial"/>
                <a:ea typeface="Arial"/>
                <a:cs typeface="Arial"/>
              </a:defRPr>
            </a:lvl9pPr>
          </a:lstStyle>
          <a:p xmlns:a="http://schemas.openxmlformats.org/drawingml/2006/main">
            <a:pPr algn="l">
              <a:defRPr sz="2250" b="1">
                <a:solidFill>
                  <a:srgbClr val="297E7C"/>
                </a:solidFill>
                <a:latin typeface="Arial"/>
                <a:ea typeface="Arial"/>
                <a:cs typeface="Arial"/>
              </a:defRPr>
            </a:pPr>
            <a:r>
              <a:rPr sz="2250" b="1">
                <a:solidFill>
                  <a:srgbClr val="297E7C"/>
                </a:solidFill>
                <a:latin typeface="Arial"/>
                <a:ea typeface="Arial"/>
                <a:cs typeface="Arial"/>
              </a:rPr>
              <a:t>Các chức năng chính</a:t>
            </a:r>
          </a:p>
        </p:txBody>
      </p:sp>
      <p:sp>
        <p:nvSpPr>
          <p:cNvPr id="7" name="Tài khoản và phiên&#10;Tìm kiếm catalog&#10;Gợi ý theo bundle phục vụ&#10;Sao">
            <a:extLst xmlns:a="http://schemas.openxmlformats.org/drawingml/2006/main">
              <a:ext uri="{FF2B5EF4-FFF2-40B4-BE49-F238E27FC236}">
                <a16:creationId xmlns:a16="http://schemas.microsoft.com/office/drawing/2014/main" id="{DAD39838-DD3A-4941-853B-C4E1DD4B8CBD}"/>
              </a:ext>
            </a:extLst>
          </p:cNvPr>
          <p:cNvSpPr>
            <a:spLocks xmlns:a="http://schemas.openxmlformats.org/drawingml/2006/main" noGrp="1"/>
          </p:cNvSpPr>
          <p:nvPr/>
        </p:nvSpPr>
        <p:spPr>
          <a:xfrm xmlns:a="http://schemas.openxmlformats.org/drawingml/2006/main">
            <a:off x="666750" y="3057525"/>
            <a:ext cx="3524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Tài khoản và phiên</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Tìm kiếm catalog</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Gợi ý theo bundle phục vụ</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Sao và favorite</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Player mô phỏng có resume</a:t>
            </a:r>
          </a:p>
        </p:txBody>
      </p:sp>
      <p:pic>
        <p:nvPicPr>
          <p:cNvPr id="8" name="">
            <a:extLst xmlns:a="http://schemas.openxmlformats.org/drawingml/2006/main">
              <a:ext uri="{FF2B5EF4-FFF2-40B4-BE49-F238E27FC236}">
                <a16:creationId xmlns:a16="http://schemas.microsoft.com/office/drawing/2014/main" id="{44624A4C-6124-49DA-8B56-FF3F81D07280}"/>
              </a:ext>
            </a:extLst>
          </p:cNvPr>
          <p:cNvPicPr>
            <a:picLocks xmlns:a="http://schemas.openxmlformats.org/drawingml/2006/main" noChangeAspect="1"/>
          </p:cNvPicPr>
          <p:nvPr/>
        </p:nvPicPr>
        <p:blipFill>
          <a:blip xmlns:r="http://schemas.openxmlformats.org/officeDocument/2006/relationships" xmlns:a="http://schemas.openxmlformats.org/drawingml/2006/main" r:embed="R3bfed6e7b6e94e07"/>
          <a:stretch xmlns:a="http://schemas.openxmlformats.org/drawingml/2006/main"/>
        </p:blipFill>
        <p:spPr>
          <a:xfrm xmlns:a="http://schemas.openxmlformats.org/drawingml/2006/main">
            <a:off x="4776796" y="1990725"/>
            <a:ext cx="1733533" cy="3857625"/>
          </a:xfrm>
          <a:prstGeom xmlns:a="http://schemas.openxmlformats.org/drawingml/2006/main" prst="rect">
            <a:avLst/>
          </a:prstGeom>
        </p:spPr>
      </p:pic>
      <p:sp>
        <p:nvSpPr>
          <p:cNvPr id="9" name="Tài khoản">
            <a:extLst xmlns:a="http://schemas.openxmlformats.org/drawingml/2006/main">
              <a:ext uri="{FF2B5EF4-FFF2-40B4-BE49-F238E27FC236}">
                <a16:creationId xmlns:a16="http://schemas.microsoft.com/office/drawing/2014/main" id="{C6DDF155-BCDF-46A7-831B-AFDDF9048AE2}"/>
              </a:ext>
            </a:extLst>
          </p:cNvPr>
          <p:cNvSpPr>
            <a:spLocks xmlns:a="http://schemas.openxmlformats.org/drawingml/2006/main" noGrp="1"/>
          </p:cNvSpPr>
          <p:nvPr/>
        </p:nvSpPr>
        <p:spPr>
          <a:xfrm xmlns:a="http://schemas.openxmlformats.org/drawingml/2006/main">
            <a:off x="4524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Tài khoản</a:t>
            </a:r>
          </a:p>
        </p:txBody>
      </p:sp>
      <p:pic>
        <p:nvPicPr>
          <p:cNvPr id="10" name="">
            <a:extLst xmlns:a="http://schemas.openxmlformats.org/drawingml/2006/main">
              <a:ext uri="{FF2B5EF4-FFF2-40B4-BE49-F238E27FC236}">
                <a16:creationId xmlns:a16="http://schemas.microsoft.com/office/drawing/2014/main" id="{DA0F972E-1CDE-4B08-A540-47E53AAC6D9B}"/>
              </a:ext>
            </a:extLst>
          </p:cNvPr>
          <p:cNvPicPr>
            <a:picLocks xmlns:a="http://schemas.openxmlformats.org/drawingml/2006/main" noChangeAspect="1"/>
          </p:cNvPicPr>
          <p:nvPr/>
        </p:nvPicPr>
        <p:blipFill>
          <a:blip xmlns:r="http://schemas.openxmlformats.org/officeDocument/2006/relationships" xmlns:a="http://schemas.openxmlformats.org/drawingml/2006/main" r:embed="Rd112567c6ee44665"/>
          <a:stretch xmlns:a="http://schemas.openxmlformats.org/drawingml/2006/main"/>
        </p:blipFill>
        <p:spPr>
          <a:xfrm xmlns:a="http://schemas.openxmlformats.org/drawingml/2006/main">
            <a:off x="7062796" y="1990725"/>
            <a:ext cx="1733533" cy="3857625"/>
          </a:xfrm>
          <a:prstGeom xmlns:a="http://schemas.openxmlformats.org/drawingml/2006/main" prst="rect">
            <a:avLst/>
          </a:prstGeom>
        </p:spPr>
      </p:pic>
      <p:sp>
        <p:nvSpPr>
          <p:cNvPr id="11" name="Tìm kiếm">
            <a:extLst xmlns:a="http://schemas.openxmlformats.org/drawingml/2006/main">
              <a:ext uri="{FF2B5EF4-FFF2-40B4-BE49-F238E27FC236}">
                <a16:creationId xmlns:a16="http://schemas.microsoft.com/office/drawing/2014/main" id="{DC589CED-F5A5-4AA7-91E5-1A335839F38E}"/>
              </a:ext>
            </a:extLst>
          </p:cNvPr>
          <p:cNvSpPr>
            <a:spLocks xmlns:a="http://schemas.openxmlformats.org/drawingml/2006/main" noGrp="1"/>
          </p:cNvSpPr>
          <p:nvPr/>
        </p:nvSpPr>
        <p:spPr>
          <a:xfrm xmlns:a="http://schemas.openxmlformats.org/drawingml/2006/main">
            <a:off x="6810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Tìm kiếm</a:t>
            </a:r>
          </a:p>
        </p:txBody>
      </p:sp>
      <p:pic>
        <p:nvPicPr>
          <p:cNvPr id="12" name="">
            <a:extLst xmlns:a="http://schemas.openxmlformats.org/drawingml/2006/main">
              <a:ext uri="{FF2B5EF4-FFF2-40B4-BE49-F238E27FC236}">
                <a16:creationId xmlns:a16="http://schemas.microsoft.com/office/drawing/2014/main" id="{297FD69D-9343-4B5D-99CD-54D23AB22A4C}"/>
              </a:ext>
            </a:extLst>
          </p:cNvPr>
          <p:cNvPicPr>
            <a:picLocks xmlns:a="http://schemas.openxmlformats.org/drawingml/2006/main" noChangeAspect="1"/>
          </p:cNvPicPr>
          <p:nvPr/>
        </p:nvPicPr>
        <p:blipFill>
          <a:blip xmlns:r="http://schemas.openxmlformats.org/officeDocument/2006/relationships" xmlns:a="http://schemas.openxmlformats.org/drawingml/2006/main" r:embed="R52d8e4f8d4be4b38"/>
          <a:stretch xmlns:a="http://schemas.openxmlformats.org/drawingml/2006/main"/>
        </p:blipFill>
        <p:spPr>
          <a:xfrm xmlns:a="http://schemas.openxmlformats.org/drawingml/2006/main">
            <a:off x="9347597" y="1990725"/>
            <a:ext cx="1735931" cy="3857625"/>
          </a:xfrm>
          <a:prstGeom xmlns:a="http://schemas.openxmlformats.org/drawingml/2006/main" prst="rect">
            <a:avLst/>
          </a:prstGeom>
        </p:spPr>
      </p:pic>
      <p:sp>
        <p:nvSpPr>
          <p:cNvPr id="13" name="Chi tiết phim">
            <a:extLst xmlns:a="http://schemas.openxmlformats.org/drawingml/2006/main">
              <a:ext uri="{FF2B5EF4-FFF2-40B4-BE49-F238E27FC236}">
                <a16:creationId xmlns:a16="http://schemas.microsoft.com/office/drawing/2014/main" id="{4550E8EA-8D15-4A33-AB06-126BB7475628}"/>
              </a:ext>
            </a:extLst>
          </p:cNvPr>
          <p:cNvSpPr>
            <a:spLocks xmlns:a="http://schemas.openxmlformats.org/drawingml/2006/main" noGrp="1"/>
          </p:cNvSpPr>
          <p:nvPr/>
        </p:nvSpPr>
        <p:spPr>
          <a:xfrm xmlns:a="http://schemas.openxmlformats.org/drawingml/2006/main">
            <a:off x="9096375" y="16954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72D3D"/>
                </a:solidFill>
                <a:latin typeface="Arial"/>
                <a:ea typeface="Arial"/>
                <a:cs typeface="Arial"/>
              </a:defRPr>
            </a:defPPr>
            <a:lvl1pPr algn="ctr">
              <a:defRPr sz="1725" b="1">
                <a:solidFill>
                  <a:srgbClr val="172D3D"/>
                </a:solidFill>
                <a:latin typeface="Arial"/>
                <a:ea typeface="Arial"/>
                <a:cs typeface="Arial"/>
              </a:defRPr>
            </a:lvl1pPr>
            <a:lvl2pPr algn="ctr">
              <a:defRPr sz="1725" b="1">
                <a:solidFill>
                  <a:srgbClr val="172D3D"/>
                </a:solidFill>
                <a:latin typeface="Arial"/>
                <a:ea typeface="Arial"/>
                <a:cs typeface="Arial"/>
              </a:defRPr>
            </a:lvl2pPr>
            <a:lvl3pPr algn="ctr">
              <a:defRPr sz="1725" b="1">
                <a:solidFill>
                  <a:srgbClr val="172D3D"/>
                </a:solidFill>
                <a:latin typeface="Arial"/>
                <a:ea typeface="Arial"/>
                <a:cs typeface="Arial"/>
              </a:defRPr>
            </a:lvl3pPr>
            <a:lvl4pPr algn="ctr">
              <a:defRPr sz="1725" b="1">
                <a:solidFill>
                  <a:srgbClr val="172D3D"/>
                </a:solidFill>
                <a:latin typeface="Arial"/>
                <a:ea typeface="Arial"/>
                <a:cs typeface="Arial"/>
              </a:defRPr>
            </a:lvl4pPr>
            <a:lvl5pPr algn="ctr">
              <a:defRPr sz="1725" b="1">
                <a:solidFill>
                  <a:srgbClr val="172D3D"/>
                </a:solidFill>
                <a:latin typeface="Arial"/>
                <a:ea typeface="Arial"/>
                <a:cs typeface="Arial"/>
              </a:defRPr>
            </a:lvl5pPr>
            <a:lvl6pPr algn="ctr">
              <a:defRPr sz="1725" b="1">
                <a:solidFill>
                  <a:srgbClr val="172D3D"/>
                </a:solidFill>
                <a:latin typeface="Arial"/>
                <a:ea typeface="Arial"/>
                <a:cs typeface="Arial"/>
              </a:defRPr>
            </a:lvl6pPr>
            <a:lvl7pPr algn="ctr">
              <a:defRPr sz="1725" b="1">
                <a:solidFill>
                  <a:srgbClr val="172D3D"/>
                </a:solidFill>
                <a:latin typeface="Arial"/>
                <a:ea typeface="Arial"/>
                <a:cs typeface="Arial"/>
              </a:defRPr>
            </a:lvl7pPr>
            <a:lvl8pPr algn="ctr">
              <a:defRPr sz="1725" b="1">
                <a:solidFill>
                  <a:srgbClr val="172D3D"/>
                </a:solidFill>
                <a:latin typeface="Arial"/>
                <a:ea typeface="Arial"/>
                <a:cs typeface="Arial"/>
              </a:defRPr>
            </a:lvl8pPr>
            <a:lvl9pPr algn="ctr">
              <a:defRPr sz="1725" b="1">
                <a:solidFill>
                  <a:srgbClr val="172D3D"/>
                </a:solidFill>
                <a:latin typeface="Arial"/>
                <a:ea typeface="Arial"/>
                <a:cs typeface="Arial"/>
              </a:defRPr>
            </a:lvl9pPr>
          </a:lstStyle>
          <a:p xmlns:a="http://schemas.openxmlformats.org/drawingml/2006/main">
            <a:pPr algn="ctr">
              <a:defRPr sz="1725" b="1">
                <a:solidFill>
                  <a:srgbClr val="172D3D"/>
                </a:solidFill>
                <a:latin typeface="Arial"/>
                <a:ea typeface="Arial"/>
                <a:cs typeface="Arial"/>
              </a:defRPr>
            </a:pPr>
            <a:r>
              <a:rPr sz="1725" b="1">
                <a:solidFill>
                  <a:srgbClr val="172D3D"/>
                </a:solidFill>
                <a:latin typeface="Arial"/>
                <a:ea typeface="Arial"/>
                <a:cs typeface="Arial"/>
              </a:rPr>
              <a:t>Chi tiết phim</a:t>
            </a:r>
          </a:p>
        </p:txBody>
      </p:sp>
      <p:sp>
        <p:nvSpPr>
          <p:cNvPr id="14" name="Ảnh V1 minh họa bố cục. Logic V2 theo các sơ đồ vừa trình bày.">
            <a:extLst xmlns:a="http://schemas.openxmlformats.org/drawingml/2006/main">
              <a:ext uri="{FF2B5EF4-FFF2-40B4-BE49-F238E27FC236}">
                <a16:creationId xmlns:a16="http://schemas.microsoft.com/office/drawing/2014/main" id="{AF92F3B1-D862-4923-913A-529126BCCBCD}"/>
              </a:ext>
            </a:extLst>
          </p:cNvPr>
          <p:cNvSpPr>
            <a:spLocks xmlns:a="http://schemas.openxmlformats.org/drawingml/2006/main" noGrp="1"/>
          </p:cNvSpPr>
          <p:nvPr/>
        </p:nvSpPr>
        <p:spPr>
          <a:xfrm xmlns:a="http://schemas.openxmlformats.org/drawingml/2006/main">
            <a:off x="66675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674"/>
                </a:solidFill>
                <a:latin typeface="Arial"/>
                <a:ea typeface="Arial"/>
                <a:cs typeface="Arial"/>
              </a:defRPr>
            </a:defPPr>
            <a:lvl1pPr algn="l">
              <a:defRPr sz="1500" b="0">
                <a:solidFill>
                  <a:srgbClr val="526674"/>
                </a:solidFill>
                <a:latin typeface="Arial"/>
                <a:ea typeface="Arial"/>
                <a:cs typeface="Arial"/>
              </a:defRPr>
            </a:lvl1pPr>
            <a:lvl2pPr algn="l">
              <a:defRPr sz="1500" b="0">
                <a:solidFill>
                  <a:srgbClr val="526674"/>
                </a:solidFill>
                <a:latin typeface="Arial"/>
                <a:ea typeface="Arial"/>
                <a:cs typeface="Arial"/>
              </a:defRPr>
            </a:lvl2pPr>
            <a:lvl3pPr algn="l">
              <a:defRPr sz="1500" b="0">
                <a:solidFill>
                  <a:srgbClr val="526674"/>
                </a:solidFill>
                <a:latin typeface="Arial"/>
                <a:ea typeface="Arial"/>
                <a:cs typeface="Arial"/>
              </a:defRPr>
            </a:lvl3pPr>
            <a:lvl4pPr algn="l">
              <a:defRPr sz="1500" b="0">
                <a:solidFill>
                  <a:srgbClr val="526674"/>
                </a:solidFill>
                <a:latin typeface="Arial"/>
                <a:ea typeface="Arial"/>
                <a:cs typeface="Arial"/>
              </a:defRPr>
            </a:lvl4pPr>
            <a:lvl5pPr algn="l">
              <a:defRPr sz="1500" b="0">
                <a:solidFill>
                  <a:srgbClr val="526674"/>
                </a:solidFill>
                <a:latin typeface="Arial"/>
                <a:ea typeface="Arial"/>
                <a:cs typeface="Arial"/>
              </a:defRPr>
            </a:lvl5pPr>
            <a:lvl6pPr algn="l">
              <a:defRPr sz="1500" b="0">
                <a:solidFill>
                  <a:srgbClr val="526674"/>
                </a:solidFill>
                <a:latin typeface="Arial"/>
                <a:ea typeface="Arial"/>
                <a:cs typeface="Arial"/>
              </a:defRPr>
            </a:lvl6pPr>
            <a:lvl7pPr algn="l">
              <a:defRPr sz="1500" b="0">
                <a:solidFill>
                  <a:srgbClr val="526674"/>
                </a:solidFill>
                <a:latin typeface="Arial"/>
                <a:ea typeface="Arial"/>
                <a:cs typeface="Arial"/>
              </a:defRPr>
            </a:lvl7pPr>
            <a:lvl8pPr algn="l">
              <a:defRPr sz="1500" b="0">
                <a:solidFill>
                  <a:srgbClr val="526674"/>
                </a:solidFill>
                <a:latin typeface="Arial"/>
                <a:ea typeface="Arial"/>
                <a:cs typeface="Arial"/>
              </a:defRPr>
            </a:lvl8pPr>
            <a:lvl9pPr algn="l">
              <a:defRPr sz="1500" b="0">
                <a:solidFill>
                  <a:srgbClr val="526674"/>
                </a:solidFill>
                <a:latin typeface="Arial"/>
                <a:ea typeface="Arial"/>
                <a:cs typeface="Arial"/>
              </a:defRPr>
            </a:lvl9pPr>
          </a:lstStyle>
          <a:p xmlns:a="http://schemas.openxmlformats.org/drawingml/2006/main">
            <a:pPr algn="l">
              <a:defRPr sz="1500" b="0">
                <a:solidFill>
                  <a:srgbClr val="526674"/>
                </a:solidFill>
                <a:latin typeface="Arial"/>
                <a:ea typeface="Arial"/>
                <a:cs typeface="Arial"/>
              </a:defRPr>
            </a:pPr>
            <a:r>
              <a:rPr sz="1500" b="0">
                <a:solidFill>
                  <a:srgbClr val="526674"/>
                </a:solidFill>
                <a:latin typeface="Arial"/>
                <a:ea typeface="Arial"/>
                <a:cs typeface="Arial"/>
              </a:rPr>
              <a:t>Ảnh V1 minh họa bố cục. Logic V2 theo các sơ đồ vừa trình bày.</a:t>
            </a:r>
          </a:p>
        </p:txBody>
      </p:sp>
    </p:spTree>
    <p:extLst>
      <p:ext uri="{BB962C8B-B14F-4D97-AF65-F5344CB8AC3E}">
        <p14:creationId xmlns:p14="http://schemas.microsoft.com/office/powerpoint/2010/main" val="1690284194"/>
      </p:ext>
    </p:extLst>
  </p:cSld>
</p:sld>
</file>

<file path=ppt/slides/slide1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0" name="05   SẢN PHẨM">
            <a:extLst xmlns:a="http://schemas.openxmlformats.org/drawingml/2006/main">
              <a:ext uri="{FF2B5EF4-FFF2-40B4-BE49-F238E27FC236}">
                <a16:creationId xmlns:a16="http://schemas.microsoft.com/office/drawing/2014/main" id="{20C51A3A-3497-4A02-B202-2FEBBA19ECE3}"/>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Dashboard nghiên cứu V2">
            <a:extLst xmlns:a="http://schemas.openxmlformats.org/drawingml/2006/main">
              <a:ext uri="{FF2B5EF4-FFF2-40B4-BE49-F238E27FC236}">
                <a16:creationId xmlns:a16="http://schemas.microsoft.com/office/drawing/2014/main" id="{BC13E545-89B7-4566-A552-66F495ABFC81}"/>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Dashboard nghiên cứu V2</a:t>
            </a:r>
          </a:p>
        </p:txBody>
      </p:sp>
      <p:sp>
        <p:nvSpPr>
          <p:cNvPr id="3" name="">
            <a:extLst xmlns:a="http://schemas.openxmlformats.org/drawingml/2006/main">
              <a:ext uri="{FF2B5EF4-FFF2-40B4-BE49-F238E27FC236}">
                <a16:creationId xmlns:a16="http://schemas.microsoft.com/office/drawing/2014/main" id="{AAD970F4-CE3E-47E9-8909-12CC6FC533E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F6C75781-59B3-46D2-BC7F-010D604C9AE9}"/>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6">
            <a:extLst xmlns:a="http://schemas.openxmlformats.org/drawingml/2006/main">
              <a:ext uri="{FF2B5EF4-FFF2-40B4-BE49-F238E27FC236}">
                <a16:creationId xmlns:a16="http://schemas.microsoft.com/office/drawing/2014/main" id="{553F84A6-7E57-4D35-B014-689750F36EC6}"/>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16</a:t>
            </a:r>
          </a:p>
        </p:txBody>
      </p:sp>
      <p:pic>
        <p:nvPicPr>
          <p:cNvPr id="6" name="">
            <a:extLst xmlns:a="http://schemas.openxmlformats.org/drawingml/2006/main">
              <a:ext uri="{FF2B5EF4-FFF2-40B4-BE49-F238E27FC236}">
                <a16:creationId xmlns:a16="http://schemas.microsoft.com/office/drawing/2014/main" id="{CDB3D390-E942-464A-B786-79ED0D0848DD}"/>
              </a:ext>
            </a:extLst>
          </p:cNvPr>
          <p:cNvPicPr>
            <a:picLocks xmlns:a="http://schemas.openxmlformats.org/drawingml/2006/main" noChangeAspect="1"/>
          </p:cNvPicPr>
          <p:nvPr/>
        </p:nvPicPr>
        <p:blipFill>
          <a:blip xmlns:r="http://schemas.openxmlformats.org/officeDocument/2006/relationships" xmlns:a="http://schemas.openxmlformats.org/drawingml/2006/main" r:embed="R485315c20a634347"/>
          <a:stretch xmlns:a="http://schemas.openxmlformats.org/drawingml/2006/main"/>
        </p:blipFill>
        <p:spPr>
          <a:xfrm xmlns:a="http://schemas.openxmlformats.org/drawingml/2006/main">
            <a:off x="696650" y="2066925"/>
            <a:ext cx="4112151" cy="40386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E32F0DE-8FFB-47D4-A0B3-1E872F65EF1E}"/>
              </a:ext>
            </a:extLst>
          </p:cNvPr>
          <p:cNvPicPr>
            <a:picLocks xmlns:a="http://schemas.openxmlformats.org/drawingml/2006/main" noChangeAspect="1"/>
          </p:cNvPicPr>
          <p:nvPr/>
        </p:nvPicPr>
        <p:blipFill>
          <a:blip xmlns:r="http://schemas.openxmlformats.org/officeDocument/2006/relationships" xmlns:a="http://schemas.openxmlformats.org/drawingml/2006/main" r:embed="Rc6b8d090980d4511"/>
          <a:stretch xmlns:a="http://schemas.openxmlformats.org/drawingml/2006/main"/>
        </p:blipFill>
        <p:spPr>
          <a:xfrm xmlns:a="http://schemas.openxmlformats.org/drawingml/2006/main">
            <a:off x="5235312" y="2066925"/>
            <a:ext cx="4112151" cy="4038600"/>
          </a:xfrm>
          <a:prstGeom xmlns:a="http://schemas.openxmlformats.org/drawingml/2006/main" prst="rect">
            <a:avLst/>
          </a:prstGeom>
        </p:spPr>
      </p:pic>
      <p:sp>
        <p:nvSpPr>
          <p:cNvPr id="8" name="7 trang">
            <a:extLst xmlns:a="http://schemas.openxmlformats.org/drawingml/2006/main">
              <a:ext uri="{FF2B5EF4-FFF2-40B4-BE49-F238E27FC236}">
                <a16:creationId xmlns:a16="http://schemas.microsoft.com/office/drawing/2014/main" id="{8338A7F0-6124-4931-AF44-94F712EB1653}"/>
              </a:ext>
            </a:extLst>
          </p:cNvPr>
          <p:cNvSpPr>
            <a:spLocks xmlns:a="http://schemas.openxmlformats.org/drawingml/2006/main" noGrp="1"/>
          </p:cNvSpPr>
          <p:nvPr/>
        </p:nvSpPr>
        <p:spPr>
          <a:xfrm xmlns:a="http://schemas.openxmlformats.org/drawingml/2006/main">
            <a:off x="9734550" y="2190750"/>
            <a:ext cx="2047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97E7C"/>
                </a:solidFill>
                <a:latin typeface="Arial"/>
                <a:ea typeface="Arial"/>
                <a:cs typeface="Arial"/>
              </a:defRPr>
            </a:defPPr>
            <a:lvl1pPr algn="l">
              <a:defRPr sz="3525" b="1">
                <a:solidFill>
                  <a:srgbClr val="297E7C"/>
                </a:solidFill>
                <a:latin typeface="Arial"/>
                <a:ea typeface="Arial"/>
                <a:cs typeface="Arial"/>
              </a:defRPr>
            </a:lvl1pPr>
            <a:lvl2pPr algn="l">
              <a:defRPr sz="3525" b="1">
                <a:solidFill>
                  <a:srgbClr val="297E7C"/>
                </a:solidFill>
                <a:latin typeface="Arial"/>
                <a:ea typeface="Arial"/>
                <a:cs typeface="Arial"/>
              </a:defRPr>
            </a:lvl2pPr>
            <a:lvl3pPr algn="l">
              <a:defRPr sz="3525" b="1">
                <a:solidFill>
                  <a:srgbClr val="297E7C"/>
                </a:solidFill>
                <a:latin typeface="Arial"/>
                <a:ea typeface="Arial"/>
                <a:cs typeface="Arial"/>
              </a:defRPr>
            </a:lvl3pPr>
            <a:lvl4pPr algn="l">
              <a:defRPr sz="3525" b="1">
                <a:solidFill>
                  <a:srgbClr val="297E7C"/>
                </a:solidFill>
                <a:latin typeface="Arial"/>
                <a:ea typeface="Arial"/>
                <a:cs typeface="Arial"/>
              </a:defRPr>
            </a:lvl4pPr>
            <a:lvl5pPr algn="l">
              <a:defRPr sz="3525" b="1">
                <a:solidFill>
                  <a:srgbClr val="297E7C"/>
                </a:solidFill>
                <a:latin typeface="Arial"/>
                <a:ea typeface="Arial"/>
                <a:cs typeface="Arial"/>
              </a:defRPr>
            </a:lvl5pPr>
            <a:lvl6pPr algn="l">
              <a:defRPr sz="3525" b="1">
                <a:solidFill>
                  <a:srgbClr val="297E7C"/>
                </a:solidFill>
                <a:latin typeface="Arial"/>
                <a:ea typeface="Arial"/>
                <a:cs typeface="Arial"/>
              </a:defRPr>
            </a:lvl6pPr>
            <a:lvl7pPr algn="l">
              <a:defRPr sz="3525" b="1">
                <a:solidFill>
                  <a:srgbClr val="297E7C"/>
                </a:solidFill>
                <a:latin typeface="Arial"/>
                <a:ea typeface="Arial"/>
                <a:cs typeface="Arial"/>
              </a:defRPr>
            </a:lvl7pPr>
            <a:lvl8pPr algn="l">
              <a:defRPr sz="3525" b="1">
                <a:solidFill>
                  <a:srgbClr val="297E7C"/>
                </a:solidFill>
                <a:latin typeface="Arial"/>
                <a:ea typeface="Arial"/>
                <a:cs typeface="Arial"/>
              </a:defRPr>
            </a:lvl8pPr>
            <a:lvl9pPr algn="l">
              <a:defRPr sz="3525" b="1">
                <a:solidFill>
                  <a:srgbClr val="297E7C"/>
                </a:solidFill>
                <a:latin typeface="Arial"/>
                <a:ea typeface="Arial"/>
                <a:cs typeface="Arial"/>
              </a:defRPr>
            </a:lvl9pPr>
          </a:lstStyle>
          <a:p xmlns:a="http://schemas.openxmlformats.org/drawingml/2006/main">
            <a:pPr algn="l">
              <a:defRPr sz="3525" b="1">
                <a:solidFill>
                  <a:srgbClr val="297E7C"/>
                </a:solidFill>
                <a:latin typeface="Arial"/>
                <a:ea typeface="Arial"/>
                <a:cs typeface="Arial"/>
              </a:defRPr>
            </a:pPr>
            <a:r>
              <a:rPr sz="3525" b="1">
                <a:solidFill>
                  <a:srgbClr val="297E7C"/>
                </a:solidFill>
                <a:latin typeface="Arial"/>
                <a:ea typeface="Arial"/>
                <a:cs typeface="Arial"/>
              </a:rPr>
              <a:t>7 trang</a:t>
            </a:r>
          </a:p>
        </p:txBody>
      </p:sp>
      <p:sp>
        <p:nvSpPr>
          <p:cNvPr id="9" name="Nguồn dữ liệu&#10;Tính đại diện&#10;So sánh model&#10;CI và ablation&#10;Vận hành">
            <a:extLst xmlns:a="http://schemas.openxmlformats.org/drawingml/2006/main">
              <a:ext uri="{FF2B5EF4-FFF2-40B4-BE49-F238E27FC236}">
                <a16:creationId xmlns:a16="http://schemas.microsoft.com/office/drawing/2014/main" id="{2EA1B1B2-2E54-4F6E-9843-5FBEDDE8D16D}"/>
              </a:ext>
            </a:extLst>
          </p:cNvPr>
          <p:cNvSpPr>
            <a:spLocks xmlns:a="http://schemas.openxmlformats.org/drawingml/2006/main" noGrp="1"/>
          </p:cNvSpPr>
          <p:nvPr/>
        </p:nvSpPr>
        <p:spPr>
          <a:xfrm xmlns:a="http://schemas.openxmlformats.org/drawingml/2006/main">
            <a:off x="9734550" y="3209925"/>
            <a:ext cx="204787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Nguồn dữ liệu</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Tính đại diện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So sánh model</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CI và ablation</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Vận hành</a:t>
            </a:r>
          </a:p>
        </p:txBody>
      </p:sp>
    </p:spTree>
    <p:extLst>
      <p:ext uri="{BB962C8B-B14F-4D97-AF65-F5344CB8AC3E}">
        <p14:creationId xmlns:p14="http://schemas.microsoft.com/office/powerpoint/2010/main" val="1076356331"/>
      </p:ext>
    </p:extLst>
  </p:cSld>
</p:sld>
</file>

<file path=ppt/slides/slide1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1" name="05   SẢN PHẨM">
            <a:extLst xmlns:a="http://schemas.openxmlformats.org/drawingml/2006/main">
              <a:ext uri="{FF2B5EF4-FFF2-40B4-BE49-F238E27FC236}">
                <a16:creationId xmlns:a16="http://schemas.microsoft.com/office/drawing/2014/main" id="{980C1DC5-9627-4E87-9EB8-F2DC93D635B6}"/>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MostPopular tốt hơn hybrid trên protocol hiện tại">
            <a:extLst xmlns:a="http://schemas.openxmlformats.org/drawingml/2006/main">
              <a:ext uri="{FF2B5EF4-FFF2-40B4-BE49-F238E27FC236}">
                <a16:creationId xmlns:a16="http://schemas.microsoft.com/office/drawing/2014/main" id="{80DFAC6D-8101-4811-A073-371DB27847C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MostPopular tốt hơn hybrid trên protocol hiện tại</a:t>
            </a:r>
          </a:p>
        </p:txBody>
      </p:sp>
      <p:sp>
        <p:nvSpPr>
          <p:cNvPr id="3" name="">
            <a:extLst xmlns:a="http://schemas.openxmlformats.org/drawingml/2006/main">
              <a:ext uri="{FF2B5EF4-FFF2-40B4-BE49-F238E27FC236}">
                <a16:creationId xmlns:a16="http://schemas.microsoft.com/office/drawing/2014/main" id="{E40672A9-CF2D-403E-9BAD-B70ECFF8082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B2D06601-95AB-4DCE-894E-D355C74382F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7">
            <a:extLst xmlns:a="http://schemas.openxmlformats.org/drawingml/2006/main">
              <a:ext uri="{FF2B5EF4-FFF2-40B4-BE49-F238E27FC236}">
                <a16:creationId xmlns:a16="http://schemas.microsoft.com/office/drawing/2014/main" id="{CBBC9021-BF08-4A4C-A3FD-95DC3E820125}"/>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17</a:t>
            </a:r>
          </a:p>
        </p:txBody>
      </p:sp>
      <p:graphicFrame>
        <p:nvGraphicFramePr>
          <p:cNvPr id="6" name="Chart">
            <a:extLst xmlns:a="http://schemas.openxmlformats.org/drawingml/2006/main">
              <a:ext uri="{FF2B5EF4-FFF2-40B4-BE49-F238E27FC236}">
                <a16:creationId xmlns:a16="http://schemas.microsoft.com/office/drawing/2014/main" id="{D0CDED1D-673B-4A9F-B1FF-9001D8AC1B8E}"/>
              </a:ext>
            </a:extLst>
          </p:cNvPr>
          <p:cNvGraphicFramePr/>
          <p:nvPr/>
        </p:nvGraphicFramePr>
        <p:xfrm>
          <a:off xmlns:a="http://schemas.openxmlformats.org/drawingml/2006/main" x="523875" y="1943100"/>
          <a:ext xmlns:a="http://schemas.openxmlformats.org/drawingml/2006/main" cx="7667625" cy="4162425"/>
        </p:xfrm>
        <a:graphic xmlns:a="http://schemas.openxmlformats.org/drawingml/2006/main">
          <a:graphicData uri="http://schemas.openxmlformats.org/drawingml/2006/chart">
            <c:chart xmlns:r="http://schemas.openxmlformats.org/officeDocument/2006/relationships" xmlns:c="http://schemas.openxmlformats.org/drawingml/2006/chart" r:id="R688d575551e24bcd"/>
          </a:graphicData>
        </a:graphic>
      </p:graphicFrame>
      <p:sp>
        <p:nvSpPr>
          <p:cNvPr id="7" name="−57,70%">
            <a:extLst xmlns:a="http://schemas.openxmlformats.org/drawingml/2006/main">
              <a:ext uri="{FF2B5EF4-FFF2-40B4-BE49-F238E27FC236}">
                <a16:creationId xmlns:a16="http://schemas.microsoft.com/office/drawing/2014/main" id="{CDD5D5A1-6C68-4E17-ACF6-2B364096AB5A}"/>
              </a:ext>
            </a:extLst>
          </p:cNvPr>
          <p:cNvSpPr>
            <a:spLocks xmlns:a="http://schemas.openxmlformats.org/drawingml/2006/main" noGrp="1"/>
          </p:cNvSpPr>
          <p:nvPr/>
        </p:nvSpPr>
        <p:spPr>
          <a:xfrm xmlns:a="http://schemas.openxmlformats.org/drawingml/2006/main">
            <a:off x="8724900" y="2238375"/>
            <a:ext cx="290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97E7C"/>
                </a:solidFill>
                <a:latin typeface="Arial"/>
                <a:ea typeface="Arial"/>
                <a:cs typeface="Arial"/>
              </a:defRPr>
            </a:defPPr>
            <a:lvl1pPr algn="l">
              <a:defRPr sz="4050" b="1">
                <a:solidFill>
                  <a:srgbClr val="297E7C"/>
                </a:solidFill>
                <a:latin typeface="Arial"/>
                <a:ea typeface="Arial"/>
                <a:cs typeface="Arial"/>
              </a:defRPr>
            </a:lvl1pPr>
            <a:lvl2pPr algn="l">
              <a:defRPr sz="4050" b="1">
                <a:solidFill>
                  <a:srgbClr val="297E7C"/>
                </a:solidFill>
                <a:latin typeface="Arial"/>
                <a:ea typeface="Arial"/>
                <a:cs typeface="Arial"/>
              </a:defRPr>
            </a:lvl2pPr>
            <a:lvl3pPr algn="l">
              <a:defRPr sz="4050" b="1">
                <a:solidFill>
                  <a:srgbClr val="297E7C"/>
                </a:solidFill>
                <a:latin typeface="Arial"/>
                <a:ea typeface="Arial"/>
                <a:cs typeface="Arial"/>
              </a:defRPr>
            </a:lvl3pPr>
            <a:lvl4pPr algn="l">
              <a:defRPr sz="4050" b="1">
                <a:solidFill>
                  <a:srgbClr val="297E7C"/>
                </a:solidFill>
                <a:latin typeface="Arial"/>
                <a:ea typeface="Arial"/>
                <a:cs typeface="Arial"/>
              </a:defRPr>
            </a:lvl4pPr>
            <a:lvl5pPr algn="l">
              <a:defRPr sz="4050" b="1">
                <a:solidFill>
                  <a:srgbClr val="297E7C"/>
                </a:solidFill>
                <a:latin typeface="Arial"/>
                <a:ea typeface="Arial"/>
                <a:cs typeface="Arial"/>
              </a:defRPr>
            </a:lvl5pPr>
            <a:lvl6pPr algn="l">
              <a:defRPr sz="4050" b="1">
                <a:solidFill>
                  <a:srgbClr val="297E7C"/>
                </a:solidFill>
                <a:latin typeface="Arial"/>
                <a:ea typeface="Arial"/>
                <a:cs typeface="Arial"/>
              </a:defRPr>
            </a:lvl6pPr>
            <a:lvl7pPr algn="l">
              <a:defRPr sz="4050" b="1">
                <a:solidFill>
                  <a:srgbClr val="297E7C"/>
                </a:solidFill>
                <a:latin typeface="Arial"/>
                <a:ea typeface="Arial"/>
                <a:cs typeface="Arial"/>
              </a:defRPr>
            </a:lvl7pPr>
            <a:lvl8pPr algn="l">
              <a:defRPr sz="4050" b="1">
                <a:solidFill>
                  <a:srgbClr val="297E7C"/>
                </a:solidFill>
                <a:latin typeface="Arial"/>
                <a:ea typeface="Arial"/>
                <a:cs typeface="Arial"/>
              </a:defRPr>
            </a:lvl8pPr>
            <a:lvl9pPr algn="l">
              <a:defRPr sz="4050" b="1">
                <a:solidFill>
                  <a:srgbClr val="297E7C"/>
                </a:solidFill>
                <a:latin typeface="Arial"/>
                <a:ea typeface="Arial"/>
                <a:cs typeface="Arial"/>
              </a:defRPr>
            </a:lvl9pPr>
          </a:lstStyle>
          <a:p xmlns:a="http://schemas.openxmlformats.org/drawingml/2006/main">
            <a:pPr algn="l">
              <a:defRPr sz="4050" b="1">
                <a:solidFill>
                  <a:srgbClr val="297E7C"/>
                </a:solidFill>
                <a:latin typeface="Arial"/>
                <a:ea typeface="Arial"/>
                <a:cs typeface="Arial"/>
              </a:defRPr>
            </a:pPr>
            <a:r>
              <a:rPr sz="4050" b="1">
                <a:solidFill>
                  <a:srgbClr val="297E7C"/>
                </a:solidFill>
                <a:latin typeface="Arial"/>
                <a:ea typeface="Arial"/>
                <a:cs typeface="Arial"/>
              </a:rPr>
              <a:t>−57,70%</a:t>
            </a:r>
          </a:p>
        </p:txBody>
      </p:sp>
      <p:sp>
        <p:nvSpPr>
          <p:cNvPr id="8" name="NDCG của AdaptiveHybrid&#10;so với MostPopular">
            <a:extLst xmlns:a="http://schemas.openxmlformats.org/drawingml/2006/main">
              <a:ext uri="{FF2B5EF4-FFF2-40B4-BE49-F238E27FC236}">
                <a16:creationId xmlns:a16="http://schemas.microsoft.com/office/drawing/2014/main" id="{5BDDC843-2A5D-4BE9-A1D6-2C19F7126E2D}"/>
              </a:ext>
            </a:extLst>
          </p:cNvPr>
          <p:cNvSpPr>
            <a:spLocks xmlns:a="http://schemas.openxmlformats.org/drawingml/2006/main" noGrp="1"/>
          </p:cNvSpPr>
          <p:nvPr/>
        </p:nvSpPr>
        <p:spPr>
          <a:xfrm xmlns:a="http://schemas.openxmlformats.org/drawingml/2006/main">
            <a:off x="8753475" y="320992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3D"/>
                </a:solidFill>
                <a:latin typeface="Arial"/>
                <a:ea typeface="Arial"/>
                <a:cs typeface="Arial"/>
              </a:defRPr>
            </a:defPPr>
            <a:lvl1pPr algn="l">
              <a:defRPr sz="2025" b="0">
                <a:solidFill>
                  <a:srgbClr val="172D3D"/>
                </a:solidFill>
                <a:latin typeface="Arial"/>
                <a:ea typeface="Arial"/>
                <a:cs typeface="Arial"/>
              </a:defRPr>
            </a:lvl1pPr>
            <a:lvl2pPr algn="l">
              <a:defRPr sz="2025" b="0">
                <a:solidFill>
                  <a:srgbClr val="172D3D"/>
                </a:solidFill>
                <a:latin typeface="Arial"/>
                <a:ea typeface="Arial"/>
                <a:cs typeface="Arial"/>
              </a:defRPr>
            </a:lvl2pPr>
            <a:lvl3pPr algn="l">
              <a:defRPr sz="2025" b="0">
                <a:solidFill>
                  <a:srgbClr val="172D3D"/>
                </a:solidFill>
                <a:latin typeface="Arial"/>
                <a:ea typeface="Arial"/>
                <a:cs typeface="Arial"/>
              </a:defRPr>
            </a:lvl3pPr>
            <a:lvl4pPr algn="l">
              <a:defRPr sz="2025" b="0">
                <a:solidFill>
                  <a:srgbClr val="172D3D"/>
                </a:solidFill>
                <a:latin typeface="Arial"/>
                <a:ea typeface="Arial"/>
                <a:cs typeface="Arial"/>
              </a:defRPr>
            </a:lvl4pPr>
            <a:lvl5pPr algn="l">
              <a:defRPr sz="2025" b="0">
                <a:solidFill>
                  <a:srgbClr val="172D3D"/>
                </a:solidFill>
                <a:latin typeface="Arial"/>
                <a:ea typeface="Arial"/>
                <a:cs typeface="Arial"/>
              </a:defRPr>
            </a:lvl5pPr>
            <a:lvl6pPr algn="l">
              <a:defRPr sz="2025" b="0">
                <a:solidFill>
                  <a:srgbClr val="172D3D"/>
                </a:solidFill>
                <a:latin typeface="Arial"/>
                <a:ea typeface="Arial"/>
                <a:cs typeface="Arial"/>
              </a:defRPr>
            </a:lvl6pPr>
            <a:lvl7pPr algn="l">
              <a:defRPr sz="2025" b="0">
                <a:solidFill>
                  <a:srgbClr val="172D3D"/>
                </a:solidFill>
                <a:latin typeface="Arial"/>
                <a:ea typeface="Arial"/>
                <a:cs typeface="Arial"/>
              </a:defRPr>
            </a:lvl7pPr>
            <a:lvl8pPr algn="l">
              <a:defRPr sz="2025" b="0">
                <a:solidFill>
                  <a:srgbClr val="172D3D"/>
                </a:solidFill>
                <a:latin typeface="Arial"/>
                <a:ea typeface="Arial"/>
                <a:cs typeface="Arial"/>
              </a:defRPr>
            </a:lvl8pPr>
            <a:lvl9pPr algn="l">
              <a:defRPr sz="2025" b="0">
                <a:solidFill>
                  <a:srgbClr val="172D3D"/>
                </a:solidFill>
                <a:latin typeface="Arial"/>
                <a:ea typeface="Arial"/>
                <a:cs typeface="Arial"/>
              </a:defRPr>
            </a:lvl9pPr>
          </a:lstStyle>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NDCG của AdaptiveHybrid</a:t>
            </a:r>
          </a:p>
          <a:p xmlns:a="http://schemas.openxmlformats.org/drawingml/2006/main">
            <a:pPr algn="l">
              <a:defRPr sz="2025" b="0">
                <a:solidFill>
                  <a:srgbClr val="172D3D"/>
                </a:solidFill>
                <a:latin typeface="Arial"/>
                <a:ea typeface="Arial"/>
                <a:cs typeface="Arial"/>
              </a:defRPr>
            </a:pPr>
            <a:r>
              <a:rPr sz="2025" b="0">
                <a:solidFill>
                  <a:srgbClr val="172D3D"/>
                </a:solidFill>
                <a:latin typeface="Arial"/>
                <a:ea typeface="Arial"/>
                <a:cs typeface="Arial"/>
              </a:rPr>
              <a:t>so với MostPopular</a:t>
            </a:r>
          </a:p>
        </p:txBody>
      </p:sp>
      <p:sp>
        <p:nvSpPr>
          <p:cNvPr id="9" name="Δ = −0,161770&#10;CI95 [−0,175655; −0,147796]">
            <a:extLst xmlns:a="http://schemas.openxmlformats.org/drawingml/2006/main">
              <a:ext uri="{FF2B5EF4-FFF2-40B4-BE49-F238E27FC236}">
                <a16:creationId xmlns:a16="http://schemas.microsoft.com/office/drawing/2014/main" id="{CCF18947-FD25-448F-8162-9F9120211313}"/>
              </a:ext>
            </a:extLst>
          </p:cNvPr>
          <p:cNvSpPr>
            <a:spLocks xmlns:a="http://schemas.openxmlformats.org/drawingml/2006/main" noGrp="1"/>
          </p:cNvSpPr>
          <p:nvPr/>
        </p:nvSpPr>
        <p:spPr>
          <a:xfrm xmlns:a="http://schemas.openxmlformats.org/drawingml/2006/main">
            <a:off x="8753475" y="44577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4"/>
                </a:solidFill>
                <a:latin typeface="Arial"/>
                <a:ea typeface="Arial"/>
                <a:cs typeface="Arial"/>
              </a:defRPr>
            </a:defPPr>
            <a:lvl1pPr algn="l">
              <a:defRPr sz="1800" b="0">
                <a:solidFill>
                  <a:srgbClr val="526674"/>
                </a:solidFill>
                <a:latin typeface="Arial"/>
                <a:ea typeface="Arial"/>
                <a:cs typeface="Arial"/>
              </a:defRPr>
            </a:lvl1pPr>
            <a:lvl2pPr algn="l">
              <a:defRPr sz="1800" b="0">
                <a:solidFill>
                  <a:srgbClr val="526674"/>
                </a:solidFill>
                <a:latin typeface="Arial"/>
                <a:ea typeface="Arial"/>
                <a:cs typeface="Arial"/>
              </a:defRPr>
            </a:lvl2pPr>
            <a:lvl3pPr algn="l">
              <a:defRPr sz="1800" b="0">
                <a:solidFill>
                  <a:srgbClr val="526674"/>
                </a:solidFill>
                <a:latin typeface="Arial"/>
                <a:ea typeface="Arial"/>
                <a:cs typeface="Arial"/>
              </a:defRPr>
            </a:lvl3pPr>
            <a:lvl4pPr algn="l">
              <a:defRPr sz="1800" b="0">
                <a:solidFill>
                  <a:srgbClr val="526674"/>
                </a:solidFill>
                <a:latin typeface="Arial"/>
                <a:ea typeface="Arial"/>
                <a:cs typeface="Arial"/>
              </a:defRPr>
            </a:lvl4pPr>
            <a:lvl5pPr algn="l">
              <a:defRPr sz="1800" b="0">
                <a:solidFill>
                  <a:srgbClr val="526674"/>
                </a:solidFill>
                <a:latin typeface="Arial"/>
                <a:ea typeface="Arial"/>
                <a:cs typeface="Arial"/>
              </a:defRPr>
            </a:lvl5pPr>
            <a:lvl6pPr algn="l">
              <a:defRPr sz="1800" b="0">
                <a:solidFill>
                  <a:srgbClr val="526674"/>
                </a:solidFill>
                <a:latin typeface="Arial"/>
                <a:ea typeface="Arial"/>
                <a:cs typeface="Arial"/>
              </a:defRPr>
            </a:lvl6pPr>
            <a:lvl7pPr algn="l">
              <a:defRPr sz="1800" b="0">
                <a:solidFill>
                  <a:srgbClr val="526674"/>
                </a:solidFill>
                <a:latin typeface="Arial"/>
                <a:ea typeface="Arial"/>
                <a:cs typeface="Arial"/>
              </a:defRPr>
            </a:lvl7pPr>
            <a:lvl8pPr algn="l">
              <a:defRPr sz="1800" b="0">
                <a:solidFill>
                  <a:srgbClr val="526674"/>
                </a:solidFill>
                <a:latin typeface="Arial"/>
                <a:ea typeface="Arial"/>
                <a:cs typeface="Arial"/>
              </a:defRPr>
            </a:lvl8pPr>
            <a:lvl9pPr algn="l">
              <a:defRPr sz="1800" b="0">
                <a:solidFill>
                  <a:srgbClr val="526674"/>
                </a:solidFill>
                <a:latin typeface="Arial"/>
                <a:ea typeface="Arial"/>
                <a:cs typeface="Arial"/>
              </a:defRPr>
            </a:lvl9pPr>
          </a:lstStyle>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Δ = −0,161770</a:t>
            </a:r>
          </a:p>
          <a:p xmlns:a="http://schemas.openxmlformats.org/drawingml/2006/main">
            <a:pPr algn="l">
              <a:defRPr sz="1800" b="0">
                <a:solidFill>
                  <a:srgbClr val="526674"/>
                </a:solidFill>
                <a:latin typeface="Arial"/>
                <a:ea typeface="Arial"/>
                <a:cs typeface="Arial"/>
              </a:defRPr>
            </a:pPr>
            <a:r>
              <a:rPr sz="1800" b="0">
                <a:solidFill>
                  <a:srgbClr val="526674"/>
                </a:solidFill>
                <a:latin typeface="Arial"/>
                <a:ea typeface="Arial"/>
                <a:cs typeface="Arial"/>
              </a:rPr>
              <a:t>CI95 [−0,175655; −0,147796]</a:t>
            </a:r>
          </a:p>
        </p:txBody>
      </p:sp>
      <p:sp>
        <p:nvSpPr>
          <p:cNvPr id="10" name="NDCG@10 trên 900 user. Trung bình qua seed trước paired bootstrap">
            <a:extLst xmlns:a="http://schemas.openxmlformats.org/drawingml/2006/main">
              <a:ext uri="{FF2B5EF4-FFF2-40B4-BE49-F238E27FC236}">
                <a16:creationId xmlns:a16="http://schemas.microsoft.com/office/drawing/2014/main" id="{BB0905BA-9A2E-458B-9F58-B7AAD3BFE599}"/>
              </a:ext>
            </a:extLst>
          </p:cNvPr>
          <p:cNvSpPr>
            <a:spLocks xmlns:a="http://schemas.openxmlformats.org/drawingml/2006/main" noGrp="1"/>
          </p:cNvSpPr>
          <p:nvPr/>
        </p:nvSpPr>
        <p:spPr>
          <a:xfrm xmlns:a="http://schemas.openxmlformats.org/drawingml/2006/main">
            <a:off x="666750" y="615315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674"/>
                </a:solidFill>
                <a:latin typeface="Arial"/>
                <a:ea typeface="Arial"/>
                <a:cs typeface="Arial"/>
              </a:defRPr>
            </a:defPPr>
            <a:lvl1pPr algn="l">
              <a:defRPr sz="1350" b="0">
                <a:solidFill>
                  <a:srgbClr val="526674"/>
                </a:solidFill>
                <a:latin typeface="Arial"/>
                <a:ea typeface="Arial"/>
                <a:cs typeface="Arial"/>
              </a:defRPr>
            </a:lvl1pPr>
            <a:lvl2pPr algn="l">
              <a:defRPr sz="1350" b="0">
                <a:solidFill>
                  <a:srgbClr val="526674"/>
                </a:solidFill>
                <a:latin typeface="Arial"/>
                <a:ea typeface="Arial"/>
                <a:cs typeface="Arial"/>
              </a:defRPr>
            </a:lvl2pPr>
            <a:lvl3pPr algn="l">
              <a:defRPr sz="1350" b="0">
                <a:solidFill>
                  <a:srgbClr val="526674"/>
                </a:solidFill>
                <a:latin typeface="Arial"/>
                <a:ea typeface="Arial"/>
                <a:cs typeface="Arial"/>
              </a:defRPr>
            </a:lvl3pPr>
            <a:lvl4pPr algn="l">
              <a:defRPr sz="1350" b="0">
                <a:solidFill>
                  <a:srgbClr val="526674"/>
                </a:solidFill>
                <a:latin typeface="Arial"/>
                <a:ea typeface="Arial"/>
                <a:cs typeface="Arial"/>
              </a:defRPr>
            </a:lvl4pPr>
            <a:lvl5pPr algn="l">
              <a:defRPr sz="1350" b="0">
                <a:solidFill>
                  <a:srgbClr val="526674"/>
                </a:solidFill>
                <a:latin typeface="Arial"/>
                <a:ea typeface="Arial"/>
                <a:cs typeface="Arial"/>
              </a:defRPr>
            </a:lvl5pPr>
            <a:lvl6pPr algn="l">
              <a:defRPr sz="1350" b="0">
                <a:solidFill>
                  <a:srgbClr val="526674"/>
                </a:solidFill>
                <a:latin typeface="Arial"/>
                <a:ea typeface="Arial"/>
                <a:cs typeface="Arial"/>
              </a:defRPr>
            </a:lvl6pPr>
            <a:lvl7pPr algn="l">
              <a:defRPr sz="1350" b="0">
                <a:solidFill>
                  <a:srgbClr val="526674"/>
                </a:solidFill>
                <a:latin typeface="Arial"/>
                <a:ea typeface="Arial"/>
                <a:cs typeface="Arial"/>
              </a:defRPr>
            </a:lvl7pPr>
            <a:lvl8pPr algn="l">
              <a:defRPr sz="1350" b="0">
                <a:solidFill>
                  <a:srgbClr val="526674"/>
                </a:solidFill>
                <a:latin typeface="Arial"/>
                <a:ea typeface="Arial"/>
                <a:cs typeface="Arial"/>
              </a:defRPr>
            </a:lvl8pPr>
            <a:lvl9pPr algn="l">
              <a:defRPr sz="1350" b="0">
                <a:solidFill>
                  <a:srgbClr val="526674"/>
                </a:solidFill>
                <a:latin typeface="Arial"/>
                <a:ea typeface="Arial"/>
                <a:cs typeface="Arial"/>
              </a:defRPr>
            </a:lvl9pPr>
          </a:lstStyle>
          <a:p xmlns:a="http://schemas.openxmlformats.org/drawingml/2006/main">
            <a:pPr algn="l">
              <a:defRPr sz="1350" b="0">
                <a:solidFill>
                  <a:srgbClr val="526674"/>
                </a:solidFill>
                <a:latin typeface="Arial"/>
                <a:ea typeface="Arial"/>
                <a:cs typeface="Arial"/>
              </a:defRPr>
            </a:pPr>
            <a:r>
              <a:rPr sz="1350" b="0">
                <a:solidFill>
                  <a:srgbClr val="526674"/>
                </a:solidFill>
                <a:latin typeface="Arial"/>
                <a:ea typeface="Arial"/>
                <a:cs typeface="Arial"/>
              </a:rPr>
              <a:t>NDCG@10 trên 900 user. Trung bình qua seed trước paired bootstrap.</a:t>
            </a:r>
          </a:p>
        </p:txBody>
      </p:sp>
    </p:spTree>
    <p:extLst>
      <p:ext uri="{BB962C8B-B14F-4D97-AF65-F5344CB8AC3E}">
        <p14:creationId xmlns:p14="http://schemas.microsoft.com/office/powerpoint/2010/main" val="578731741"/>
      </p:ext>
    </p:extLst>
  </p:cSld>
</p:sld>
</file>

<file path=ppt/slides/slide18.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C98FAEE2-B1FE-4FA9-8575-6B1E4CAFC5E2}"/>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Ablation và giới hạn của đóng góp hybrid">
            <a:extLst xmlns:a="http://schemas.openxmlformats.org/drawingml/2006/main">
              <a:ext uri="{FF2B5EF4-FFF2-40B4-BE49-F238E27FC236}">
                <a16:creationId xmlns:a16="http://schemas.microsoft.com/office/drawing/2014/main" id="{2768D662-82CB-494E-9A7C-FAFB4E662002}"/>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Ablation và giới hạn của đóng góp hybrid</a:t>
            </a:r>
          </a:p>
        </p:txBody>
      </p:sp>
      <p:sp>
        <p:nvSpPr>
          <p:cNvPr id="3" name="">
            <a:extLst xmlns:a="http://schemas.openxmlformats.org/drawingml/2006/main">
              <a:ext uri="{FF2B5EF4-FFF2-40B4-BE49-F238E27FC236}">
                <a16:creationId xmlns:a16="http://schemas.microsoft.com/office/drawing/2014/main" id="{A51F3E55-BE3F-4FA6-80AF-2C95DE1A538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758DD0FE-5B2F-4390-809B-3B78B583EEF3}"/>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8">
            <a:extLst xmlns:a="http://schemas.openxmlformats.org/drawingml/2006/main">
              <a:ext uri="{FF2B5EF4-FFF2-40B4-BE49-F238E27FC236}">
                <a16:creationId xmlns:a16="http://schemas.microsoft.com/office/drawing/2014/main" id="{A7C7AB89-84EA-4C66-B762-278D3A435FE1}"/>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8986755B-2180-40A2-A829-1AC2A02641F4}"/>
              </a:ext>
            </a:extLst>
          </p:cNvPr>
          <p:cNvGraphicFramePr/>
          <p:nvPr/>
        </p:nvGraphicFramePr>
        <p:xfrm>
          <a:off xmlns:a="http://schemas.openxmlformats.org/drawingml/2006/main" x="619125" y="2009775"/>
          <a:ext xmlns:a="http://schemas.openxmlformats.org/drawingml/2006/main" cx="10953750" cy="3476625"/>
        </p:xfrm>
        <a:graphic xmlns:a="http://schemas.openxmlformats.org/drawingml/2006/main">
          <a:graphicData uri="http://schemas.openxmlformats.org/drawingml/2006/table">
            <a:tbl>
              <a:tblPr/>
              <a:tblGrid>
                <a:gridCol w="2619375"/>
                <a:gridCol w="1524000"/>
                <a:gridCol w="2714625"/>
                <a:gridCol w="4095750"/>
              </a:tblGrid>
              <a:tr h="695325">
                <a:tc>
                  <a:txBody>
                    <a:bodyPr lIns="95250" tIns="95250" rIns="95250" bIns="95250">
                      <a:noAutofit/>
                    </a:bodyPr>
                    <a:lstStyle/>
                    <a:p>
                      <a:pPr algn="l"/>
                      <a:r>
                        <a:rPr sz="1725" b="1">
                          <a:solidFill>
                            <a:srgbClr val="FFFFFF"/>
                          </a:solidFill>
                          <a:latin typeface="Arial"/>
                          <a:ea typeface="Arial"/>
                          <a:cs typeface="Arial"/>
                        </a:rPr>
                        <a:t>Hybrid so với</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Δ NDCG</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CI95</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725" b="1">
                          <a:solidFill>
                            <a:srgbClr val="FFFFFF"/>
                          </a:solidFill>
                          <a:latin typeface="Arial"/>
                          <a:ea typeface="Arial"/>
                          <a:cs typeface="Arial"/>
                        </a:rPr>
                        <a:t>Diễn giải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695325">
                <a:tc>
                  <a:txBody>
                    <a:bodyPr lIns="95250" tIns="95250" rIns="95250" bIns="95250">
                      <a:noAutofit/>
                    </a:bodyPr>
                    <a:lstStyle/>
                    <a:p>
                      <a:pPr algn="l"/>
                      <a:r>
                        <a:rPr sz="1725" b="0">
                          <a:solidFill>
                            <a:srgbClr val="172D3D"/>
                          </a:solidFill>
                          <a:latin typeface="Arial"/>
                          <a:ea typeface="Arial"/>
                          <a:cs typeface="Arial"/>
                        </a:rPr>
                        <a:t>BiasedSVD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+0,091542</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[0,082123;</a:t>
                      </a:r>
                    </a:p>
                    <a:p>
                      <a:pPr algn="l"/>
                      <a:r>
                        <a:rPr sz="1725" b="0">
                          <a:solidFill>
                            <a:srgbClr val="172D3D"/>
                          </a:solidFill>
                          <a:latin typeface="Arial"/>
                          <a:ea typeface="Arial"/>
                          <a:cs typeface="Arial"/>
                        </a:rPr>
                        <a:t>0,100679]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Gain có thể chủ yếu</a:t>
                      </a:r>
                    </a:p>
                    <a:p>
                      <a:pPr algn="l"/>
                      <a:r>
                        <a:rPr sz="1725" b="0">
                          <a:solidFill>
                            <a:srgbClr val="172D3D"/>
                          </a:solidFill>
                          <a:latin typeface="Arial"/>
                          <a:ea typeface="Arial"/>
                          <a:cs typeface="Arial"/>
                        </a:rPr>
                        <a:t>đến từ cold fallback</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SVDSharedFallback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-0,002432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[-0,006067;</a:t>
                      </a:r>
                    </a:p>
                    <a:p>
                      <a:pPr algn="l"/>
                      <a:r>
                        <a:rPr sz="1725" b="0">
                          <a:solidFill>
                            <a:srgbClr val="172D3D"/>
                          </a:solidFill>
                          <a:latin typeface="Arial"/>
                          <a:ea typeface="Arial"/>
                          <a:cs typeface="Arial"/>
                        </a:rPr>
                        <a:t>0,000926]</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tách được lợi ích</a:t>
                      </a:r>
                    </a:p>
                    <a:p>
                      <a:pPr algn="l"/>
                      <a:r>
                        <a:rPr sz="1725" b="0">
                          <a:solidFill>
                            <a:srgbClr val="172D3D"/>
                          </a:solidFill>
                          <a:latin typeface="Arial"/>
                          <a:ea typeface="Arial"/>
                          <a:cs typeface="Arial"/>
                        </a:rPr>
                        <a:t>ngoài cùng fallback</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695325">
                <a:tc>
                  <a:txBody>
                    <a:bodyPr lIns="95250" tIns="95250" rIns="95250" bIns="95250">
                      <a:noAutofit/>
                    </a:bodyPr>
                    <a:lstStyle/>
                    <a:p>
                      <a:pPr algn="l"/>
                      <a:r>
                        <a:rPr sz="1725" b="0">
                          <a:solidFill>
                            <a:srgbClr val="172D3D"/>
                          </a:solidFill>
                          <a:latin typeface="Arial"/>
                          <a:ea typeface="Arial"/>
                          <a:cs typeface="Arial"/>
                        </a:rPr>
                        <a:t>FixedHybrid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+0,002419</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[0,001075;</a:t>
                      </a:r>
                    </a:p>
                    <a:p>
                      <a:pPr algn="l"/>
                      <a:r>
                        <a:rPr sz="1725" b="0">
                          <a:solidFill>
                            <a:srgbClr val="172D3D"/>
                          </a:solidFill>
                          <a:latin typeface="Arial"/>
                          <a:ea typeface="Arial"/>
                          <a:cs typeface="Arial"/>
                        </a:rPr>
                        <a:t>0,003877]</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725" b="0">
                          <a:solidFill>
                            <a:srgbClr val="172D3D"/>
                          </a:solidFill>
                          <a:latin typeface="Arial"/>
                          <a:ea typeface="Arial"/>
                          <a:cs typeface="Arial"/>
                        </a:rPr>
                        <a:t>Lợi ích nhỏ của trọng số</a:t>
                      </a:r>
                    </a:p>
                    <a:p>
                      <a:pPr algn="l"/>
                      <a:r>
                        <a:rPr sz="1725" b="0">
                          <a:solidFill>
                            <a:srgbClr val="172D3D"/>
                          </a:solidFill>
                          <a:latin typeface="Arial"/>
                          <a:ea typeface="Arial"/>
                          <a:cs typeface="Arial"/>
                        </a:rPr>
                        <a:t>ở mức thăm dò</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695325">
                <a:tc>
                  <a:txBody>
                    <a:bodyPr lIns="95250" tIns="95250" rIns="95250" bIns="95250">
                      <a:noAutofit/>
                    </a:bodyPr>
                    <a:lstStyle/>
                    <a:p>
                      <a:pPr algn="l"/>
                      <a:r>
                        <a:rPr sz="1725" b="0">
                          <a:solidFill>
                            <a:srgbClr val="172D3D"/>
                          </a:solidFill>
                          <a:latin typeface="Arial"/>
                          <a:ea typeface="Arial"/>
                          <a:cs typeface="Arial"/>
                        </a:rPr>
                        <a:t>AdaptiveWithoutGenre</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-0,001651</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[-0,005154;</a:t>
                      </a:r>
                    </a:p>
                    <a:p>
                      <a:pPr algn="l"/>
                      <a:r>
                        <a:rPr sz="1725" b="0">
                          <a:solidFill>
                            <a:srgbClr val="172D3D"/>
                          </a:solidFill>
                          <a:latin typeface="Arial"/>
                          <a:ea typeface="Arial"/>
                          <a:cs typeface="Arial"/>
                        </a:rPr>
                        <a:t>0,001642]</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725" b="0">
                          <a:solidFill>
                            <a:srgbClr val="172D3D"/>
                          </a:solidFill>
                          <a:latin typeface="Arial"/>
                          <a:ea typeface="Arial"/>
                          <a:cs typeface="Arial"/>
                        </a:rPr>
                        <a:t>Chưa chứng minh</a:t>
                      </a:r>
                    </a:p>
                    <a:p>
                      <a:pPr algn="l"/>
                      <a:r>
                        <a:rPr sz="1725" b="0">
                          <a:solidFill>
                            <a:srgbClr val="172D3D"/>
                          </a:solidFill>
                          <a:latin typeface="Arial"/>
                          <a:ea typeface="Arial"/>
                          <a:cs typeface="Arial"/>
                        </a:rPr>
                        <a:t>đóng góp riêng của genre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Các đối chứng mang tính thăm dò, chưa hiệu chỉnh đa kiểm định">
            <a:extLst xmlns:a="http://schemas.openxmlformats.org/drawingml/2006/main">
              <a:ext uri="{FF2B5EF4-FFF2-40B4-BE49-F238E27FC236}">
                <a16:creationId xmlns:a16="http://schemas.microsoft.com/office/drawing/2014/main" id="{58543CAD-A9C1-4C20-A2E0-44C048E9313B}"/>
              </a:ext>
            </a:extLst>
          </p:cNvPr>
          <p:cNvSpPr>
            <a:spLocks xmlns:a="http://schemas.openxmlformats.org/drawingml/2006/main" noGrp="1"/>
          </p:cNvSpPr>
          <p:nvPr/>
        </p:nvSpPr>
        <p:spPr>
          <a:xfrm xmlns:a="http://schemas.openxmlformats.org/drawingml/2006/main">
            <a:off x="666750" y="57245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97E7C"/>
                </a:solidFill>
                <a:latin typeface="Arial"/>
                <a:ea typeface="Arial"/>
                <a:cs typeface="Arial"/>
              </a:defRPr>
            </a:defPPr>
            <a:lvl1pPr algn="l">
              <a:defRPr sz="1875" b="1">
                <a:solidFill>
                  <a:srgbClr val="297E7C"/>
                </a:solidFill>
                <a:latin typeface="Arial"/>
                <a:ea typeface="Arial"/>
                <a:cs typeface="Arial"/>
              </a:defRPr>
            </a:lvl1pPr>
            <a:lvl2pPr algn="l">
              <a:defRPr sz="1875" b="1">
                <a:solidFill>
                  <a:srgbClr val="297E7C"/>
                </a:solidFill>
                <a:latin typeface="Arial"/>
                <a:ea typeface="Arial"/>
                <a:cs typeface="Arial"/>
              </a:defRPr>
            </a:lvl2pPr>
            <a:lvl3pPr algn="l">
              <a:defRPr sz="1875" b="1">
                <a:solidFill>
                  <a:srgbClr val="297E7C"/>
                </a:solidFill>
                <a:latin typeface="Arial"/>
                <a:ea typeface="Arial"/>
                <a:cs typeface="Arial"/>
              </a:defRPr>
            </a:lvl3pPr>
            <a:lvl4pPr algn="l">
              <a:defRPr sz="1875" b="1">
                <a:solidFill>
                  <a:srgbClr val="297E7C"/>
                </a:solidFill>
                <a:latin typeface="Arial"/>
                <a:ea typeface="Arial"/>
                <a:cs typeface="Arial"/>
              </a:defRPr>
            </a:lvl4pPr>
            <a:lvl5pPr algn="l">
              <a:defRPr sz="1875" b="1">
                <a:solidFill>
                  <a:srgbClr val="297E7C"/>
                </a:solidFill>
                <a:latin typeface="Arial"/>
                <a:ea typeface="Arial"/>
                <a:cs typeface="Arial"/>
              </a:defRPr>
            </a:lvl5pPr>
            <a:lvl6pPr algn="l">
              <a:defRPr sz="1875" b="1">
                <a:solidFill>
                  <a:srgbClr val="297E7C"/>
                </a:solidFill>
                <a:latin typeface="Arial"/>
                <a:ea typeface="Arial"/>
                <a:cs typeface="Arial"/>
              </a:defRPr>
            </a:lvl6pPr>
            <a:lvl7pPr algn="l">
              <a:defRPr sz="1875" b="1">
                <a:solidFill>
                  <a:srgbClr val="297E7C"/>
                </a:solidFill>
                <a:latin typeface="Arial"/>
                <a:ea typeface="Arial"/>
                <a:cs typeface="Arial"/>
              </a:defRPr>
            </a:lvl7pPr>
            <a:lvl8pPr algn="l">
              <a:defRPr sz="1875" b="1">
                <a:solidFill>
                  <a:srgbClr val="297E7C"/>
                </a:solidFill>
                <a:latin typeface="Arial"/>
                <a:ea typeface="Arial"/>
                <a:cs typeface="Arial"/>
              </a:defRPr>
            </a:lvl8pPr>
            <a:lvl9pPr algn="l">
              <a:defRPr sz="1875" b="1">
                <a:solidFill>
                  <a:srgbClr val="297E7C"/>
                </a:solidFill>
                <a:latin typeface="Arial"/>
                <a:ea typeface="Arial"/>
                <a:cs typeface="Arial"/>
              </a:defRPr>
            </a:lvl9pPr>
          </a:lstStyle>
          <a:p xmlns:a="http://schemas.openxmlformats.org/drawingml/2006/main">
            <a:pPr algn="l">
              <a:defRPr sz="1875" b="1">
                <a:solidFill>
                  <a:srgbClr val="297E7C"/>
                </a:solidFill>
                <a:latin typeface="Arial"/>
                <a:ea typeface="Arial"/>
                <a:cs typeface="Arial"/>
              </a:defRPr>
            </a:pPr>
            <a:r>
              <a:rPr sz="1875" b="1">
                <a:solidFill>
                  <a:srgbClr val="297E7C"/>
                </a:solidFill>
                <a:latin typeface="Arial"/>
                <a:ea typeface="Arial"/>
                <a:cs typeface="Arial"/>
              </a:rPr>
              <a:t>Các đối chứng mang tính thăm dò, chưa hiệu chỉnh đa kiểm định</a:t>
            </a:r>
          </a:p>
        </p:txBody>
      </p:sp>
    </p:spTree>
    <p:extLst>
      <p:ext uri="{BB962C8B-B14F-4D97-AF65-F5344CB8AC3E}">
        <p14:creationId xmlns:p14="http://schemas.microsoft.com/office/powerpoint/2010/main" val="596388227"/>
      </p:ext>
    </p:extLst>
  </p:cSld>
</p:sld>
</file>

<file path=ppt/slides/slide19.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5" name="05   SẢN PHẨM">
            <a:extLst xmlns:a="http://schemas.openxmlformats.org/drawingml/2006/main">
              <a:ext uri="{FF2B5EF4-FFF2-40B4-BE49-F238E27FC236}">
                <a16:creationId xmlns:a16="http://schemas.microsoft.com/office/drawing/2014/main" id="{0A8EFF00-9AE8-4CA4-8615-4F8F7C6DDB31}"/>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Độ tin cậy dữ liệu và giới hạn suy luận">
            <a:extLst xmlns:a="http://schemas.openxmlformats.org/drawingml/2006/main">
              <a:ext uri="{FF2B5EF4-FFF2-40B4-BE49-F238E27FC236}">
                <a16:creationId xmlns:a16="http://schemas.microsoft.com/office/drawing/2014/main" id="{4EB41428-F192-4241-BE46-F6C543E6B303}"/>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Độ tin cậy dữ liệu và giới hạn suy luận</a:t>
            </a:r>
          </a:p>
        </p:txBody>
      </p:sp>
      <p:sp>
        <p:nvSpPr>
          <p:cNvPr id="3" name="">
            <a:extLst xmlns:a="http://schemas.openxmlformats.org/drawingml/2006/main">
              <a:ext uri="{FF2B5EF4-FFF2-40B4-BE49-F238E27FC236}">
                <a16:creationId xmlns:a16="http://schemas.microsoft.com/office/drawing/2014/main" id="{4592BA55-687C-4ADC-BBDC-97E89E8A9B4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9B02D92C-035D-41A4-B449-432603650002}"/>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19">
            <a:extLst xmlns:a="http://schemas.openxmlformats.org/drawingml/2006/main">
              <a:ext uri="{FF2B5EF4-FFF2-40B4-BE49-F238E27FC236}">
                <a16:creationId xmlns:a16="http://schemas.microsoft.com/office/drawing/2014/main" id="{8FE8C2EE-1BE9-4D45-8180-9647DE378891}"/>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19</a:t>
            </a:r>
          </a:p>
        </p:txBody>
      </p:sp>
      <p:sp>
        <p:nvSpPr>
          <p:cNvPr id="6" name="0">
            <a:extLst xmlns:a="http://schemas.openxmlformats.org/drawingml/2006/main">
              <a:ext uri="{FF2B5EF4-FFF2-40B4-BE49-F238E27FC236}">
                <a16:creationId xmlns:a16="http://schemas.microsoft.com/office/drawing/2014/main" id="{673A019C-ED1B-4389-B028-A09B7A23B200}"/>
              </a:ext>
            </a:extLst>
          </p:cNvPr>
          <p:cNvSpPr>
            <a:spLocks xmlns:a="http://schemas.openxmlformats.org/drawingml/2006/main" noGrp="1"/>
          </p:cNvSpPr>
          <p:nvPr/>
        </p:nvSpPr>
        <p:spPr>
          <a:xfrm xmlns:a="http://schemas.openxmlformats.org/drawingml/2006/main">
            <a:off x="666750" y="20478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97E7C"/>
                </a:solidFill>
                <a:latin typeface="Arial"/>
                <a:ea typeface="Arial"/>
                <a:cs typeface="Arial"/>
              </a:defRPr>
            </a:defPPr>
            <a:lvl1pPr algn="l">
              <a:defRPr sz="6300" b="1">
                <a:solidFill>
                  <a:srgbClr val="297E7C"/>
                </a:solidFill>
                <a:latin typeface="Arial"/>
                <a:ea typeface="Arial"/>
                <a:cs typeface="Arial"/>
              </a:defRPr>
            </a:lvl1pPr>
            <a:lvl2pPr algn="l">
              <a:defRPr sz="6300" b="1">
                <a:solidFill>
                  <a:srgbClr val="297E7C"/>
                </a:solidFill>
                <a:latin typeface="Arial"/>
                <a:ea typeface="Arial"/>
                <a:cs typeface="Arial"/>
              </a:defRPr>
            </a:lvl2pPr>
            <a:lvl3pPr algn="l">
              <a:defRPr sz="6300" b="1">
                <a:solidFill>
                  <a:srgbClr val="297E7C"/>
                </a:solidFill>
                <a:latin typeface="Arial"/>
                <a:ea typeface="Arial"/>
                <a:cs typeface="Arial"/>
              </a:defRPr>
            </a:lvl3pPr>
            <a:lvl4pPr algn="l">
              <a:defRPr sz="6300" b="1">
                <a:solidFill>
                  <a:srgbClr val="297E7C"/>
                </a:solidFill>
                <a:latin typeface="Arial"/>
                <a:ea typeface="Arial"/>
                <a:cs typeface="Arial"/>
              </a:defRPr>
            </a:lvl4pPr>
            <a:lvl5pPr algn="l">
              <a:defRPr sz="6300" b="1">
                <a:solidFill>
                  <a:srgbClr val="297E7C"/>
                </a:solidFill>
                <a:latin typeface="Arial"/>
                <a:ea typeface="Arial"/>
                <a:cs typeface="Arial"/>
              </a:defRPr>
            </a:lvl5pPr>
            <a:lvl6pPr algn="l">
              <a:defRPr sz="6300" b="1">
                <a:solidFill>
                  <a:srgbClr val="297E7C"/>
                </a:solidFill>
                <a:latin typeface="Arial"/>
                <a:ea typeface="Arial"/>
                <a:cs typeface="Arial"/>
              </a:defRPr>
            </a:lvl6pPr>
            <a:lvl7pPr algn="l">
              <a:defRPr sz="6300" b="1">
                <a:solidFill>
                  <a:srgbClr val="297E7C"/>
                </a:solidFill>
                <a:latin typeface="Arial"/>
                <a:ea typeface="Arial"/>
                <a:cs typeface="Arial"/>
              </a:defRPr>
            </a:lvl7pPr>
            <a:lvl8pPr algn="l">
              <a:defRPr sz="6300" b="1">
                <a:solidFill>
                  <a:srgbClr val="297E7C"/>
                </a:solidFill>
                <a:latin typeface="Arial"/>
                <a:ea typeface="Arial"/>
                <a:cs typeface="Arial"/>
              </a:defRPr>
            </a:lvl8pPr>
            <a:lvl9pPr algn="l">
              <a:defRPr sz="6300" b="1">
                <a:solidFill>
                  <a:srgbClr val="297E7C"/>
                </a:solidFill>
                <a:latin typeface="Arial"/>
                <a:ea typeface="Arial"/>
                <a:cs typeface="Arial"/>
              </a:defRPr>
            </a:lvl9pPr>
          </a:lstStyle>
          <a:p xmlns:a="http://schemas.openxmlformats.org/drawingml/2006/main">
            <a:pPr algn="l">
              <a:defRPr sz="6300" b="1">
                <a:solidFill>
                  <a:srgbClr val="297E7C"/>
                </a:solidFill>
                <a:latin typeface="Arial"/>
                <a:ea typeface="Arial"/>
                <a:cs typeface="Arial"/>
              </a:defRPr>
            </a:pPr>
            <a:r>
              <a:rPr sz="6300" b="1">
                <a:solidFill>
                  <a:srgbClr val="297E7C"/>
                </a:solidFill>
                <a:latin typeface="Arial"/>
                <a:ea typeface="Arial"/>
                <a:cs typeface="Arial"/>
              </a:rPr>
              <a:t>0</a:t>
            </a:r>
          </a:p>
        </p:txBody>
      </p:sp>
      <p:sp>
        <p:nvSpPr>
          <p:cNvPr id="7" name="null bắt buộc, cặp trùng hoặc&#10;rating sai miền trong audit nguồn">
            <a:extLst xmlns:a="http://schemas.openxmlformats.org/drawingml/2006/main">
              <a:ext uri="{FF2B5EF4-FFF2-40B4-BE49-F238E27FC236}">
                <a16:creationId xmlns:a16="http://schemas.microsoft.com/office/drawing/2014/main" id="{37B57EC8-6596-4896-AE45-CD522E74BB1D}"/>
              </a:ext>
            </a:extLst>
          </p:cNvPr>
          <p:cNvSpPr>
            <a:spLocks xmlns:a="http://schemas.openxmlformats.org/drawingml/2006/main" noGrp="1"/>
          </p:cNvSpPr>
          <p:nvPr/>
        </p:nvSpPr>
        <p:spPr>
          <a:xfrm xmlns:a="http://schemas.openxmlformats.org/drawingml/2006/main">
            <a:off x="70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null bắt buộc, cặp trùng hoặc</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sai miền trong audit nguồn</a:t>
            </a:r>
          </a:p>
        </p:txBody>
      </p:sp>
      <p:sp>
        <p:nvSpPr>
          <p:cNvPr id="8" name="75,29%">
            <a:extLst xmlns:a="http://schemas.openxmlformats.org/drawingml/2006/main">
              <a:ext uri="{FF2B5EF4-FFF2-40B4-BE49-F238E27FC236}">
                <a16:creationId xmlns:a16="http://schemas.microsoft.com/office/drawing/2014/main" id="{9999918E-712D-438B-A0C4-614A3D388B8B}"/>
              </a:ext>
            </a:extLst>
          </p:cNvPr>
          <p:cNvSpPr>
            <a:spLocks xmlns:a="http://schemas.openxmlformats.org/drawingml/2006/main" noGrp="1"/>
          </p:cNvSpPr>
          <p:nvPr/>
        </p:nvSpPr>
        <p:spPr>
          <a:xfrm xmlns:a="http://schemas.openxmlformats.org/drawingml/2006/main">
            <a:off x="4476750" y="20478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75,29%</a:t>
            </a:r>
          </a:p>
        </p:txBody>
      </p:sp>
      <p:sp>
        <p:nvSpPr>
          <p:cNvPr id="9" name="rating TEST thuộc cold user">
            <a:extLst xmlns:a="http://schemas.openxmlformats.org/drawingml/2006/main">
              <a:ext uri="{FF2B5EF4-FFF2-40B4-BE49-F238E27FC236}">
                <a16:creationId xmlns:a16="http://schemas.microsoft.com/office/drawing/2014/main" id="{C8C2D606-1A92-4B7F-BA7F-581A57A102EC}"/>
              </a:ext>
            </a:extLst>
          </p:cNvPr>
          <p:cNvSpPr>
            <a:spLocks xmlns:a="http://schemas.openxmlformats.org/drawingml/2006/main" noGrp="1"/>
          </p:cNvSpPr>
          <p:nvPr/>
        </p:nvSpPr>
        <p:spPr>
          <a:xfrm xmlns:a="http://schemas.openxmlformats.org/drawingml/2006/main">
            <a:off x="4514850" y="316230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rating TEST thuộc cold user</a:t>
            </a:r>
          </a:p>
        </p:txBody>
      </p:sp>
      <p:sp>
        <p:nvSpPr>
          <p:cNvPr id="10" name="7,30%">
            <a:extLst xmlns:a="http://schemas.openxmlformats.org/drawingml/2006/main">
              <a:ext uri="{FF2B5EF4-FFF2-40B4-BE49-F238E27FC236}">
                <a16:creationId xmlns:a16="http://schemas.microsoft.com/office/drawing/2014/main" id="{BAD546C4-3B7B-4052-B98B-1553CB48208B}"/>
              </a:ext>
            </a:extLst>
          </p:cNvPr>
          <p:cNvSpPr>
            <a:spLocks xmlns:a="http://schemas.openxmlformats.org/drawingml/2006/main" noGrp="1"/>
          </p:cNvSpPr>
          <p:nvPr/>
        </p:nvSpPr>
        <p:spPr>
          <a:xfrm xmlns:a="http://schemas.openxmlformats.org/drawingml/2006/main">
            <a:off x="8477250" y="20478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72D3D"/>
                </a:solidFill>
                <a:latin typeface="Arial"/>
                <a:ea typeface="Arial"/>
                <a:cs typeface="Arial"/>
              </a:defRPr>
            </a:defPPr>
            <a:lvl1pPr algn="l">
              <a:defRPr sz="5250" b="1">
                <a:solidFill>
                  <a:srgbClr val="172D3D"/>
                </a:solidFill>
                <a:latin typeface="Arial"/>
                <a:ea typeface="Arial"/>
                <a:cs typeface="Arial"/>
              </a:defRPr>
            </a:lvl1pPr>
            <a:lvl2pPr algn="l">
              <a:defRPr sz="5250" b="1">
                <a:solidFill>
                  <a:srgbClr val="172D3D"/>
                </a:solidFill>
                <a:latin typeface="Arial"/>
                <a:ea typeface="Arial"/>
                <a:cs typeface="Arial"/>
              </a:defRPr>
            </a:lvl2pPr>
            <a:lvl3pPr algn="l">
              <a:defRPr sz="5250" b="1">
                <a:solidFill>
                  <a:srgbClr val="172D3D"/>
                </a:solidFill>
                <a:latin typeface="Arial"/>
                <a:ea typeface="Arial"/>
                <a:cs typeface="Arial"/>
              </a:defRPr>
            </a:lvl3pPr>
            <a:lvl4pPr algn="l">
              <a:defRPr sz="5250" b="1">
                <a:solidFill>
                  <a:srgbClr val="172D3D"/>
                </a:solidFill>
                <a:latin typeface="Arial"/>
                <a:ea typeface="Arial"/>
                <a:cs typeface="Arial"/>
              </a:defRPr>
            </a:lvl4pPr>
            <a:lvl5pPr algn="l">
              <a:defRPr sz="5250" b="1">
                <a:solidFill>
                  <a:srgbClr val="172D3D"/>
                </a:solidFill>
                <a:latin typeface="Arial"/>
                <a:ea typeface="Arial"/>
                <a:cs typeface="Arial"/>
              </a:defRPr>
            </a:lvl5pPr>
            <a:lvl6pPr algn="l">
              <a:defRPr sz="5250" b="1">
                <a:solidFill>
                  <a:srgbClr val="172D3D"/>
                </a:solidFill>
                <a:latin typeface="Arial"/>
                <a:ea typeface="Arial"/>
                <a:cs typeface="Arial"/>
              </a:defRPr>
            </a:lvl6pPr>
            <a:lvl7pPr algn="l">
              <a:defRPr sz="5250" b="1">
                <a:solidFill>
                  <a:srgbClr val="172D3D"/>
                </a:solidFill>
                <a:latin typeface="Arial"/>
                <a:ea typeface="Arial"/>
                <a:cs typeface="Arial"/>
              </a:defRPr>
            </a:lvl7pPr>
            <a:lvl8pPr algn="l">
              <a:defRPr sz="5250" b="1">
                <a:solidFill>
                  <a:srgbClr val="172D3D"/>
                </a:solidFill>
                <a:latin typeface="Arial"/>
                <a:ea typeface="Arial"/>
                <a:cs typeface="Arial"/>
              </a:defRPr>
            </a:lvl8pPr>
            <a:lvl9pPr algn="l">
              <a:defRPr sz="5250" b="1">
                <a:solidFill>
                  <a:srgbClr val="172D3D"/>
                </a:solidFill>
                <a:latin typeface="Arial"/>
                <a:ea typeface="Arial"/>
                <a:cs typeface="Arial"/>
              </a:defRPr>
            </a:lvl9pPr>
          </a:lstStyle>
          <a:p xmlns:a="http://schemas.openxmlformats.org/drawingml/2006/main">
            <a:pPr algn="l">
              <a:defRPr sz="5250" b="1">
                <a:solidFill>
                  <a:srgbClr val="172D3D"/>
                </a:solidFill>
                <a:latin typeface="Arial"/>
                <a:ea typeface="Arial"/>
                <a:cs typeface="Arial"/>
              </a:defRPr>
            </a:pPr>
            <a:r>
              <a:rPr sz="5250" b="1">
                <a:solidFill>
                  <a:srgbClr val="172D3D"/>
                </a:solidFill>
                <a:latin typeface="Arial"/>
                <a:ea typeface="Arial"/>
                <a:cs typeface="Arial"/>
              </a:rPr>
              <a:t>7,30%</a:t>
            </a:r>
          </a:p>
        </p:txBody>
      </p:sp>
      <p:sp>
        <p:nvSpPr>
          <p:cNvPr id="11" name="positive ngoài catalog fit&#10;vẫn giữ trong mẫu số chính">
            <a:extLst xmlns:a="http://schemas.openxmlformats.org/drawingml/2006/main">
              <a:ext uri="{FF2B5EF4-FFF2-40B4-BE49-F238E27FC236}">
                <a16:creationId xmlns:a16="http://schemas.microsoft.com/office/drawing/2014/main" id="{43711B5B-8978-43A5-87DA-76A4F36754CF}"/>
              </a:ext>
            </a:extLst>
          </p:cNvPr>
          <p:cNvSpPr>
            <a:spLocks xmlns:a="http://schemas.openxmlformats.org/drawingml/2006/main" noGrp="1"/>
          </p:cNvSpPr>
          <p:nvPr/>
        </p:nvSpPr>
        <p:spPr>
          <a:xfrm xmlns:a="http://schemas.openxmlformats.org/drawingml/2006/main">
            <a:off x="8515350" y="316230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D3D"/>
                </a:solidFill>
                <a:latin typeface="Arial"/>
                <a:ea typeface="Arial"/>
                <a:cs typeface="Arial"/>
              </a:defRPr>
            </a:defPPr>
            <a:lvl1pPr algn="l">
              <a:defRPr sz="1875" b="0">
                <a:solidFill>
                  <a:srgbClr val="172D3D"/>
                </a:solidFill>
                <a:latin typeface="Arial"/>
                <a:ea typeface="Arial"/>
                <a:cs typeface="Arial"/>
              </a:defRPr>
            </a:lvl1pPr>
            <a:lvl2pPr algn="l">
              <a:defRPr sz="1875" b="0">
                <a:solidFill>
                  <a:srgbClr val="172D3D"/>
                </a:solidFill>
                <a:latin typeface="Arial"/>
                <a:ea typeface="Arial"/>
                <a:cs typeface="Arial"/>
              </a:defRPr>
            </a:lvl2pPr>
            <a:lvl3pPr algn="l">
              <a:defRPr sz="1875" b="0">
                <a:solidFill>
                  <a:srgbClr val="172D3D"/>
                </a:solidFill>
                <a:latin typeface="Arial"/>
                <a:ea typeface="Arial"/>
                <a:cs typeface="Arial"/>
              </a:defRPr>
            </a:lvl3pPr>
            <a:lvl4pPr algn="l">
              <a:defRPr sz="1875" b="0">
                <a:solidFill>
                  <a:srgbClr val="172D3D"/>
                </a:solidFill>
                <a:latin typeface="Arial"/>
                <a:ea typeface="Arial"/>
                <a:cs typeface="Arial"/>
              </a:defRPr>
            </a:lvl4pPr>
            <a:lvl5pPr algn="l">
              <a:defRPr sz="1875" b="0">
                <a:solidFill>
                  <a:srgbClr val="172D3D"/>
                </a:solidFill>
                <a:latin typeface="Arial"/>
                <a:ea typeface="Arial"/>
                <a:cs typeface="Arial"/>
              </a:defRPr>
            </a:lvl5pPr>
            <a:lvl6pPr algn="l">
              <a:defRPr sz="1875" b="0">
                <a:solidFill>
                  <a:srgbClr val="172D3D"/>
                </a:solidFill>
                <a:latin typeface="Arial"/>
                <a:ea typeface="Arial"/>
                <a:cs typeface="Arial"/>
              </a:defRPr>
            </a:lvl6pPr>
            <a:lvl7pPr algn="l">
              <a:defRPr sz="1875" b="0">
                <a:solidFill>
                  <a:srgbClr val="172D3D"/>
                </a:solidFill>
                <a:latin typeface="Arial"/>
                <a:ea typeface="Arial"/>
                <a:cs typeface="Arial"/>
              </a:defRPr>
            </a:lvl7pPr>
            <a:lvl8pPr algn="l">
              <a:defRPr sz="1875" b="0">
                <a:solidFill>
                  <a:srgbClr val="172D3D"/>
                </a:solidFill>
                <a:latin typeface="Arial"/>
                <a:ea typeface="Arial"/>
                <a:cs typeface="Arial"/>
              </a:defRPr>
            </a:lvl8pPr>
            <a:lvl9pPr algn="l">
              <a:defRPr sz="1875" b="0">
                <a:solidFill>
                  <a:srgbClr val="172D3D"/>
                </a:solidFill>
                <a:latin typeface="Arial"/>
                <a:ea typeface="Arial"/>
                <a:cs typeface="Arial"/>
              </a:defRPr>
            </a:lvl9pPr>
          </a:lstStyle>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positive ngoài catalog fit</a:t>
            </a:r>
          </a:p>
          <a:p xmlns:a="http://schemas.openxmlformats.org/drawingml/2006/main">
            <a:pPr algn="l">
              <a:defRPr sz="1875" b="0">
                <a:solidFill>
                  <a:srgbClr val="172D3D"/>
                </a:solidFill>
                <a:latin typeface="Arial"/>
                <a:ea typeface="Arial"/>
                <a:cs typeface="Arial"/>
              </a:defRPr>
            </a:pPr>
            <a:r>
              <a:rPr sz="1875" b="0">
                <a:solidFill>
                  <a:srgbClr val="172D3D"/>
                </a:solidFill>
                <a:latin typeface="Arial"/>
                <a:ea typeface="Arial"/>
                <a:cs typeface="Arial"/>
              </a:rPr>
              <a:t>vẫn giữ trong mẫu số chính</a:t>
            </a:r>
          </a:p>
        </p:txBody>
      </p:sp>
      <p:sp>
        <p:nvSpPr>
          <p:cNvPr id="12" name="">
            <a:extLst xmlns:a="http://schemas.openxmlformats.org/drawingml/2006/main">
              <a:ext uri="{FF2B5EF4-FFF2-40B4-BE49-F238E27FC236}">
                <a16:creationId xmlns:a16="http://schemas.microsoft.com/office/drawing/2014/main" id="{03DDC71A-921D-4D93-8CA9-D83BDEF30D3E}"/>
              </a:ext>
            </a:extLst>
          </p:cNvPr>
          <p:cNvSpPr>
            <a:spLocks xmlns:a="http://schemas.openxmlformats.org/drawingml/2006/main" noGrp="1"/>
          </p:cNvSpPr>
          <p:nvPr/>
        </p:nvSpPr>
        <p:spPr>
          <a:xfrm xmlns:a="http://schemas.openxmlformats.org/drawingml/2006/main">
            <a:off x="666750" y="4457700"/>
            <a:ext cx="1076325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13" name="Checksum xác nhận tính toàn vẹn kỹ thuật">
            <a:extLst xmlns:a="http://schemas.openxmlformats.org/drawingml/2006/main">
              <a:ext uri="{FF2B5EF4-FFF2-40B4-BE49-F238E27FC236}">
                <a16:creationId xmlns:a16="http://schemas.microsoft.com/office/drawing/2014/main" id="{AEDDB2A4-24D5-4EB8-925D-884128031ACF}"/>
              </a:ext>
            </a:extLst>
          </p:cNvPr>
          <p:cNvSpPr>
            <a:spLocks xmlns:a="http://schemas.openxmlformats.org/drawingml/2006/main" noGrp="1"/>
          </p:cNvSpPr>
          <p:nvPr/>
        </p:nvSpPr>
        <p:spPr>
          <a:xfrm xmlns:a="http://schemas.openxmlformats.org/drawingml/2006/main">
            <a:off x="666750" y="4857750"/>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97E7C"/>
                </a:solidFill>
                <a:latin typeface="Arial"/>
                <a:ea typeface="Arial"/>
                <a:cs typeface="Arial"/>
              </a:defRPr>
            </a:defPPr>
            <a:lvl1pPr algn="l">
              <a:defRPr sz="2175" b="1">
                <a:solidFill>
                  <a:srgbClr val="297E7C"/>
                </a:solidFill>
                <a:latin typeface="Arial"/>
                <a:ea typeface="Arial"/>
                <a:cs typeface="Arial"/>
              </a:defRPr>
            </a:lvl1pPr>
            <a:lvl2pPr algn="l">
              <a:defRPr sz="2175" b="1">
                <a:solidFill>
                  <a:srgbClr val="297E7C"/>
                </a:solidFill>
                <a:latin typeface="Arial"/>
                <a:ea typeface="Arial"/>
                <a:cs typeface="Arial"/>
              </a:defRPr>
            </a:lvl2pPr>
            <a:lvl3pPr algn="l">
              <a:defRPr sz="2175" b="1">
                <a:solidFill>
                  <a:srgbClr val="297E7C"/>
                </a:solidFill>
                <a:latin typeface="Arial"/>
                <a:ea typeface="Arial"/>
                <a:cs typeface="Arial"/>
              </a:defRPr>
            </a:lvl3pPr>
            <a:lvl4pPr algn="l">
              <a:defRPr sz="2175" b="1">
                <a:solidFill>
                  <a:srgbClr val="297E7C"/>
                </a:solidFill>
                <a:latin typeface="Arial"/>
                <a:ea typeface="Arial"/>
                <a:cs typeface="Arial"/>
              </a:defRPr>
            </a:lvl4pPr>
            <a:lvl5pPr algn="l">
              <a:defRPr sz="2175" b="1">
                <a:solidFill>
                  <a:srgbClr val="297E7C"/>
                </a:solidFill>
                <a:latin typeface="Arial"/>
                <a:ea typeface="Arial"/>
                <a:cs typeface="Arial"/>
              </a:defRPr>
            </a:lvl5pPr>
            <a:lvl6pPr algn="l">
              <a:defRPr sz="2175" b="1">
                <a:solidFill>
                  <a:srgbClr val="297E7C"/>
                </a:solidFill>
                <a:latin typeface="Arial"/>
                <a:ea typeface="Arial"/>
                <a:cs typeface="Arial"/>
              </a:defRPr>
            </a:lvl6pPr>
            <a:lvl7pPr algn="l">
              <a:defRPr sz="2175" b="1">
                <a:solidFill>
                  <a:srgbClr val="297E7C"/>
                </a:solidFill>
                <a:latin typeface="Arial"/>
                <a:ea typeface="Arial"/>
                <a:cs typeface="Arial"/>
              </a:defRPr>
            </a:lvl7pPr>
            <a:lvl8pPr algn="l">
              <a:defRPr sz="2175" b="1">
                <a:solidFill>
                  <a:srgbClr val="297E7C"/>
                </a:solidFill>
                <a:latin typeface="Arial"/>
                <a:ea typeface="Arial"/>
                <a:cs typeface="Arial"/>
              </a:defRPr>
            </a:lvl8pPr>
            <a:lvl9pPr algn="l">
              <a:defRPr sz="2175" b="1">
                <a:solidFill>
                  <a:srgbClr val="297E7C"/>
                </a:solidFill>
                <a:latin typeface="Arial"/>
                <a:ea typeface="Arial"/>
                <a:cs typeface="Arial"/>
              </a:defRPr>
            </a:lvl9pPr>
          </a:lstStyle>
          <a:p xmlns:a="http://schemas.openxmlformats.org/drawingml/2006/main">
            <a:pPr algn="l">
              <a:defRPr sz="2175" b="1">
                <a:solidFill>
                  <a:srgbClr val="297E7C"/>
                </a:solidFill>
                <a:latin typeface="Arial"/>
                <a:ea typeface="Arial"/>
                <a:cs typeface="Arial"/>
              </a:defRPr>
            </a:pPr>
            <a:r>
              <a:rPr sz="2175" b="1">
                <a:solidFill>
                  <a:srgbClr val="297E7C"/>
                </a:solidFill>
                <a:latin typeface="Arial"/>
                <a:ea typeface="Arial"/>
                <a:cs typeface="Arial"/>
              </a:rPr>
              <a:t>Checksum xác nhận tính toàn vẹn kỹ thuật</a:t>
            </a:r>
          </a:p>
        </p:txBody>
      </p:sp>
      <p:sp>
        <p:nvSpPr>
          <p:cNvPr id="14" name="MovieLens có thiên lệch chọn mẫu, thiếu&#10;exposure và nhân khẩu học">
            <a:extLst xmlns:a="http://schemas.openxmlformats.org/drawingml/2006/main">
              <a:ext uri="{FF2B5EF4-FFF2-40B4-BE49-F238E27FC236}">
                <a16:creationId xmlns:a16="http://schemas.microsoft.com/office/drawing/2014/main" id="{D6BA0C2C-BFDB-4E09-B854-B3B575DC794E}"/>
              </a:ext>
            </a:extLst>
          </p:cNvPr>
          <p:cNvSpPr>
            <a:spLocks xmlns:a="http://schemas.openxmlformats.org/drawingml/2006/main" noGrp="1"/>
          </p:cNvSpPr>
          <p:nvPr/>
        </p:nvSpPr>
        <p:spPr>
          <a:xfrm xmlns:a="http://schemas.openxmlformats.org/drawingml/2006/main">
            <a:off x="6572250" y="48577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674"/>
                </a:solidFill>
                <a:latin typeface="Arial"/>
                <a:ea typeface="Arial"/>
                <a:cs typeface="Arial"/>
              </a:defRPr>
            </a:defPPr>
            <a:lvl1pPr algn="l">
              <a:defRPr sz="1950" b="0">
                <a:solidFill>
                  <a:srgbClr val="526674"/>
                </a:solidFill>
                <a:latin typeface="Arial"/>
                <a:ea typeface="Arial"/>
                <a:cs typeface="Arial"/>
              </a:defRPr>
            </a:lvl1pPr>
            <a:lvl2pPr algn="l">
              <a:defRPr sz="1950" b="0">
                <a:solidFill>
                  <a:srgbClr val="526674"/>
                </a:solidFill>
                <a:latin typeface="Arial"/>
                <a:ea typeface="Arial"/>
                <a:cs typeface="Arial"/>
              </a:defRPr>
            </a:lvl2pPr>
            <a:lvl3pPr algn="l">
              <a:defRPr sz="1950" b="0">
                <a:solidFill>
                  <a:srgbClr val="526674"/>
                </a:solidFill>
                <a:latin typeface="Arial"/>
                <a:ea typeface="Arial"/>
                <a:cs typeface="Arial"/>
              </a:defRPr>
            </a:lvl3pPr>
            <a:lvl4pPr algn="l">
              <a:defRPr sz="1950" b="0">
                <a:solidFill>
                  <a:srgbClr val="526674"/>
                </a:solidFill>
                <a:latin typeface="Arial"/>
                <a:ea typeface="Arial"/>
                <a:cs typeface="Arial"/>
              </a:defRPr>
            </a:lvl4pPr>
            <a:lvl5pPr algn="l">
              <a:defRPr sz="1950" b="0">
                <a:solidFill>
                  <a:srgbClr val="526674"/>
                </a:solidFill>
                <a:latin typeface="Arial"/>
                <a:ea typeface="Arial"/>
                <a:cs typeface="Arial"/>
              </a:defRPr>
            </a:lvl5pPr>
            <a:lvl6pPr algn="l">
              <a:defRPr sz="1950" b="0">
                <a:solidFill>
                  <a:srgbClr val="526674"/>
                </a:solidFill>
                <a:latin typeface="Arial"/>
                <a:ea typeface="Arial"/>
                <a:cs typeface="Arial"/>
              </a:defRPr>
            </a:lvl6pPr>
            <a:lvl7pPr algn="l">
              <a:defRPr sz="1950" b="0">
                <a:solidFill>
                  <a:srgbClr val="526674"/>
                </a:solidFill>
                <a:latin typeface="Arial"/>
                <a:ea typeface="Arial"/>
                <a:cs typeface="Arial"/>
              </a:defRPr>
            </a:lvl7pPr>
            <a:lvl8pPr algn="l">
              <a:defRPr sz="1950" b="0">
                <a:solidFill>
                  <a:srgbClr val="526674"/>
                </a:solidFill>
                <a:latin typeface="Arial"/>
                <a:ea typeface="Arial"/>
                <a:cs typeface="Arial"/>
              </a:defRPr>
            </a:lvl8pPr>
            <a:lvl9pPr algn="l">
              <a:defRPr sz="1950" b="0">
                <a:solidFill>
                  <a:srgbClr val="526674"/>
                </a:solidFill>
                <a:latin typeface="Arial"/>
                <a:ea typeface="Arial"/>
                <a:cs typeface="Arial"/>
              </a:defRPr>
            </a:lvl9pPr>
          </a:lstStyle>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MovieLens có thiên lệch chọn mẫu, thiếu</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exposure và nhân khẩu học. Khả năng</a:t>
            </a:r>
          </a:p>
          <a:p xmlns:a="http://schemas.openxmlformats.org/drawingml/2006/main">
            <a:pPr algn="l">
              <a:defRPr sz="1950" b="0">
                <a:solidFill>
                  <a:srgbClr val="526674"/>
                </a:solidFill>
                <a:latin typeface="Arial"/>
                <a:ea typeface="Arial"/>
                <a:cs typeface="Arial"/>
              </a:defRPr>
            </a:pPr>
            <a:r>
              <a:rPr sz="1950" b="0">
                <a:solidFill>
                  <a:srgbClr val="526674"/>
                </a:solidFill>
                <a:latin typeface="Arial"/>
                <a:ea typeface="Arial"/>
                <a:cs typeface="Arial"/>
              </a:rPr>
              <a:t>suy rộng vì vậy còn giới hạn.</a:t>
            </a:r>
          </a:p>
        </p:txBody>
      </p:sp>
    </p:spTree>
    <p:extLst>
      <p:ext uri="{BB962C8B-B14F-4D97-AF65-F5344CB8AC3E}">
        <p14:creationId xmlns:p14="http://schemas.microsoft.com/office/powerpoint/2010/main" val="608395595"/>
      </p:ext>
    </p:extLst>
  </p:cSld>
</p:sld>
</file>

<file path=ppt/slides/slide20.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8" name="05   SẢN PHẨM">
            <a:extLst xmlns:a="http://schemas.openxmlformats.org/drawingml/2006/main">
              <a:ext uri="{FF2B5EF4-FFF2-40B4-BE49-F238E27FC236}">
                <a16:creationId xmlns:a16="http://schemas.microsoft.com/office/drawing/2014/main" id="{5CB6D679-F0D1-4125-82DF-A3DC663DE4EF}"/>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iểm thử và nghiệm thu">
            <a:extLst xmlns:a="http://schemas.openxmlformats.org/drawingml/2006/main">
              <a:ext uri="{FF2B5EF4-FFF2-40B4-BE49-F238E27FC236}">
                <a16:creationId xmlns:a16="http://schemas.microsoft.com/office/drawing/2014/main" id="{56EA09E8-17AE-462F-A392-C79629ADAA4A}"/>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Kiểm thử và nghiệm thu</a:t>
            </a:r>
          </a:p>
        </p:txBody>
      </p:sp>
      <p:sp>
        <p:nvSpPr>
          <p:cNvPr id="3" name="">
            <a:extLst xmlns:a="http://schemas.openxmlformats.org/drawingml/2006/main">
              <a:ext uri="{FF2B5EF4-FFF2-40B4-BE49-F238E27FC236}">
                <a16:creationId xmlns:a16="http://schemas.microsoft.com/office/drawing/2014/main" id="{7E33DC24-5FF1-4FF8-B69F-2E399E4F48D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F811EFC5-EAF0-48E6-889A-E7F922B3002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0">
            <a:extLst xmlns:a="http://schemas.openxmlformats.org/drawingml/2006/main">
              <a:ext uri="{FF2B5EF4-FFF2-40B4-BE49-F238E27FC236}">
                <a16:creationId xmlns:a16="http://schemas.microsoft.com/office/drawing/2014/main" id="{B9441329-9F58-4D86-9803-E2979F2DD779}"/>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20</a:t>
            </a:r>
          </a:p>
        </p:txBody>
      </p:sp>
      <p:graphicFrame>
        <p:nvGraphicFramePr>
          <p:cNvPr id="6" name="">
            <a:extLst xmlns:a="http://schemas.openxmlformats.org/drawingml/2006/main">
              <a:ext uri="{FF2B5EF4-FFF2-40B4-BE49-F238E27FC236}">
                <a16:creationId xmlns:a16="http://schemas.microsoft.com/office/drawing/2014/main" id="{F2C09839-99C8-47D3-88E4-E944841DDA0C}"/>
              </a:ext>
            </a:extLst>
          </p:cNvPr>
          <p:cNvGraphicFramePr/>
          <p:nvPr/>
        </p:nvGraphicFramePr>
        <p:xfrm>
          <a:off xmlns:a="http://schemas.openxmlformats.org/drawingml/2006/main" x="619125" y="2028825"/>
          <a:ext xmlns:a="http://schemas.openxmlformats.org/drawingml/2006/main" cx="10953750" cy="3705225"/>
        </p:xfrm>
        <a:graphic xmlns:a="http://schemas.openxmlformats.org/drawingml/2006/main">
          <a:graphicData uri="http://schemas.openxmlformats.org/drawingml/2006/table">
            <a:tbl>
              <a:tblPr/>
              <a:tblGrid>
                <a:gridCol w="2714625"/>
                <a:gridCol w="3286125"/>
                <a:gridCol w="4953000"/>
              </a:tblGrid>
              <a:tr h="529318">
                <a:tc>
                  <a:txBody>
                    <a:bodyPr lIns="95250" tIns="95250" rIns="95250" bIns="95250">
                      <a:noAutofit/>
                    </a:bodyPr>
                    <a:lstStyle/>
                    <a:p>
                      <a:pPr algn="l"/>
                      <a:r>
                        <a:rPr sz="1800" b="1">
                          <a:solidFill>
                            <a:srgbClr val="FFFFFF"/>
                          </a:solidFill>
                          <a:latin typeface="Arial"/>
                          <a:ea typeface="Arial"/>
                          <a:cs typeface="Arial"/>
                        </a:rPr>
                        <a:t>Hạng mục</a:t>
                      </a:r>
                    </a:p>
                  </a:txBody>
                  <a:tcPr marL="91440" marR="91440" marT="45720" marB="45720" anchor="ctr">
                    <a:lnL w="5715">
                      <a:solidFill>
                        <a:srgbClr val="C9C9BD"/>
                      </a:solidFill>
                      <a:prstDash val="solid"/>
                    </a:lnL>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Kết quả ghi nhận</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c>
                  <a:txBody>
                    <a:bodyPr lIns="95250" tIns="95250" rIns="95250" bIns="95250">
                      <a:noAutofit/>
                    </a:bodyPr>
                    <a:lstStyle/>
                    <a:p>
                      <a:pPr algn="l"/>
                      <a:r>
                        <a:rPr sz="1800" b="1">
                          <a:solidFill>
                            <a:srgbClr val="FFFFFF"/>
                          </a:solidFill>
                          <a:latin typeface="Arial"/>
                          <a:ea typeface="Arial"/>
                          <a:cs typeface="Arial"/>
                        </a:rPr>
                        <a:t>Phạm vi</a:t>
                      </a:r>
                    </a:p>
                  </a:txBody>
                  <a:tcPr marL="91440" marR="91440" marT="45720" marB="45720" anchor="ctr">
                    <a:lnR w="5715">
                      <a:solidFill>
                        <a:srgbClr val="C9C9BD"/>
                      </a:solidFill>
                      <a:prstDash val="solid"/>
                    </a:lnR>
                    <a:lnT w="5715">
                      <a:solidFill>
                        <a:srgbClr val="C9C9BD"/>
                      </a:solidFill>
                      <a:prstDash val="solid"/>
                    </a:lnT>
                    <a:lnB w="5715">
                      <a:solidFill>
                        <a:srgbClr val="C9C9BD"/>
                      </a:solidFill>
                      <a:prstDash val="solid"/>
                    </a:lnB>
                    <a:solidFill>
                      <a:srgbClr val="172D3D"/>
                    </a:solidFill>
                  </a:tcPr>
                </a:tc>
              </a:tr>
              <a:tr h="529318">
                <a:tc>
                  <a:txBody>
                    <a:bodyPr lIns="95250" tIns="95250" rIns="95250" bIns="95250">
                      <a:noAutofit/>
                    </a:bodyPr>
                    <a:lstStyle/>
                    <a:p>
                      <a:pPr algn="l"/>
                      <a:r>
                        <a:rPr sz="1800" b="0">
                          <a:solidFill>
                            <a:srgbClr val="172D3D"/>
                          </a:solidFill>
                          <a:latin typeface="Arial"/>
                          <a:ea typeface="Arial"/>
                          <a:cs typeface="Arial"/>
                        </a:rPr>
                        <a:t>Python</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66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Protocol, metric, artifact và gate</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PostgreSQL</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Ownership, transaction, pool và replay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9 passed</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Phiên, lỗi API, favorite và player</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Dashboard</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7 trang đạt smoke</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Artifact và compatibility</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r h="529318">
                <a:tc>
                  <a:txBody>
                    <a:bodyPr lIns="95250" tIns="95250" rIns="95250" bIns="95250">
                      <a:noAutofit/>
                    </a:bodyPr>
                    <a:lstStyle/>
                    <a:p>
                      <a:pPr algn="l"/>
                      <a:r>
                        <a:rPr sz="1800" b="0">
                          <a:solidFill>
                            <a:srgbClr val="172D3D"/>
                          </a:solidFill>
                          <a:latin typeface="Arial"/>
                          <a:ea typeface="Arial"/>
                          <a:cs typeface="Arial"/>
                        </a:rPr>
                        <a:t>Flutter analyze / web</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Analyze sạch, build thành công</a:t>
                      </a:r>
                    </a:p>
                  </a:txBody>
                  <a:tcPr marL="91440" marR="91440" marT="45720" marB="45720" anchor="ctr">
                    <a:lnR w="5715">
                      <a:solidFill>
                        <a:srgbClr val="C9C9BD"/>
                      </a:solidFill>
                      <a:prstDash val="solid"/>
                    </a:lnR>
                    <a:lnB w="5715">
                      <a:solidFill>
                        <a:srgbClr val="C9C9BD"/>
                      </a:solidFill>
                      <a:prstDash val="solid"/>
                    </a:lnB>
                    <a:solidFill>
                      <a:srgbClr val="F5F1E9"/>
                    </a:solidFill>
                  </a:tcPr>
                </a:tc>
                <a:tc>
                  <a:txBody>
                    <a:bodyPr lIns="95250" tIns="95250" rIns="95250" bIns="95250">
                      <a:noAutofit/>
                    </a:bodyPr>
                    <a:lstStyle/>
                    <a:p>
                      <a:pPr algn="l"/>
                      <a:r>
                        <a:rPr sz="1800" b="0">
                          <a:solidFill>
                            <a:srgbClr val="172D3D"/>
                          </a:solidFill>
                          <a:latin typeface="Arial"/>
                          <a:ea typeface="Arial"/>
                          <a:cs typeface="Arial"/>
                        </a:rPr>
                        <a:t>Phân tích tĩnh và build web</a:t>
                      </a:r>
                    </a:p>
                  </a:txBody>
                  <a:tcPr marL="91440" marR="91440" marT="45720" marB="45720" anchor="ctr">
                    <a:lnR w="5715">
                      <a:solidFill>
                        <a:srgbClr val="C9C9BD"/>
                      </a:solidFill>
                      <a:prstDash val="solid"/>
                    </a:lnR>
                    <a:lnB w="5715">
                      <a:solidFill>
                        <a:srgbClr val="C9C9BD"/>
                      </a:solidFill>
                      <a:prstDash val="solid"/>
                    </a:lnB>
                    <a:solidFill>
                      <a:srgbClr val="F5F1E9"/>
                    </a:solidFill>
                  </a:tcPr>
                </a:tc>
              </a:tr>
              <a:tr h="529318">
                <a:tc>
                  <a:txBody>
                    <a:bodyPr lIns="95250" tIns="95250" rIns="95250" bIns="95250">
                      <a:noAutofit/>
                    </a:bodyPr>
                    <a:lstStyle/>
                    <a:p>
                      <a:pPr algn="l"/>
                      <a:r>
                        <a:rPr sz="1800" b="0">
                          <a:solidFill>
                            <a:srgbClr val="172D3D"/>
                          </a:solidFill>
                          <a:latin typeface="Arial"/>
                          <a:ea typeface="Arial"/>
                          <a:cs typeface="Arial"/>
                        </a:rPr>
                        <a:t>HTTP / rollback</a:t>
                      </a:r>
                    </a:p>
                  </a:txBody>
                  <a:tcPr marL="91440" marR="91440" marT="45720" marB="45720" anchor="ctr">
                    <a:lnL w="5715">
                      <a:solidFill>
                        <a:srgbClr val="C9C9BD"/>
                      </a:solidFill>
                      <a:prstDash val="solid"/>
                    </a:lnL>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Đạt biên bản nghiệm thu</a:t>
                      </a:r>
                    </a:p>
                  </a:txBody>
                  <a:tcPr marL="91440" marR="91440" marT="45720" marB="45720" anchor="ctr">
                    <a:lnR w="5715">
                      <a:solidFill>
                        <a:srgbClr val="C9C9BD"/>
                      </a:solidFill>
                      <a:prstDash val="solid"/>
                    </a:lnR>
                    <a:lnB w="5715">
                      <a:solidFill>
                        <a:srgbClr val="C9C9BD"/>
                      </a:solidFill>
                      <a:prstDash val="solid"/>
                    </a:lnB>
                    <a:solidFill>
                      <a:srgbClr val="EAE9DF"/>
                    </a:solidFill>
                  </a:tcPr>
                </a:tc>
                <a:tc>
                  <a:txBody>
                    <a:bodyPr lIns="95250" tIns="95250" rIns="95250" bIns="95250">
                      <a:noAutofit/>
                    </a:bodyPr>
                    <a:lstStyle/>
                    <a:p>
                      <a:pPr algn="l"/>
                      <a:r>
                        <a:rPr sz="1800" b="0">
                          <a:solidFill>
                            <a:srgbClr val="172D3D"/>
                          </a:solidFill>
                          <a:latin typeface="Arial"/>
                          <a:ea typeface="Arial"/>
                          <a:cs typeface="Arial"/>
                        </a:rPr>
                        <a:t>Route đọc, checksum và đổi bundle</a:t>
                      </a:r>
                    </a:p>
                  </a:txBody>
                  <a:tcPr marL="91440" marR="91440" marT="45720" marB="45720" anchor="ctr">
                    <a:lnR w="5715">
                      <a:solidFill>
                        <a:srgbClr val="C9C9BD"/>
                      </a:solidFill>
                      <a:prstDash val="solid"/>
                    </a:lnR>
                    <a:lnB w="5715">
                      <a:solidFill>
                        <a:srgbClr val="C9C9BD"/>
                      </a:solidFill>
                      <a:prstDash val="solid"/>
                    </a:lnB>
                    <a:solidFill>
                      <a:srgbClr val="EAE9DF"/>
                    </a:solidFill>
                  </a:tcPr>
                </a:tc>
              </a:tr>
            </a:tbl>
          </a:graphicData>
        </a:graphic>
      </p:graphicFrame>
      <p:sp>
        <p:nvSpPr>
          <p:cNvPr id="7" name="Bằng chứng ngày 16/10/2026. Chưa thay thế thử nghiệm thiết bị vật">
            <a:extLst xmlns:a="http://schemas.openxmlformats.org/drawingml/2006/main">
              <a:ext uri="{FF2B5EF4-FFF2-40B4-BE49-F238E27FC236}">
                <a16:creationId xmlns:a16="http://schemas.microsoft.com/office/drawing/2014/main" id="{829E7361-023D-4294-8B86-465678C5A71D}"/>
              </a:ext>
            </a:extLst>
          </p:cNvPr>
          <p:cNvSpPr>
            <a:spLocks xmlns:a="http://schemas.openxmlformats.org/drawingml/2006/main" noGrp="1"/>
          </p:cNvSpPr>
          <p:nvPr/>
        </p:nvSpPr>
        <p:spPr>
          <a:xfrm xmlns:a="http://schemas.openxmlformats.org/drawingml/2006/main">
            <a:off x="6667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674"/>
                </a:solidFill>
                <a:latin typeface="Arial"/>
                <a:ea typeface="Arial"/>
                <a:cs typeface="Arial"/>
              </a:defRPr>
            </a:defPPr>
            <a:lvl1pPr algn="l">
              <a:defRPr sz="1650" b="0">
                <a:solidFill>
                  <a:srgbClr val="526674"/>
                </a:solidFill>
                <a:latin typeface="Arial"/>
                <a:ea typeface="Arial"/>
                <a:cs typeface="Arial"/>
              </a:defRPr>
            </a:lvl1pPr>
            <a:lvl2pPr algn="l">
              <a:defRPr sz="1650" b="0">
                <a:solidFill>
                  <a:srgbClr val="526674"/>
                </a:solidFill>
                <a:latin typeface="Arial"/>
                <a:ea typeface="Arial"/>
                <a:cs typeface="Arial"/>
              </a:defRPr>
            </a:lvl2pPr>
            <a:lvl3pPr algn="l">
              <a:defRPr sz="1650" b="0">
                <a:solidFill>
                  <a:srgbClr val="526674"/>
                </a:solidFill>
                <a:latin typeface="Arial"/>
                <a:ea typeface="Arial"/>
                <a:cs typeface="Arial"/>
              </a:defRPr>
            </a:lvl3pPr>
            <a:lvl4pPr algn="l">
              <a:defRPr sz="1650" b="0">
                <a:solidFill>
                  <a:srgbClr val="526674"/>
                </a:solidFill>
                <a:latin typeface="Arial"/>
                <a:ea typeface="Arial"/>
                <a:cs typeface="Arial"/>
              </a:defRPr>
            </a:lvl4pPr>
            <a:lvl5pPr algn="l">
              <a:defRPr sz="1650" b="0">
                <a:solidFill>
                  <a:srgbClr val="526674"/>
                </a:solidFill>
                <a:latin typeface="Arial"/>
                <a:ea typeface="Arial"/>
                <a:cs typeface="Arial"/>
              </a:defRPr>
            </a:lvl5pPr>
            <a:lvl6pPr algn="l">
              <a:defRPr sz="1650" b="0">
                <a:solidFill>
                  <a:srgbClr val="526674"/>
                </a:solidFill>
                <a:latin typeface="Arial"/>
                <a:ea typeface="Arial"/>
                <a:cs typeface="Arial"/>
              </a:defRPr>
            </a:lvl6pPr>
            <a:lvl7pPr algn="l">
              <a:defRPr sz="1650" b="0">
                <a:solidFill>
                  <a:srgbClr val="526674"/>
                </a:solidFill>
                <a:latin typeface="Arial"/>
                <a:ea typeface="Arial"/>
                <a:cs typeface="Arial"/>
              </a:defRPr>
            </a:lvl7pPr>
            <a:lvl8pPr algn="l">
              <a:defRPr sz="1650" b="0">
                <a:solidFill>
                  <a:srgbClr val="526674"/>
                </a:solidFill>
                <a:latin typeface="Arial"/>
                <a:ea typeface="Arial"/>
                <a:cs typeface="Arial"/>
              </a:defRPr>
            </a:lvl8pPr>
            <a:lvl9pPr algn="l">
              <a:defRPr sz="1650" b="0">
                <a:solidFill>
                  <a:srgbClr val="526674"/>
                </a:solidFill>
                <a:latin typeface="Arial"/>
                <a:ea typeface="Arial"/>
                <a:cs typeface="Arial"/>
              </a:defRPr>
            </a:lvl9pPr>
          </a:lstStyle>
          <a:p xmlns:a="http://schemas.openxmlformats.org/drawingml/2006/main">
            <a:pPr algn="l">
              <a:defRPr sz="1650" b="0">
                <a:solidFill>
                  <a:srgbClr val="526674"/>
                </a:solidFill>
                <a:latin typeface="Arial"/>
                <a:ea typeface="Arial"/>
                <a:cs typeface="Arial"/>
              </a:defRPr>
            </a:pPr>
            <a:r>
              <a:rPr sz="1650" b="0">
                <a:solidFill>
                  <a:srgbClr val="526674"/>
                </a:solidFill>
                <a:latin typeface="Arial"/>
                <a:ea typeface="Arial"/>
                <a:cs typeface="Arial"/>
              </a:rPr>
              <a:t>Bằng chứng ngày 16/10/2026. Chưa thay thế thử nghiệm thiết bị vật lý hoặc tải production.</a:t>
            </a:r>
          </a:p>
        </p:txBody>
      </p:sp>
    </p:spTree>
    <p:extLst>
      <p:ext uri="{BB962C8B-B14F-4D97-AF65-F5344CB8AC3E}">
        <p14:creationId xmlns:p14="http://schemas.microsoft.com/office/powerpoint/2010/main" val="1988688609"/>
      </p:ext>
    </p:extLst>
  </p:cSld>
</p:sld>
</file>

<file path=ppt/slides/slide2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8" name="05   SẢN PHẨM">
            <a:extLst xmlns:a="http://schemas.openxmlformats.org/drawingml/2006/main">
              <a:ext uri="{FF2B5EF4-FFF2-40B4-BE49-F238E27FC236}">
                <a16:creationId xmlns:a16="http://schemas.microsoft.com/office/drawing/2014/main" id="{3F49129B-B968-49BD-96A6-5E5E1936B099}"/>
              </a:ext>
            </a:extLst>
          </p:cNvPr>
          <p:cNvSpPr>
            <a:spLocks xmlns:a="http://schemas.openxmlformats.org/drawingml/2006/main" noGrp="1"/>
          </p:cNvSpPr>
          <p:nvPr/>
        </p:nvSpPr>
        <p:spPr>
          <a:xfrm xmlns:a="http://schemas.openxmlformats.org/drawingml/2006/main">
            <a:off x="609600" y="2857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E7C"/>
                </a:solidFill>
                <a:latin typeface="Arial"/>
                <a:ea typeface="Arial"/>
                <a:cs typeface="Arial"/>
              </a:defRPr>
            </a:defPPr>
            <a:lvl1pPr algn="l">
              <a:defRPr sz="1275" b="1">
                <a:solidFill>
                  <a:srgbClr val="297E7C"/>
                </a:solidFill>
                <a:latin typeface="Arial"/>
                <a:ea typeface="Arial"/>
                <a:cs typeface="Arial"/>
              </a:defRPr>
            </a:lvl1pPr>
            <a:lvl2pPr algn="l">
              <a:defRPr sz="1275" b="1">
                <a:solidFill>
                  <a:srgbClr val="297E7C"/>
                </a:solidFill>
                <a:latin typeface="Arial"/>
                <a:ea typeface="Arial"/>
                <a:cs typeface="Arial"/>
              </a:defRPr>
            </a:lvl2pPr>
            <a:lvl3pPr algn="l">
              <a:defRPr sz="1275" b="1">
                <a:solidFill>
                  <a:srgbClr val="297E7C"/>
                </a:solidFill>
                <a:latin typeface="Arial"/>
                <a:ea typeface="Arial"/>
                <a:cs typeface="Arial"/>
              </a:defRPr>
            </a:lvl3pPr>
            <a:lvl4pPr algn="l">
              <a:defRPr sz="1275" b="1">
                <a:solidFill>
                  <a:srgbClr val="297E7C"/>
                </a:solidFill>
                <a:latin typeface="Arial"/>
                <a:ea typeface="Arial"/>
                <a:cs typeface="Arial"/>
              </a:defRPr>
            </a:lvl4pPr>
            <a:lvl5pPr algn="l">
              <a:defRPr sz="1275" b="1">
                <a:solidFill>
                  <a:srgbClr val="297E7C"/>
                </a:solidFill>
                <a:latin typeface="Arial"/>
                <a:ea typeface="Arial"/>
                <a:cs typeface="Arial"/>
              </a:defRPr>
            </a:lvl5pPr>
            <a:lvl6pPr algn="l">
              <a:defRPr sz="1275" b="1">
                <a:solidFill>
                  <a:srgbClr val="297E7C"/>
                </a:solidFill>
                <a:latin typeface="Arial"/>
                <a:ea typeface="Arial"/>
                <a:cs typeface="Arial"/>
              </a:defRPr>
            </a:lvl6pPr>
            <a:lvl7pPr algn="l">
              <a:defRPr sz="1275" b="1">
                <a:solidFill>
                  <a:srgbClr val="297E7C"/>
                </a:solidFill>
                <a:latin typeface="Arial"/>
                <a:ea typeface="Arial"/>
                <a:cs typeface="Arial"/>
              </a:defRPr>
            </a:lvl7pPr>
            <a:lvl8pPr algn="l">
              <a:defRPr sz="1275" b="1">
                <a:solidFill>
                  <a:srgbClr val="297E7C"/>
                </a:solidFill>
                <a:latin typeface="Arial"/>
                <a:ea typeface="Arial"/>
                <a:cs typeface="Arial"/>
              </a:defRPr>
            </a:lvl8pPr>
            <a:lvl9pPr algn="l">
              <a:defRPr sz="1275" b="1">
                <a:solidFill>
                  <a:srgbClr val="297E7C"/>
                </a:solidFill>
                <a:latin typeface="Arial"/>
                <a:ea typeface="Arial"/>
                <a:cs typeface="Arial"/>
              </a:defRPr>
            </a:lvl9pPr>
          </a:lstStyle>
          <a:p xmlns:a="http://schemas.openxmlformats.org/drawingml/2006/main">
            <a:pPr algn="l">
              <a:defRPr sz="1275" b="1">
                <a:solidFill>
                  <a:srgbClr val="297E7C"/>
                </a:solidFill>
                <a:latin typeface="Arial"/>
                <a:ea typeface="Arial"/>
                <a:cs typeface="Arial"/>
              </a:defRPr>
            </a:pPr>
            <a:r>
              <a:rPr sz="1275" b="1">
                <a:solidFill>
                  <a:srgbClr val="297E7C"/>
                </a:solidFill>
                <a:latin typeface="Arial"/>
                <a:ea typeface="Arial"/>
                <a:cs typeface="Arial"/>
              </a:rPr>
              <a:t>05   SẢN PHẨM</a:t>
            </a:r>
          </a:p>
        </p:txBody>
      </p:sp>
      <p:sp>
        <p:nvSpPr>
          <p:cNvPr id="2" name="Kịch bản trình diễn">
            <a:extLst xmlns:a="http://schemas.openxmlformats.org/drawingml/2006/main">
              <a:ext uri="{FF2B5EF4-FFF2-40B4-BE49-F238E27FC236}">
                <a16:creationId xmlns:a16="http://schemas.microsoft.com/office/drawing/2014/main" id="{F6CC3383-80BF-4568-B475-7DF5E76AE504}"/>
              </a:ext>
            </a:extLst>
          </p:cNvPr>
          <p:cNvSpPr>
            <a:spLocks xmlns:a="http://schemas.openxmlformats.org/drawingml/2006/main" noGrp="1"/>
          </p:cNvSpPr>
          <p:nvPr/>
        </p:nvSpPr>
        <p:spPr>
          <a:xfrm xmlns:a="http://schemas.openxmlformats.org/drawingml/2006/main">
            <a:off x="609600" y="7429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D3D"/>
                </a:solidFill>
                <a:latin typeface="Arial"/>
                <a:ea typeface="Arial"/>
                <a:cs typeface="Arial"/>
              </a:defRPr>
            </a:defPPr>
            <a:lvl1pPr algn="l">
              <a:defRPr sz="3225" b="1">
                <a:solidFill>
                  <a:srgbClr val="172D3D"/>
                </a:solidFill>
                <a:latin typeface="Arial"/>
                <a:ea typeface="Arial"/>
                <a:cs typeface="Arial"/>
              </a:defRPr>
            </a:lvl1pPr>
            <a:lvl2pPr algn="l">
              <a:defRPr sz="3225" b="1">
                <a:solidFill>
                  <a:srgbClr val="172D3D"/>
                </a:solidFill>
                <a:latin typeface="Arial"/>
                <a:ea typeface="Arial"/>
                <a:cs typeface="Arial"/>
              </a:defRPr>
            </a:lvl2pPr>
            <a:lvl3pPr algn="l">
              <a:defRPr sz="3225" b="1">
                <a:solidFill>
                  <a:srgbClr val="172D3D"/>
                </a:solidFill>
                <a:latin typeface="Arial"/>
                <a:ea typeface="Arial"/>
                <a:cs typeface="Arial"/>
              </a:defRPr>
            </a:lvl3pPr>
            <a:lvl4pPr algn="l">
              <a:defRPr sz="3225" b="1">
                <a:solidFill>
                  <a:srgbClr val="172D3D"/>
                </a:solidFill>
                <a:latin typeface="Arial"/>
                <a:ea typeface="Arial"/>
                <a:cs typeface="Arial"/>
              </a:defRPr>
            </a:lvl4pPr>
            <a:lvl5pPr algn="l">
              <a:defRPr sz="3225" b="1">
                <a:solidFill>
                  <a:srgbClr val="172D3D"/>
                </a:solidFill>
                <a:latin typeface="Arial"/>
                <a:ea typeface="Arial"/>
                <a:cs typeface="Arial"/>
              </a:defRPr>
            </a:lvl5pPr>
            <a:lvl6pPr algn="l">
              <a:defRPr sz="3225" b="1">
                <a:solidFill>
                  <a:srgbClr val="172D3D"/>
                </a:solidFill>
                <a:latin typeface="Arial"/>
                <a:ea typeface="Arial"/>
                <a:cs typeface="Arial"/>
              </a:defRPr>
            </a:lvl6pPr>
            <a:lvl7pPr algn="l">
              <a:defRPr sz="3225" b="1">
                <a:solidFill>
                  <a:srgbClr val="172D3D"/>
                </a:solidFill>
                <a:latin typeface="Arial"/>
                <a:ea typeface="Arial"/>
                <a:cs typeface="Arial"/>
              </a:defRPr>
            </a:lvl7pPr>
            <a:lvl8pPr algn="l">
              <a:defRPr sz="3225" b="1">
                <a:solidFill>
                  <a:srgbClr val="172D3D"/>
                </a:solidFill>
                <a:latin typeface="Arial"/>
                <a:ea typeface="Arial"/>
                <a:cs typeface="Arial"/>
              </a:defRPr>
            </a:lvl8pPr>
            <a:lvl9pPr algn="l">
              <a:defRPr sz="3225" b="1">
                <a:solidFill>
                  <a:srgbClr val="172D3D"/>
                </a:solidFill>
                <a:latin typeface="Arial"/>
                <a:ea typeface="Arial"/>
                <a:cs typeface="Arial"/>
              </a:defRPr>
            </a:lvl9pPr>
          </a:lstStyle>
          <a:p xmlns:a="http://schemas.openxmlformats.org/drawingml/2006/main">
            <a:pPr algn="l">
              <a:defRPr sz="3225" b="1">
                <a:solidFill>
                  <a:srgbClr val="172D3D"/>
                </a:solidFill>
                <a:latin typeface="Arial"/>
                <a:ea typeface="Arial"/>
                <a:cs typeface="Arial"/>
              </a:defRPr>
            </a:pPr>
            <a:r>
              <a:rPr sz="3225" b="1">
                <a:solidFill>
                  <a:srgbClr val="172D3D"/>
                </a:solidFill>
                <a:latin typeface="Arial"/>
                <a:ea typeface="Arial"/>
                <a:cs typeface="Arial"/>
              </a:rPr>
              <a:t>Kịch bản trình diễn</a:t>
            </a:r>
          </a:p>
        </p:txBody>
      </p:sp>
      <p:sp>
        <p:nvSpPr>
          <p:cNvPr id="3" name="">
            <a:extLst xmlns:a="http://schemas.openxmlformats.org/drawingml/2006/main">
              <a:ext uri="{FF2B5EF4-FFF2-40B4-BE49-F238E27FC236}">
                <a16:creationId xmlns:a16="http://schemas.microsoft.com/office/drawing/2014/main" id="{3C56E2AD-C7B1-4AB6-82B4-CAADE4B6CEE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C9C9BD"/>
            </a:solidFill>
            <a:prstDash val="solid"/>
          </a:ln>
        </p:spPr>
      </p:sp>
      <p:sp>
        <p:nvSpPr>
          <p:cNvPr id="4" name="MovieRS   /   Nguyễn Thanh Chiến">
            <a:extLst xmlns:a="http://schemas.openxmlformats.org/drawingml/2006/main">
              <a:ext uri="{FF2B5EF4-FFF2-40B4-BE49-F238E27FC236}">
                <a16:creationId xmlns:a16="http://schemas.microsoft.com/office/drawing/2014/main" id="{82A68137-2974-4F9B-BA6D-32884B4D917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674"/>
                </a:solidFill>
                <a:latin typeface="Arial"/>
                <a:ea typeface="Arial"/>
                <a:cs typeface="Arial"/>
              </a:defRPr>
            </a:defPPr>
            <a:lvl1pPr algn="l">
              <a:defRPr sz="1050" b="0">
                <a:solidFill>
                  <a:srgbClr val="526674"/>
                </a:solidFill>
                <a:latin typeface="Arial"/>
                <a:ea typeface="Arial"/>
                <a:cs typeface="Arial"/>
              </a:defRPr>
            </a:lvl1pPr>
            <a:lvl2pPr algn="l">
              <a:defRPr sz="1050" b="0">
                <a:solidFill>
                  <a:srgbClr val="526674"/>
                </a:solidFill>
                <a:latin typeface="Arial"/>
                <a:ea typeface="Arial"/>
                <a:cs typeface="Arial"/>
              </a:defRPr>
            </a:lvl2pPr>
            <a:lvl3pPr algn="l">
              <a:defRPr sz="1050" b="0">
                <a:solidFill>
                  <a:srgbClr val="526674"/>
                </a:solidFill>
                <a:latin typeface="Arial"/>
                <a:ea typeface="Arial"/>
                <a:cs typeface="Arial"/>
              </a:defRPr>
            </a:lvl3pPr>
            <a:lvl4pPr algn="l">
              <a:defRPr sz="1050" b="0">
                <a:solidFill>
                  <a:srgbClr val="526674"/>
                </a:solidFill>
                <a:latin typeface="Arial"/>
                <a:ea typeface="Arial"/>
                <a:cs typeface="Arial"/>
              </a:defRPr>
            </a:lvl4pPr>
            <a:lvl5pPr algn="l">
              <a:defRPr sz="1050" b="0">
                <a:solidFill>
                  <a:srgbClr val="526674"/>
                </a:solidFill>
                <a:latin typeface="Arial"/>
                <a:ea typeface="Arial"/>
                <a:cs typeface="Arial"/>
              </a:defRPr>
            </a:lvl5pPr>
            <a:lvl6pPr algn="l">
              <a:defRPr sz="1050" b="0">
                <a:solidFill>
                  <a:srgbClr val="526674"/>
                </a:solidFill>
                <a:latin typeface="Arial"/>
                <a:ea typeface="Arial"/>
                <a:cs typeface="Arial"/>
              </a:defRPr>
            </a:lvl6pPr>
            <a:lvl7pPr algn="l">
              <a:defRPr sz="1050" b="0">
                <a:solidFill>
                  <a:srgbClr val="526674"/>
                </a:solidFill>
                <a:latin typeface="Arial"/>
                <a:ea typeface="Arial"/>
                <a:cs typeface="Arial"/>
              </a:defRPr>
            </a:lvl7pPr>
            <a:lvl8pPr algn="l">
              <a:defRPr sz="1050" b="0">
                <a:solidFill>
                  <a:srgbClr val="526674"/>
                </a:solidFill>
                <a:latin typeface="Arial"/>
                <a:ea typeface="Arial"/>
                <a:cs typeface="Arial"/>
              </a:defRPr>
            </a:lvl8pPr>
            <a:lvl9pPr algn="l">
              <a:defRPr sz="1050" b="0">
                <a:solidFill>
                  <a:srgbClr val="526674"/>
                </a:solidFill>
                <a:latin typeface="Arial"/>
                <a:ea typeface="Arial"/>
                <a:cs typeface="Arial"/>
              </a:defRPr>
            </a:lvl9pPr>
          </a:lstStyle>
          <a:p xmlns:a="http://schemas.openxmlformats.org/drawingml/2006/main">
            <a:pPr algn="l">
              <a:defRPr sz="1050" b="0">
                <a:solidFill>
                  <a:srgbClr val="526674"/>
                </a:solidFill>
                <a:latin typeface="Arial"/>
                <a:ea typeface="Arial"/>
                <a:cs typeface="Arial"/>
              </a:defRPr>
            </a:pPr>
            <a:r>
              <a:rPr sz="1050" b="0">
                <a:solidFill>
                  <a:srgbClr val="526674"/>
                </a:solidFill>
                <a:latin typeface="Arial"/>
                <a:ea typeface="Arial"/>
                <a:cs typeface="Arial"/>
              </a:rPr>
              <a:t>MovieRS   /   Nguyễn Thanh Chiến</a:t>
            </a:r>
          </a:p>
        </p:txBody>
      </p:sp>
      <p:sp>
        <p:nvSpPr>
          <p:cNvPr id="5" name="21">
            <a:extLst xmlns:a="http://schemas.openxmlformats.org/drawingml/2006/main">
              <a:ext uri="{FF2B5EF4-FFF2-40B4-BE49-F238E27FC236}">
                <a16:creationId xmlns:a16="http://schemas.microsoft.com/office/drawing/2014/main" id="{17AF00F4-6459-4924-BF96-9476EBFF90DC}"/>
              </a:ext>
            </a:extLst>
          </p:cNvPr>
          <p:cNvSpPr>
            <a:spLocks xmlns:a="http://schemas.openxmlformats.org/drawingml/2006/main" noGrp="1"/>
          </p:cNvSpPr>
          <p:nvPr/>
        </p:nvSpPr>
        <p:spPr>
          <a:xfrm xmlns:a="http://schemas.openxmlformats.org/drawingml/2006/main">
            <a:off x="10953750" y="64960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674"/>
                </a:solidFill>
                <a:latin typeface="Arial"/>
                <a:ea typeface="Arial"/>
                <a:cs typeface="Arial"/>
              </a:defRPr>
            </a:defPPr>
            <a:lvl1pPr algn="r">
              <a:defRPr sz="1275" b="0">
                <a:solidFill>
                  <a:srgbClr val="526674"/>
                </a:solidFill>
                <a:latin typeface="Arial"/>
                <a:ea typeface="Arial"/>
                <a:cs typeface="Arial"/>
              </a:defRPr>
            </a:lvl1pPr>
            <a:lvl2pPr algn="r">
              <a:defRPr sz="1275" b="0">
                <a:solidFill>
                  <a:srgbClr val="526674"/>
                </a:solidFill>
                <a:latin typeface="Arial"/>
                <a:ea typeface="Arial"/>
                <a:cs typeface="Arial"/>
              </a:defRPr>
            </a:lvl2pPr>
            <a:lvl3pPr algn="r">
              <a:defRPr sz="1275" b="0">
                <a:solidFill>
                  <a:srgbClr val="526674"/>
                </a:solidFill>
                <a:latin typeface="Arial"/>
                <a:ea typeface="Arial"/>
                <a:cs typeface="Arial"/>
              </a:defRPr>
            </a:lvl3pPr>
            <a:lvl4pPr algn="r">
              <a:defRPr sz="1275" b="0">
                <a:solidFill>
                  <a:srgbClr val="526674"/>
                </a:solidFill>
                <a:latin typeface="Arial"/>
                <a:ea typeface="Arial"/>
                <a:cs typeface="Arial"/>
              </a:defRPr>
            </a:lvl4pPr>
            <a:lvl5pPr algn="r">
              <a:defRPr sz="1275" b="0">
                <a:solidFill>
                  <a:srgbClr val="526674"/>
                </a:solidFill>
                <a:latin typeface="Arial"/>
                <a:ea typeface="Arial"/>
                <a:cs typeface="Arial"/>
              </a:defRPr>
            </a:lvl5pPr>
            <a:lvl6pPr algn="r">
              <a:defRPr sz="1275" b="0">
                <a:solidFill>
                  <a:srgbClr val="526674"/>
                </a:solidFill>
                <a:latin typeface="Arial"/>
                <a:ea typeface="Arial"/>
                <a:cs typeface="Arial"/>
              </a:defRPr>
            </a:lvl6pPr>
            <a:lvl7pPr algn="r">
              <a:defRPr sz="1275" b="0">
                <a:solidFill>
                  <a:srgbClr val="526674"/>
                </a:solidFill>
                <a:latin typeface="Arial"/>
                <a:ea typeface="Arial"/>
                <a:cs typeface="Arial"/>
              </a:defRPr>
            </a:lvl7pPr>
            <a:lvl8pPr algn="r">
              <a:defRPr sz="1275" b="0">
                <a:solidFill>
                  <a:srgbClr val="526674"/>
                </a:solidFill>
                <a:latin typeface="Arial"/>
                <a:ea typeface="Arial"/>
                <a:cs typeface="Arial"/>
              </a:defRPr>
            </a:lvl8pPr>
            <a:lvl9pPr algn="r">
              <a:defRPr sz="1275" b="0">
                <a:solidFill>
                  <a:srgbClr val="526674"/>
                </a:solidFill>
                <a:latin typeface="Arial"/>
                <a:ea typeface="Arial"/>
                <a:cs typeface="Arial"/>
              </a:defRPr>
            </a:lvl9pPr>
          </a:lstStyle>
          <a:p xmlns:a="http://schemas.openxmlformats.org/drawingml/2006/main">
            <a:pPr algn="r">
              <a:defRPr sz="1275" b="0">
                <a:solidFill>
                  <a:srgbClr val="526674"/>
                </a:solidFill>
                <a:latin typeface="Arial"/>
                <a:ea typeface="Arial"/>
                <a:cs typeface="Arial"/>
              </a:defRPr>
            </a:pPr>
            <a:r>
              <a:rPr sz="1275" b="0">
                <a:solidFill>
                  <a:srgbClr val="526674"/>
                </a:solidFill>
                <a:latin typeface="Arial"/>
                <a:ea typeface="Arial"/>
                <a:cs typeface="Arial"/>
              </a:rPr>
              <a:t>21</a:t>
            </a:r>
          </a:p>
        </p:txBody>
      </p:sp>
      <p:sp>
        <p:nvSpPr>
          <p:cNvPr id="6" name="01">
            <a:extLst xmlns:a="http://schemas.openxmlformats.org/drawingml/2006/main">
              <a:ext uri="{FF2B5EF4-FFF2-40B4-BE49-F238E27FC236}">
                <a16:creationId xmlns:a16="http://schemas.microsoft.com/office/drawing/2014/main" id="{7866EA69-765B-4F28-BFD7-6F8E7B054A85}"/>
              </a:ext>
            </a:extLst>
          </p:cNvPr>
          <p:cNvSpPr>
            <a:spLocks xmlns:a="http://schemas.openxmlformats.org/drawingml/2006/main" noGrp="1"/>
          </p:cNvSpPr>
          <p:nvPr/>
        </p:nvSpPr>
        <p:spPr>
          <a:xfrm xmlns:a="http://schemas.openxmlformats.org/drawingml/2006/main">
            <a:off x="666750" y="21336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01</a:t>
            </a:r>
          </a:p>
        </p:txBody>
      </p:sp>
      <p:sp>
        <p:nvSpPr>
          <p:cNvPr id="7" name="Nguồn dữ liệu và snapshot">
            <a:extLst xmlns:a="http://schemas.openxmlformats.org/drawingml/2006/main">
              <a:ext uri="{FF2B5EF4-FFF2-40B4-BE49-F238E27FC236}">
                <a16:creationId xmlns:a16="http://schemas.microsoft.com/office/drawing/2014/main" id="{40DCE262-8689-4D87-8715-13AE356E1C58}"/>
              </a:ext>
            </a:extLst>
          </p:cNvPr>
          <p:cNvSpPr>
            <a:spLocks xmlns:a="http://schemas.openxmlformats.org/drawingml/2006/main" noGrp="1"/>
          </p:cNvSpPr>
          <p:nvPr/>
        </p:nvSpPr>
        <p:spPr>
          <a:xfrm xmlns:a="http://schemas.openxmlformats.org/drawingml/2006/main">
            <a:off x="1809750" y="21907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Nguồn dữ liệu và snapshot</a:t>
            </a:r>
          </a:p>
        </p:txBody>
      </p:sp>
      <p:sp>
        <p:nvSpPr>
          <p:cNvPr id="8" name="02">
            <a:extLst xmlns:a="http://schemas.openxmlformats.org/drawingml/2006/main">
              <a:ext uri="{FF2B5EF4-FFF2-40B4-BE49-F238E27FC236}">
                <a16:creationId xmlns:a16="http://schemas.microsoft.com/office/drawing/2014/main" id="{A1F2DF11-C225-43C1-A95E-85E67804BC82}"/>
              </a:ext>
            </a:extLst>
          </p:cNvPr>
          <p:cNvSpPr>
            <a:spLocks xmlns:a="http://schemas.openxmlformats.org/drawingml/2006/main" noGrp="1"/>
          </p:cNvSpPr>
          <p:nvPr/>
        </p:nvSpPr>
        <p:spPr>
          <a:xfrm xmlns:a="http://schemas.openxmlformats.org/drawingml/2006/main">
            <a:off x="666750" y="28670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02</a:t>
            </a:r>
          </a:p>
        </p:txBody>
      </p:sp>
      <p:sp>
        <p:nvSpPr>
          <p:cNvPr id="9" name="So sánh model, CI và ablation">
            <a:extLst xmlns:a="http://schemas.openxmlformats.org/drawingml/2006/main">
              <a:ext uri="{FF2B5EF4-FFF2-40B4-BE49-F238E27FC236}">
                <a16:creationId xmlns:a16="http://schemas.microsoft.com/office/drawing/2014/main" id="{92FE683E-F071-4F0C-B6BA-2A84E7EBED79}"/>
              </a:ext>
            </a:extLst>
          </p:cNvPr>
          <p:cNvSpPr>
            <a:spLocks xmlns:a="http://schemas.openxmlformats.org/drawingml/2006/main" noGrp="1"/>
          </p:cNvSpPr>
          <p:nvPr/>
        </p:nvSpPr>
        <p:spPr>
          <a:xfrm xmlns:a="http://schemas.openxmlformats.org/drawingml/2006/main">
            <a:off x="1809750" y="292417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D3D"/>
                </a:solidFill>
                <a:latin typeface="Arial"/>
                <a:ea typeface="Arial"/>
                <a:cs typeface="Arial"/>
              </a:defRPr>
            </a:defPPr>
            <a:lvl1pPr algn="l">
              <a:defRPr sz="2100" b="1">
                <a:solidFill>
                  <a:srgbClr val="172D3D"/>
                </a:solidFill>
                <a:latin typeface="Arial"/>
                <a:ea typeface="Arial"/>
                <a:cs typeface="Arial"/>
              </a:defRPr>
            </a:lvl1pPr>
            <a:lvl2pPr algn="l">
              <a:defRPr sz="2100" b="1">
                <a:solidFill>
                  <a:srgbClr val="172D3D"/>
                </a:solidFill>
                <a:latin typeface="Arial"/>
                <a:ea typeface="Arial"/>
                <a:cs typeface="Arial"/>
              </a:defRPr>
            </a:lvl2pPr>
            <a:lvl3pPr algn="l">
              <a:defRPr sz="2100" b="1">
                <a:solidFill>
                  <a:srgbClr val="172D3D"/>
                </a:solidFill>
                <a:latin typeface="Arial"/>
                <a:ea typeface="Arial"/>
                <a:cs typeface="Arial"/>
              </a:defRPr>
            </a:lvl3pPr>
            <a:lvl4pPr algn="l">
              <a:defRPr sz="2100" b="1">
                <a:solidFill>
                  <a:srgbClr val="172D3D"/>
                </a:solidFill>
                <a:latin typeface="Arial"/>
                <a:ea typeface="Arial"/>
                <a:cs typeface="Arial"/>
              </a:defRPr>
            </a:lvl4pPr>
            <a:lvl5pPr algn="l">
              <a:defRPr sz="2100" b="1">
                <a:solidFill>
                  <a:srgbClr val="172D3D"/>
                </a:solidFill>
                <a:latin typeface="Arial"/>
                <a:ea typeface="Arial"/>
                <a:cs typeface="Arial"/>
              </a:defRPr>
            </a:lvl5pPr>
            <a:lvl6pPr algn="l">
              <a:defRPr sz="2100" b="1">
                <a:solidFill>
                  <a:srgbClr val="172D3D"/>
                </a:solidFill>
                <a:latin typeface="Arial"/>
                <a:ea typeface="Arial"/>
                <a:cs typeface="Arial"/>
              </a:defRPr>
            </a:lvl6pPr>
            <a:lvl7pPr algn="l">
              <a:defRPr sz="2100" b="1">
                <a:solidFill>
                  <a:srgbClr val="172D3D"/>
                </a:solidFill>
                <a:latin typeface="Arial"/>
                <a:ea typeface="Arial"/>
                <a:cs typeface="Arial"/>
              </a:defRPr>
            </a:lvl7pPr>
            <a:lvl8pPr algn="l">
              <a:defRPr sz="2100" b="1">
                <a:solidFill>
                  <a:srgbClr val="172D3D"/>
                </a:solidFill>
                <a:latin typeface="Arial"/>
                <a:ea typeface="Arial"/>
                <a:cs typeface="Arial"/>
              </a:defRPr>
            </a:lvl8pPr>
            <a:lvl9pPr algn="l">
              <a:defRPr sz="2100" b="1">
                <a:solidFill>
                  <a:srgbClr val="172D3D"/>
                </a:solidFill>
                <a:latin typeface="Arial"/>
                <a:ea typeface="Arial"/>
                <a:cs typeface="Arial"/>
              </a:defRPr>
            </a:lvl9pPr>
          </a:lstStyle>
          <a:p xmlns:a="http://schemas.openxmlformats.org/drawingml/2006/main">
            <a:pPr algn="l">
              <a:defRPr sz="2100" b="1">
                <a:solidFill>
                  <a:srgbClr val="172D3D"/>
                </a:solidFill>
                <a:latin typeface="Arial"/>
                <a:ea typeface="Arial"/>
                <a:cs typeface="Arial"/>
              </a:defRPr>
            </a:pPr>
            <a:r>
              <a:rPr sz="2100" b="1">
                <a:solidFill>
                  <a:srgbClr val="172D3D"/>
                </a:solidFill>
                <a:latin typeface="Arial"/>
                <a:ea typeface="Arial"/>
                <a:cs typeface="Arial"/>
              </a:rPr>
              <a:t>So sánh model, CI và ablation</a:t>
            </a:r>
          </a:p>
        </p:txBody>
      </p:sp>
      <p:sp>
        <p:nvSpPr>
          <p:cNvPr id="10" name="03">
            <a:extLst xmlns:a="http://schemas.openxmlformats.org/drawingml/2006/main">
              <a:ext uri="{FF2B5EF4-FFF2-40B4-BE49-F238E27FC236}">
                <a16:creationId xmlns:a16="http://schemas.microsoft.com/office/drawing/2014/main" id="{EF792E9F-FB3C-489B-9718-5F746E03A57D}"/>
              </a:ext>
            </a:extLst>
          </p:cNvPr>
          <p:cNvSpPr>
            <a:spLocks xmlns:a="http://schemas.openxmlformats.org/drawingml/2006/main" noGrp="1"/>
          </p:cNvSpPr>
          <p:nvPr/>
        </p:nvSpPr>
        <p:spPr>
          <a:xfrm xmlns:a="http://schemas.openxmlformats.org/drawingml/2006/main">
            <a:off x="666750" y="360045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03</a:t>
            </a:r>
          </a:p>
        </p:txBody>
      </p:sp>
      <p:sp>
        <p:nvSpPr>
          <p:cNvPr id="11" name="Đăng nhập và chọn thể loại">
            <a:extLst xmlns:a="http://schemas.openxmlformats.org/drawingml/2006/main">
              <a:ext uri="{FF2B5EF4-FFF2-40B4-BE49-F238E27FC236}">
                <a16:creationId xmlns:a16="http://schemas.microsoft.com/office/drawing/2014/main" id="{81DACE88-60ED-40C2-92CA-4749149B8BAE}"/>
              </a:ext>
            </a:extLst>
          </p:cNvPr>
          <p:cNvSpPr>
            <a:spLocks xmlns:a="http://schemas.openxmlformats.org/drawingml/2006/main" noGrp="1"/>
          </p:cNvSpPr>
          <p:nvPr/>
        </p:nvSpPr>
        <p:spPr>
          <a:xfrm xmlns:a="http://schemas.openxmlformats.org/drawingml/2006/main">
            <a:off x="1809750" y="365760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Đăng nhập và chọn thể loại</a:t>
            </a:r>
          </a:p>
        </p:txBody>
      </p:sp>
      <p:sp>
        <p:nvSpPr>
          <p:cNvPr id="12" name="04">
            <a:extLst xmlns:a="http://schemas.openxmlformats.org/drawingml/2006/main">
              <a:ext uri="{FF2B5EF4-FFF2-40B4-BE49-F238E27FC236}">
                <a16:creationId xmlns:a16="http://schemas.microsoft.com/office/drawing/2014/main" id="{242B14F6-67E6-4D63-9AF6-0D63080F452E}"/>
              </a:ext>
            </a:extLst>
          </p:cNvPr>
          <p:cNvSpPr>
            <a:spLocks xmlns:a="http://schemas.openxmlformats.org/drawingml/2006/main" noGrp="1"/>
          </p:cNvSpPr>
          <p:nvPr/>
        </p:nvSpPr>
        <p:spPr>
          <a:xfrm xmlns:a="http://schemas.openxmlformats.org/drawingml/2006/main">
            <a:off x="666750" y="433387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04</a:t>
            </a:r>
          </a:p>
        </p:txBody>
      </p:sp>
      <p:sp>
        <p:nvSpPr>
          <p:cNvPr id="13" name="Đánh giá sao, favorite, xem mô phỏng">
            <a:extLst xmlns:a="http://schemas.openxmlformats.org/drawingml/2006/main">
              <a:ext uri="{FF2B5EF4-FFF2-40B4-BE49-F238E27FC236}">
                <a16:creationId xmlns:a16="http://schemas.microsoft.com/office/drawing/2014/main" id="{B5C5BF22-ABEF-4ADE-BE0B-473D9D51E09D}"/>
              </a:ext>
            </a:extLst>
          </p:cNvPr>
          <p:cNvSpPr>
            <a:spLocks xmlns:a="http://schemas.openxmlformats.org/drawingml/2006/main" noGrp="1"/>
          </p:cNvSpPr>
          <p:nvPr/>
        </p:nvSpPr>
        <p:spPr>
          <a:xfrm xmlns:a="http://schemas.openxmlformats.org/drawingml/2006/main">
            <a:off x="1809750" y="4391025"/>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Đánh giá sao, favorite, xem mô phỏng</a:t>
            </a:r>
          </a:p>
        </p:txBody>
      </p:sp>
      <p:sp>
        <p:nvSpPr>
          <p:cNvPr id="14" name="05">
            <a:extLst xmlns:a="http://schemas.openxmlformats.org/drawingml/2006/main">
              <a:ext uri="{FF2B5EF4-FFF2-40B4-BE49-F238E27FC236}">
                <a16:creationId xmlns:a16="http://schemas.microsoft.com/office/drawing/2014/main" id="{2A325F73-39F4-4CF1-94FE-1CA2177A62D6}"/>
              </a:ext>
            </a:extLst>
          </p:cNvPr>
          <p:cNvSpPr>
            <a:spLocks xmlns:a="http://schemas.openxmlformats.org/drawingml/2006/main" noGrp="1"/>
          </p:cNvSpPr>
          <p:nvPr/>
        </p:nvSpPr>
        <p:spPr>
          <a:xfrm xmlns:a="http://schemas.openxmlformats.org/drawingml/2006/main">
            <a:off x="666750" y="50673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E7C"/>
                </a:solidFill>
                <a:latin typeface="Arial"/>
                <a:ea typeface="Arial"/>
                <a:cs typeface="Arial"/>
              </a:defRPr>
            </a:defPPr>
            <a:lvl1pPr algn="l">
              <a:defRPr sz="2625" b="1">
                <a:solidFill>
                  <a:srgbClr val="297E7C"/>
                </a:solidFill>
                <a:latin typeface="Arial"/>
                <a:ea typeface="Arial"/>
                <a:cs typeface="Arial"/>
              </a:defRPr>
            </a:lvl1pPr>
            <a:lvl2pPr algn="l">
              <a:defRPr sz="2625" b="1">
                <a:solidFill>
                  <a:srgbClr val="297E7C"/>
                </a:solidFill>
                <a:latin typeface="Arial"/>
                <a:ea typeface="Arial"/>
                <a:cs typeface="Arial"/>
              </a:defRPr>
            </a:lvl2pPr>
            <a:lvl3pPr algn="l">
              <a:defRPr sz="2625" b="1">
                <a:solidFill>
                  <a:srgbClr val="297E7C"/>
                </a:solidFill>
                <a:latin typeface="Arial"/>
                <a:ea typeface="Arial"/>
                <a:cs typeface="Arial"/>
              </a:defRPr>
            </a:lvl3pPr>
            <a:lvl4pPr algn="l">
              <a:defRPr sz="2625" b="1">
                <a:solidFill>
                  <a:srgbClr val="297E7C"/>
                </a:solidFill>
                <a:latin typeface="Arial"/>
                <a:ea typeface="Arial"/>
                <a:cs typeface="Arial"/>
              </a:defRPr>
            </a:lvl4pPr>
            <a:lvl5pPr algn="l">
              <a:defRPr sz="2625" b="1">
                <a:solidFill>
                  <a:srgbClr val="297E7C"/>
                </a:solidFill>
                <a:latin typeface="Arial"/>
                <a:ea typeface="Arial"/>
                <a:cs typeface="Arial"/>
              </a:defRPr>
            </a:lvl5pPr>
            <a:lvl6pPr algn="l">
              <a:defRPr sz="2625" b="1">
                <a:solidFill>
                  <a:srgbClr val="297E7C"/>
                </a:solidFill>
                <a:latin typeface="Arial"/>
                <a:ea typeface="Arial"/>
                <a:cs typeface="Arial"/>
              </a:defRPr>
            </a:lvl6pPr>
            <a:lvl7pPr algn="l">
              <a:defRPr sz="2625" b="1">
                <a:solidFill>
                  <a:srgbClr val="297E7C"/>
                </a:solidFill>
                <a:latin typeface="Arial"/>
                <a:ea typeface="Arial"/>
                <a:cs typeface="Arial"/>
              </a:defRPr>
            </a:lvl7pPr>
            <a:lvl8pPr algn="l">
              <a:defRPr sz="2625" b="1">
                <a:solidFill>
                  <a:srgbClr val="297E7C"/>
                </a:solidFill>
                <a:latin typeface="Arial"/>
                <a:ea typeface="Arial"/>
                <a:cs typeface="Arial"/>
              </a:defRPr>
            </a:lvl8pPr>
            <a:lvl9pPr algn="l">
              <a:defRPr sz="2625" b="1">
                <a:solidFill>
                  <a:srgbClr val="297E7C"/>
                </a:solidFill>
                <a:latin typeface="Arial"/>
                <a:ea typeface="Arial"/>
                <a:cs typeface="Arial"/>
              </a:defRPr>
            </a:lvl9pPr>
          </a:lstStyle>
          <a:p xmlns:a="http://schemas.openxmlformats.org/drawingml/2006/main">
            <a:pPr algn="l">
              <a:defRPr sz="2625" b="1">
                <a:solidFill>
                  <a:srgbClr val="297E7C"/>
                </a:solidFill>
                <a:latin typeface="Arial"/>
                <a:ea typeface="Arial"/>
                <a:cs typeface="Arial"/>
              </a:defRPr>
            </a:pPr>
            <a:r>
              <a:rPr sz="2625" b="1">
                <a:solidFill>
                  <a:srgbClr val="297E7C"/>
                </a:solidFill>
                <a:latin typeface="Arial"/>
                <a:ea typeface="Arial"/>
                <a:cs typeface="Arial"/>
              </a:rPr>
              <a:t>05</a:t>
            </a:r>
          </a:p>
        </p:txBody>
      </p:sp>
      <p:sp>
        <p:nvSpPr>
          <p:cNvPr id="15" name="Resume, health và phiên bản bundle">
            <a:extLst xmlns:a="http://schemas.openxmlformats.org/drawingml/2006/main">
              <a:ext uri="{FF2B5EF4-FFF2-40B4-BE49-F238E27FC236}">
                <a16:creationId xmlns:a16="http://schemas.microsoft.com/office/drawing/2014/main" id="{9655B8C3-9DBF-4BEA-B922-E18A46A3B492}"/>
              </a:ext>
            </a:extLst>
          </p:cNvPr>
          <p:cNvSpPr>
            <a:spLocks xmlns:a="http://schemas.openxmlformats.org/drawingml/2006/main" noGrp="1"/>
          </p:cNvSpPr>
          <p:nvPr/>
        </p:nvSpPr>
        <p:spPr>
          <a:xfrm xmlns:a="http://schemas.openxmlformats.org/drawingml/2006/main">
            <a:off x="1809750" y="5124450"/>
            <a:ext cx="642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D"/>
                </a:solidFill>
                <a:latin typeface="Arial"/>
                <a:ea typeface="Arial"/>
                <a:cs typeface="Arial"/>
              </a:defRPr>
            </a:defPPr>
            <a:lvl1pPr algn="l">
              <a:defRPr sz="2100" b="0">
                <a:solidFill>
                  <a:srgbClr val="172D3D"/>
                </a:solidFill>
                <a:latin typeface="Arial"/>
                <a:ea typeface="Arial"/>
                <a:cs typeface="Arial"/>
              </a:defRPr>
            </a:lvl1pPr>
            <a:lvl2pPr algn="l">
              <a:defRPr sz="2100" b="0">
                <a:solidFill>
                  <a:srgbClr val="172D3D"/>
                </a:solidFill>
                <a:latin typeface="Arial"/>
                <a:ea typeface="Arial"/>
                <a:cs typeface="Arial"/>
              </a:defRPr>
            </a:lvl2pPr>
            <a:lvl3pPr algn="l">
              <a:defRPr sz="2100" b="0">
                <a:solidFill>
                  <a:srgbClr val="172D3D"/>
                </a:solidFill>
                <a:latin typeface="Arial"/>
                <a:ea typeface="Arial"/>
                <a:cs typeface="Arial"/>
              </a:defRPr>
            </a:lvl3pPr>
            <a:lvl4pPr algn="l">
              <a:defRPr sz="2100" b="0">
                <a:solidFill>
                  <a:srgbClr val="172D3D"/>
                </a:solidFill>
                <a:latin typeface="Arial"/>
                <a:ea typeface="Arial"/>
                <a:cs typeface="Arial"/>
              </a:defRPr>
            </a:lvl4pPr>
            <a:lvl5pPr algn="l">
              <a:defRPr sz="2100" b="0">
                <a:solidFill>
                  <a:srgbClr val="172D3D"/>
                </a:solidFill>
                <a:latin typeface="Arial"/>
                <a:ea typeface="Arial"/>
                <a:cs typeface="Arial"/>
              </a:defRPr>
            </a:lvl5pPr>
            <a:lvl6pPr algn="l">
              <a:defRPr sz="2100" b="0">
                <a:solidFill>
                  <a:srgbClr val="172D3D"/>
                </a:solidFill>
                <a:latin typeface="Arial"/>
                <a:ea typeface="Arial"/>
                <a:cs typeface="Arial"/>
              </a:defRPr>
            </a:lvl6pPr>
            <a:lvl7pPr algn="l">
              <a:defRPr sz="2100" b="0">
                <a:solidFill>
                  <a:srgbClr val="172D3D"/>
                </a:solidFill>
                <a:latin typeface="Arial"/>
                <a:ea typeface="Arial"/>
                <a:cs typeface="Arial"/>
              </a:defRPr>
            </a:lvl7pPr>
            <a:lvl8pPr algn="l">
              <a:defRPr sz="2100" b="0">
                <a:solidFill>
                  <a:srgbClr val="172D3D"/>
                </a:solidFill>
                <a:latin typeface="Arial"/>
                <a:ea typeface="Arial"/>
                <a:cs typeface="Arial"/>
              </a:defRPr>
            </a:lvl8pPr>
            <a:lvl9pPr algn="l">
              <a:defRPr sz="2100" b="0">
                <a:solidFill>
                  <a:srgbClr val="172D3D"/>
                </a:solidFill>
                <a:latin typeface="Arial"/>
                <a:ea typeface="Arial"/>
                <a:cs typeface="Arial"/>
              </a:defRPr>
            </a:lvl9pPr>
          </a:lstStyle>
          <a:p xmlns:a="http://schemas.openxmlformats.org/drawingml/2006/main">
            <a:pPr algn="l">
              <a:defRPr sz="2100" b="0">
                <a:solidFill>
                  <a:srgbClr val="172D3D"/>
                </a:solidFill>
                <a:latin typeface="Arial"/>
                <a:ea typeface="Arial"/>
                <a:cs typeface="Arial"/>
              </a:defRPr>
            </a:pPr>
            <a:r>
              <a:rPr sz="2100" b="0">
                <a:solidFill>
                  <a:srgbClr val="172D3D"/>
                </a:solidFill>
                <a:latin typeface="Arial"/>
                <a:ea typeface="Arial"/>
                <a:cs typeface="Arial"/>
              </a:rPr>
              <a:t>Resume, health và phiên bản bundle</a:t>
            </a:r>
          </a:p>
        </p:txBody>
      </p:sp>
      <p:pic>
        <p:nvPicPr>
          <p:cNvPr id="16" name="">
            <a:extLst xmlns:a="http://schemas.openxmlformats.org/drawingml/2006/main">
              <a:ext uri="{FF2B5EF4-FFF2-40B4-BE49-F238E27FC236}">
                <a16:creationId xmlns:a16="http://schemas.microsoft.com/office/drawing/2014/main" id="{1077173C-240B-4A2B-A1C9-1ADE573A65AA}"/>
              </a:ext>
            </a:extLst>
          </p:cNvPr>
          <p:cNvPicPr>
            <a:picLocks xmlns:a="http://schemas.openxmlformats.org/drawingml/2006/main" noChangeAspect="1"/>
          </p:cNvPicPr>
          <p:nvPr/>
        </p:nvPicPr>
        <p:blipFill>
          <a:blip xmlns:r="http://schemas.openxmlformats.org/officeDocument/2006/relationships" xmlns:a="http://schemas.openxmlformats.org/drawingml/2006/main" r:embed="R9634978a8d2e442d"/>
          <a:stretch xmlns:a="http://schemas.openxmlformats.org/drawingml/2006/main"/>
        </p:blipFill>
        <p:spPr>
          <a:xfrm xmlns:a="http://schemas.openxmlformats.org/drawingml/2006/main">
            <a:off x="9097355" y="1952625"/>
            <a:ext cx="1864941" cy="4143375"/>
          </a:xfrm>
          <a:prstGeom xmlns:a="http://schemas.openxmlformats.org/drawingml/2006/main" prst="rect">
            <a:avLst/>
          </a:prstGeom>
        </p:spPr>
      </p:pic>
      <p:sp>
        <p:nvSpPr>
          <p:cNvPr id="17" name="Ảnh bố cục V1">
            <a:extLst xmlns:a="http://schemas.openxmlformats.org/drawingml/2006/main">
              <a:ext uri="{FF2B5EF4-FFF2-40B4-BE49-F238E27FC236}">
                <a16:creationId xmlns:a16="http://schemas.microsoft.com/office/drawing/2014/main" id="{B4F301A8-834A-4997-84E7-AD3B90EBB87A}"/>
              </a:ext>
            </a:extLst>
          </p:cNvPr>
          <p:cNvSpPr>
            <a:spLocks xmlns:a="http://schemas.openxmlformats.org/drawingml/2006/main" noGrp="1"/>
          </p:cNvSpPr>
          <p:nvPr/>
        </p:nvSpPr>
        <p:spPr>
          <a:xfrm xmlns:a="http://schemas.openxmlformats.org/drawingml/2006/main">
            <a:off x="8886825" y="6076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526674"/>
                </a:solidFill>
                <a:latin typeface="Arial"/>
                <a:ea typeface="Arial"/>
                <a:cs typeface="Arial"/>
              </a:defRPr>
            </a:defPPr>
            <a:lvl1pPr algn="ctr">
              <a:defRPr sz="1350" b="0">
                <a:solidFill>
                  <a:srgbClr val="526674"/>
                </a:solidFill>
                <a:latin typeface="Arial"/>
                <a:ea typeface="Arial"/>
                <a:cs typeface="Arial"/>
              </a:defRPr>
            </a:lvl1pPr>
            <a:lvl2pPr algn="ctr">
              <a:defRPr sz="1350" b="0">
                <a:solidFill>
                  <a:srgbClr val="526674"/>
                </a:solidFill>
                <a:latin typeface="Arial"/>
                <a:ea typeface="Arial"/>
                <a:cs typeface="Arial"/>
              </a:defRPr>
            </a:lvl2pPr>
            <a:lvl3pPr algn="ctr">
              <a:defRPr sz="1350" b="0">
                <a:solidFill>
                  <a:srgbClr val="526674"/>
                </a:solidFill>
                <a:latin typeface="Arial"/>
                <a:ea typeface="Arial"/>
                <a:cs typeface="Arial"/>
              </a:defRPr>
            </a:lvl3pPr>
            <a:lvl4pPr algn="ctr">
              <a:defRPr sz="1350" b="0">
                <a:solidFill>
                  <a:srgbClr val="526674"/>
                </a:solidFill>
                <a:latin typeface="Arial"/>
                <a:ea typeface="Arial"/>
                <a:cs typeface="Arial"/>
              </a:defRPr>
            </a:lvl4pPr>
            <a:lvl5pPr algn="ctr">
              <a:defRPr sz="1350" b="0">
                <a:solidFill>
                  <a:srgbClr val="526674"/>
                </a:solidFill>
                <a:latin typeface="Arial"/>
                <a:ea typeface="Arial"/>
                <a:cs typeface="Arial"/>
              </a:defRPr>
            </a:lvl5pPr>
            <a:lvl6pPr algn="ctr">
              <a:defRPr sz="1350" b="0">
                <a:solidFill>
                  <a:srgbClr val="526674"/>
                </a:solidFill>
                <a:latin typeface="Arial"/>
                <a:ea typeface="Arial"/>
                <a:cs typeface="Arial"/>
              </a:defRPr>
            </a:lvl6pPr>
            <a:lvl7pPr algn="ctr">
              <a:defRPr sz="1350" b="0">
                <a:solidFill>
                  <a:srgbClr val="526674"/>
                </a:solidFill>
                <a:latin typeface="Arial"/>
                <a:ea typeface="Arial"/>
                <a:cs typeface="Arial"/>
              </a:defRPr>
            </a:lvl7pPr>
            <a:lvl8pPr algn="ctr">
              <a:defRPr sz="1350" b="0">
                <a:solidFill>
                  <a:srgbClr val="526674"/>
                </a:solidFill>
                <a:latin typeface="Arial"/>
                <a:ea typeface="Arial"/>
                <a:cs typeface="Arial"/>
              </a:defRPr>
            </a:lvl8pPr>
            <a:lvl9pPr algn="ctr">
              <a:defRPr sz="1350" b="0">
                <a:solidFill>
                  <a:srgbClr val="526674"/>
                </a:solidFill>
                <a:latin typeface="Arial"/>
                <a:ea typeface="Arial"/>
                <a:cs typeface="Arial"/>
              </a:defRPr>
            </a:lvl9pPr>
          </a:lstStyle>
          <a:p xmlns:a="http://schemas.openxmlformats.org/drawingml/2006/main">
            <a:pPr algn="ctr">
              <a:defRPr sz="1350" b="0">
                <a:solidFill>
                  <a:srgbClr val="526674"/>
                </a:solidFill>
                <a:latin typeface="Arial"/>
                <a:ea typeface="Arial"/>
                <a:cs typeface="Arial"/>
              </a:defRPr>
            </a:pPr>
            <a:r>
              <a:rPr sz="1350" b="0">
                <a:solidFill>
                  <a:srgbClr val="526674"/>
                </a:solidFill>
                <a:latin typeface="Arial"/>
                <a:ea typeface="Arial"/>
                <a:cs typeface="Arial"/>
              </a:rPr>
              <a:t>Ảnh bố cục V1</a:t>
            </a:r>
          </a:p>
        </p:txBody>
      </p:sp>
    </p:spTree>
    <p:extLst>
      <p:ext uri="{BB962C8B-B14F-4D97-AF65-F5344CB8AC3E}">
        <p14:creationId xmlns:p14="http://schemas.microsoft.com/office/powerpoint/2010/main" val="920665799"/>
      </p:ext>
    </p:extLst>
  </p:cSld>
</p:sld>
</file>

<file path=ppt/slides/slide22.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8B57270-BB8A-4E64-BFA9-F7F8D300748B}"/>
              </a:ext>
            </a:extLst>
          </p:cNvPr>
          <p:cNvPicPr>
            <a:picLocks xmlns:a="http://schemas.openxmlformats.org/drawingml/2006/main" noChangeAspect="1"/>
          </p:cNvPicPr>
          <p:nvPr/>
        </p:nvPicPr>
        <p:blipFill>
          <a:blip xmlns:r="http://schemas.openxmlformats.org/officeDocument/2006/relationships" xmlns:a="http://schemas.openxmlformats.org/drawingml/2006/main" r:embed="R989482b1603548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KẾT LUẬN">
            <a:extLst xmlns:a="http://schemas.openxmlformats.org/drawingml/2006/main">
              <a:ext uri="{FF2B5EF4-FFF2-40B4-BE49-F238E27FC236}">
                <a16:creationId xmlns:a16="http://schemas.microsoft.com/office/drawing/2014/main" id="{2AA7D7C3-060E-4151-960D-98268D731A42}"/>
              </a:ext>
            </a:extLst>
          </p:cNvPr>
          <p:cNvSpPr>
            <a:spLocks xmlns:a="http://schemas.openxmlformats.org/drawingml/2006/main" noGrp="1"/>
          </p:cNvSpPr>
          <p:nvPr/>
        </p:nvSpPr>
        <p:spPr>
          <a:xfrm xmlns:a="http://schemas.openxmlformats.org/drawingml/2006/main">
            <a:off x="609600" y="4476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D6AA67"/>
                </a:solidFill>
                <a:latin typeface="Arial"/>
                <a:ea typeface="Arial"/>
                <a:cs typeface="Arial"/>
              </a:defRPr>
            </a:defPPr>
            <a:lvl1pPr algn="l">
              <a:defRPr sz="1425" b="1">
                <a:solidFill>
                  <a:srgbClr val="D6AA67"/>
                </a:solidFill>
                <a:latin typeface="Arial"/>
                <a:ea typeface="Arial"/>
                <a:cs typeface="Arial"/>
              </a:defRPr>
            </a:lvl1pPr>
            <a:lvl2pPr algn="l">
              <a:defRPr sz="1425" b="1">
                <a:solidFill>
                  <a:srgbClr val="D6AA67"/>
                </a:solidFill>
                <a:latin typeface="Arial"/>
                <a:ea typeface="Arial"/>
                <a:cs typeface="Arial"/>
              </a:defRPr>
            </a:lvl2pPr>
            <a:lvl3pPr algn="l">
              <a:defRPr sz="1425" b="1">
                <a:solidFill>
                  <a:srgbClr val="D6AA67"/>
                </a:solidFill>
                <a:latin typeface="Arial"/>
                <a:ea typeface="Arial"/>
                <a:cs typeface="Arial"/>
              </a:defRPr>
            </a:lvl3pPr>
            <a:lvl4pPr algn="l">
              <a:defRPr sz="1425" b="1">
                <a:solidFill>
                  <a:srgbClr val="D6AA67"/>
                </a:solidFill>
                <a:latin typeface="Arial"/>
                <a:ea typeface="Arial"/>
                <a:cs typeface="Arial"/>
              </a:defRPr>
            </a:lvl4pPr>
            <a:lvl5pPr algn="l">
              <a:defRPr sz="1425" b="1">
                <a:solidFill>
                  <a:srgbClr val="D6AA67"/>
                </a:solidFill>
                <a:latin typeface="Arial"/>
                <a:ea typeface="Arial"/>
                <a:cs typeface="Arial"/>
              </a:defRPr>
            </a:lvl5pPr>
            <a:lvl6pPr algn="l">
              <a:defRPr sz="1425" b="1">
                <a:solidFill>
                  <a:srgbClr val="D6AA67"/>
                </a:solidFill>
                <a:latin typeface="Arial"/>
                <a:ea typeface="Arial"/>
                <a:cs typeface="Arial"/>
              </a:defRPr>
            </a:lvl6pPr>
            <a:lvl7pPr algn="l">
              <a:defRPr sz="1425" b="1">
                <a:solidFill>
                  <a:srgbClr val="D6AA67"/>
                </a:solidFill>
                <a:latin typeface="Arial"/>
                <a:ea typeface="Arial"/>
                <a:cs typeface="Arial"/>
              </a:defRPr>
            </a:lvl7pPr>
            <a:lvl8pPr algn="l">
              <a:defRPr sz="1425" b="1">
                <a:solidFill>
                  <a:srgbClr val="D6AA67"/>
                </a:solidFill>
                <a:latin typeface="Arial"/>
                <a:ea typeface="Arial"/>
                <a:cs typeface="Arial"/>
              </a:defRPr>
            </a:lvl8pPr>
            <a:lvl9pPr algn="l">
              <a:defRPr sz="1425" b="1">
                <a:solidFill>
                  <a:srgbClr val="D6AA67"/>
                </a:solidFill>
                <a:latin typeface="Arial"/>
                <a:ea typeface="Arial"/>
                <a:cs typeface="Arial"/>
              </a:defRPr>
            </a:lvl9pPr>
          </a:lstStyle>
          <a:p xmlns:a="http://schemas.openxmlformats.org/drawingml/2006/main">
            <a:pPr algn="l">
              <a:defRPr sz="1425" b="1">
                <a:solidFill>
                  <a:srgbClr val="D6AA67"/>
                </a:solidFill>
                <a:latin typeface="Arial"/>
                <a:ea typeface="Arial"/>
                <a:cs typeface="Arial"/>
              </a:defRPr>
            </a:pPr>
            <a:r>
              <a:rPr sz="1425" b="1">
                <a:solidFill>
                  <a:srgbClr val="D6AA67"/>
                </a:solidFill>
                <a:latin typeface="Arial"/>
                <a:ea typeface="Arial"/>
                <a:cs typeface="Arial"/>
              </a:rPr>
              <a:t>KẾT LUẬN</a:t>
            </a:r>
          </a:p>
        </p:txBody>
      </p:sp>
      <p:sp>
        <p:nvSpPr>
          <p:cNvPr id="3" name="Quy trình V2 đã hoàn thiện">
            <a:extLst xmlns:a="http://schemas.openxmlformats.org/drawingml/2006/main">
              <a:ext uri="{FF2B5EF4-FFF2-40B4-BE49-F238E27FC236}">
                <a16:creationId xmlns:a16="http://schemas.microsoft.com/office/drawing/2014/main" id="{3B9702B9-34FE-4486-8321-2B9BDDA254F9}"/>
              </a:ext>
            </a:extLst>
          </p:cNvPr>
          <p:cNvSpPr>
            <a:spLocks xmlns:a="http://schemas.openxmlformats.org/drawingml/2006/main" noGrp="1"/>
          </p:cNvSpPr>
          <p:nvPr/>
        </p:nvSpPr>
        <p:spPr>
          <a:xfrm xmlns:a="http://schemas.openxmlformats.org/drawingml/2006/main">
            <a:off x="609600" y="11620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Quy trình V2 đã hoàn thiện</a:t>
            </a:r>
          </a:p>
        </p:txBody>
      </p:sp>
      <p:sp>
        <p:nvSpPr>
          <p:cNvPr id="4" name="Snapshot có nguồn gốc, đánh giá cùng giao thức&#10;và luồng ứng dụng ">
            <a:extLst xmlns:a="http://schemas.openxmlformats.org/drawingml/2006/main">
              <a:ext uri="{FF2B5EF4-FFF2-40B4-BE49-F238E27FC236}">
                <a16:creationId xmlns:a16="http://schemas.microsoft.com/office/drawing/2014/main" id="{928CA097-E35A-44F5-9EA6-DA66BEF40EA7}"/>
              </a:ext>
            </a:extLst>
          </p:cNvPr>
          <p:cNvSpPr>
            <a:spLocks xmlns:a="http://schemas.openxmlformats.org/drawingml/2006/main" noGrp="1"/>
          </p:cNvSpPr>
          <p:nvPr/>
        </p:nvSpPr>
        <p:spPr>
          <a:xfrm xmlns:a="http://schemas.openxmlformats.org/drawingml/2006/main">
            <a:off x="628650" y="20764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Snapshot có nguồn gốc, đánh giá cùng giao thức</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và luồng ứng dụng có kiểm thử</a:t>
            </a:r>
          </a:p>
        </p:txBody>
      </p:sp>
      <p:sp>
        <p:nvSpPr>
          <p:cNvPr id="5" name="Hybrid chưa vượt MostPopular">
            <a:extLst xmlns:a="http://schemas.openxmlformats.org/drawingml/2006/main">
              <a:ext uri="{FF2B5EF4-FFF2-40B4-BE49-F238E27FC236}">
                <a16:creationId xmlns:a16="http://schemas.microsoft.com/office/drawing/2014/main" id="{90842036-719A-4C80-89A2-CC0AAA6AD564}"/>
              </a:ext>
            </a:extLst>
          </p:cNvPr>
          <p:cNvSpPr>
            <a:spLocks xmlns:a="http://schemas.openxmlformats.org/drawingml/2006/main" noGrp="1"/>
          </p:cNvSpPr>
          <p:nvPr/>
        </p:nvSpPr>
        <p:spPr>
          <a:xfrm xmlns:a="http://schemas.openxmlformats.org/drawingml/2006/main">
            <a:off x="609600" y="33813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D6AA67"/>
                </a:solidFill>
                <a:latin typeface="Arial"/>
                <a:ea typeface="Arial"/>
                <a:cs typeface="Arial"/>
              </a:defRPr>
            </a:defPPr>
            <a:lvl1pPr algn="l">
              <a:defRPr sz="2475" b="1">
                <a:solidFill>
                  <a:srgbClr val="D6AA67"/>
                </a:solidFill>
                <a:latin typeface="Arial"/>
                <a:ea typeface="Arial"/>
                <a:cs typeface="Arial"/>
              </a:defRPr>
            </a:lvl1pPr>
            <a:lvl2pPr algn="l">
              <a:defRPr sz="2475" b="1">
                <a:solidFill>
                  <a:srgbClr val="D6AA67"/>
                </a:solidFill>
                <a:latin typeface="Arial"/>
                <a:ea typeface="Arial"/>
                <a:cs typeface="Arial"/>
              </a:defRPr>
            </a:lvl2pPr>
            <a:lvl3pPr algn="l">
              <a:defRPr sz="2475" b="1">
                <a:solidFill>
                  <a:srgbClr val="D6AA67"/>
                </a:solidFill>
                <a:latin typeface="Arial"/>
                <a:ea typeface="Arial"/>
                <a:cs typeface="Arial"/>
              </a:defRPr>
            </a:lvl3pPr>
            <a:lvl4pPr algn="l">
              <a:defRPr sz="2475" b="1">
                <a:solidFill>
                  <a:srgbClr val="D6AA67"/>
                </a:solidFill>
                <a:latin typeface="Arial"/>
                <a:ea typeface="Arial"/>
                <a:cs typeface="Arial"/>
              </a:defRPr>
            </a:lvl4pPr>
            <a:lvl5pPr algn="l">
              <a:defRPr sz="2475" b="1">
                <a:solidFill>
                  <a:srgbClr val="D6AA67"/>
                </a:solidFill>
                <a:latin typeface="Arial"/>
                <a:ea typeface="Arial"/>
                <a:cs typeface="Arial"/>
              </a:defRPr>
            </a:lvl5pPr>
            <a:lvl6pPr algn="l">
              <a:defRPr sz="2475" b="1">
                <a:solidFill>
                  <a:srgbClr val="D6AA67"/>
                </a:solidFill>
                <a:latin typeface="Arial"/>
                <a:ea typeface="Arial"/>
                <a:cs typeface="Arial"/>
              </a:defRPr>
            </a:lvl6pPr>
            <a:lvl7pPr algn="l">
              <a:defRPr sz="2475" b="1">
                <a:solidFill>
                  <a:srgbClr val="D6AA67"/>
                </a:solidFill>
                <a:latin typeface="Arial"/>
                <a:ea typeface="Arial"/>
                <a:cs typeface="Arial"/>
              </a:defRPr>
            </a:lvl7pPr>
            <a:lvl8pPr algn="l">
              <a:defRPr sz="2475" b="1">
                <a:solidFill>
                  <a:srgbClr val="D6AA67"/>
                </a:solidFill>
                <a:latin typeface="Arial"/>
                <a:ea typeface="Arial"/>
                <a:cs typeface="Arial"/>
              </a:defRPr>
            </a:lvl8pPr>
            <a:lvl9pPr algn="l">
              <a:defRPr sz="2475" b="1">
                <a:solidFill>
                  <a:srgbClr val="D6AA67"/>
                </a:solidFill>
                <a:latin typeface="Arial"/>
                <a:ea typeface="Arial"/>
                <a:cs typeface="Arial"/>
              </a:defRPr>
            </a:lvl9pPr>
          </a:lstStyle>
          <a:p xmlns:a="http://schemas.openxmlformats.org/drawingml/2006/main">
            <a:pPr algn="l">
              <a:defRPr sz="2475" b="1">
                <a:solidFill>
                  <a:srgbClr val="D6AA67"/>
                </a:solidFill>
                <a:latin typeface="Arial"/>
                <a:ea typeface="Arial"/>
                <a:cs typeface="Arial"/>
              </a:defRPr>
            </a:pPr>
            <a:r>
              <a:rPr sz="2475" b="1">
                <a:solidFill>
                  <a:srgbClr val="D6AA67"/>
                </a:solidFill>
                <a:latin typeface="Arial"/>
                <a:ea typeface="Arial"/>
                <a:cs typeface="Arial"/>
              </a:rPr>
              <a:t>Hybrid chưa vượt MostPopular</a:t>
            </a:r>
          </a:p>
        </p:txBody>
      </p:sp>
      <p:sp>
        <p:nvSpPr>
          <p:cNvPr id="6" name="Hướng tiếp theo là tối ưu ranking và xác nhận&#10;trên mẫu hoặc cửa s">
            <a:extLst xmlns:a="http://schemas.openxmlformats.org/drawingml/2006/main">
              <a:ext uri="{FF2B5EF4-FFF2-40B4-BE49-F238E27FC236}">
                <a16:creationId xmlns:a16="http://schemas.microsoft.com/office/drawing/2014/main" id="{81D653F0-562C-4110-9D66-B6007DC5592D}"/>
              </a:ext>
            </a:extLst>
          </p:cNvPr>
          <p:cNvSpPr>
            <a:spLocks xmlns:a="http://schemas.openxmlformats.org/drawingml/2006/main" noGrp="1"/>
          </p:cNvSpPr>
          <p:nvPr/>
        </p:nvSpPr>
        <p:spPr>
          <a:xfrm xmlns:a="http://schemas.openxmlformats.org/drawingml/2006/main">
            <a:off x="628650" y="417195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1E9"/>
                </a:solidFill>
                <a:latin typeface="Arial"/>
                <a:ea typeface="Arial"/>
                <a:cs typeface="Arial"/>
              </a:defRPr>
            </a:defPPr>
            <a:lvl1pPr algn="l">
              <a:defRPr sz="2100" b="0">
                <a:solidFill>
                  <a:srgbClr val="F5F1E9"/>
                </a:solidFill>
                <a:latin typeface="Arial"/>
                <a:ea typeface="Arial"/>
                <a:cs typeface="Arial"/>
              </a:defRPr>
            </a:lvl1pPr>
            <a:lvl2pPr algn="l">
              <a:defRPr sz="2100" b="0">
                <a:solidFill>
                  <a:srgbClr val="F5F1E9"/>
                </a:solidFill>
                <a:latin typeface="Arial"/>
                <a:ea typeface="Arial"/>
                <a:cs typeface="Arial"/>
              </a:defRPr>
            </a:lvl2pPr>
            <a:lvl3pPr algn="l">
              <a:defRPr sz="2100" b="0">
                <a:solidFill>
                  <a:srgbClr val="F5F1E9"/>
                </a:solidFill>
                <a:latin typeface="Arial"/>
                <a:ea typeface="Arial"/>
                <a:cs typeface="Arial"/>
              </a:defRPr>
            </a:lvl3pPr>
            <a:lvl4pPr algn="l">
              <a:defRPr sz="2100" b="0">
                <a:solidFill>
                  <a:srgbClr val="F5F1E9"/>
                </a:solidFill>
                <a:latin typeface="Arial"/>
                <a:ea typeface="Arial"/>
                <a:cs typeface="Arial"/>
              </a:defRPr>
            </a:lvl4pPr>
            <a:lvl5pPr algn="l">
              <a:defRPr sz="2100" b="0">
                <a:solidFill>
                  <a:srgbClr val="F5F1E9"/>
                </a:solidFill>
                <a:latin typeface="Arial"/>
                <a:ea typeface="Arial"/>
                <a:cs typeface="Arial"/>
              </a:defRPr>
            </a:lvl5pPr>
            <a:lvl6pPr algn="l">
              <a:defRPr sz="2100" b="0">
                <a:solidFill>
                  <a:srgbClr val="F5F1E9"/>
                </a:solidFill>
                <a:latin typeface="Arial"/>
                <a:ea typeface="Arial"/>
                <a:cs typeface="Arial"/>
              </a:defRPr>
            </a:lvl6pPr>
            <a:lvl7pPr algn="l">
              <a:defRPr sz="2100" b="0">
                <a:solidFill>
                  <a:srgbClr val="F5F1E9"/>
                </a:solidFill>
                <a:latin typeface="Arial"/>
                <a:ea typeface="Arial"/>
                <a:cs typeface="Arial"/>
              </a:defRPr>
            </a:lvl7pPr>
            <a:lvl8pPr algn="l">
              <a:defRPr sz="2100" b="0">
                <a:solidFill>
                  <a:srgbClr val="F5F1E9"/>
                </a:solidFill>
                <a:latin typeface="Arial"/>
                <a:ea typeface="Arial"/>
                <a:cs typeface="Arial"/>
              </a:defRPr>
            </a:lvl8pPr>
            <a:lvl9pPr algn="l">
              <a:defRPr sz="2100" b="0">
                <a:solidFill>
                  <a:srgbClr val="F5F1E9"/>
                </a:solidFill>
                <a:latin typeface="Arial"/>
                <a:ea typeface="Arial"/>
                <a:cs typeface="Arial"/>
              </a:defRPr>
            </a:lvl9pPr>
          </a:lstStyle>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Hướng tiếp theo là tối ưu ranking và xác nhận</a:t>
            </a:r>
          </a:p>
          <a:p xmlns:a="http://schemas.openxmlformats.org/drawingml/2006/main">
            <a:pPr algn="l">
              <a:defRPr sz="2100" b="0">
                <a:solidFill>
                  <a:srgbClr val="F5F1E9"/>
                </a:solidFill>
                <a:latin typeface="Arial"/>
                <a:ea typeface="Arial"/>
                <a:cs typeface="Arial"/>
              </a:defRPr>
            </a:pPr>
            <a:r>
              <a:rPr sz="2100" b="0">
                <a:solidFill>
                  <a:srgbClr val="F5F1E9"/>
                </a:solidFill>
                <a:latin typeface="Arial"/>
                <a:ea typeface="Arial"/>
                <a:cs typeface="Arial"/>
              </a:rPr>
              <a:t>trên mẫu hoặc cửa sổ thời gian độc lập</a:t>
            </a:r>
          </a:p>
        </p:txBody>
      </p:sp>
      <p:sp>
        <p:nvSpPr>
          <p:cNvPr id="7" name="Cảm ơn thầy cô">
            <a:extLst xmlns:a="http://schemas.openxmlformats.org/drawingml/2006/main">
              <a:ext uri="{FF2B5EF4-FFF2-40B4-BE49-F238E27FC236}">
                <a16:creationId xmlns:a16="http://schemas.microsoft.com/office/drawing/2014/main" id="{8662A563-C3F2-42B2-96D2-71732D605B97}"/>
              </a:ext>
            </a:extLst>
          </p:cNvPr>
          <p:cNvSpPr>
            <a:spLocks xmlns:a="http://schemas.openxmlformats.org/drawingml/2006/main" noGrp="1"/>
          </p:cNvSpPr>
          <p:nvPr/>
        </p:nvSpPr>
        <p:spPr>
          <a:xfrm xmlns:a="http://schemas.openxmlformats.org/drawingml/2006/main">
            <a:off x="609600" y="55435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Cảm ơn thầy cô</a:t>
            </a:r>
          </a:p>
        </p:txBody>
      </p:sp>
      <p:sp>
        <p:nvSpPr>
          <p:cNvPr id="8" name="Trao đổi và góp ý">
            <a:extLst xmlns:a="http://schemas.openxmlformats.org/drawingml/2006/main">
              <a:ext uri="{FF2B5EF4-FFF2-40B4-BE49-F238E27FC236}">
                <a16:creationId xmlns:a16="http://schemas.microsoft.com/office/drawing/2014/main" id="{EB0C433C-D683-471A-AFAE-3E36EB3295EC}"/>
              </a:ext>
            </a:extLst>
          </p:cNvPr>
          <p:cNvSpPr>
            <a:spLocks xmlns:a="http://schemas.openxmlformats.org/drawingml/2006/main" noGrp="1"/>
          </p:cNvSpPr>
          <p:nvPr/>
        </p:nvSpPr>
        <p:spPr>
          <a:xfrm xmlns:a="http://schemas.openxmlformats.org/drawingml/2006/main">
            <a:off x="628650" y="63055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7C6CD"/>
                </a:solidFill>
                <a:latin typeface="Arial"/>
                <a:ea typeface="Arial"/>
                <a:cs typeface="Arial"/>
              </a:defRPr>
            </a:defPPr>
            <a:lvl1pPr algn="l">
              <a:defRPr sz="1800" b="0">
                <a:solidFill>
                  <a:srgbClr val="B7C6CD"/>
                </a:solidFill>
                <a:latin typeface="Arial"/>
                <a:ea typeface="Arial"/>
                <a:cs typeface="Arial"/>
              </a:defRPr>
            </a:lvl1pPr>
            <a:lvl2pPr algn="l">
              <a:defRPr sz="1800" b="0">
                <a:solidFill>
                  <a:srgbClr val="B7C6CD"/>
                </a:solidFill>
                <a:latin typeface="Arial"/>
                <a:ea typeface="Arial"/>
                <a:cs typeface="Arial"/>
              </a:defRPr>
            </a:lvl2pPr>
            <a:lvl3pPr algn="l">
              <a:defRPr sz="1800" b="0">
                <a:solidFill>
                  <a:srgbClr val="B7C6CD"/>
                </a:solidFill>
                <a:latin typeface="Arial"/>
                <a:ea typeface="Arial"/>
                <a:cs typeface="Arial"/>
              </a:defRPr>
            </a:lvl3pPr>
            <a:lvl4pPr algn="l">
              <a:defRPr sz="1800" b="0">
                <a:solidFill>
                  <a:srgbClr val="B7C6CD"/>
                </a:solidFill>
                <a:latin typeface="Arial"/>
                <a:ea typeface="Arial"/>
                <a:cs typeface="Arial"/>
              </a:defRPr>
            </a:lvl4pPr>
            <a:lvl5pPr algn="l">
              <a:defRPr sz="1800" b="0">
                <a:solidFill>
                  <a:srgbClr val="B7C6CD"/>
                </a:solidFill>
                <a:latin typeface="Arial"/>
                <a:ea typeface="Arial"/>
                <a:cs typeface="Arial"/>
              </a:defRPr>
            </a:lvl5pPr>
            <a:lvl6pPr algn="l">
              <a:defRPr sz="1800" b="0">
                <a:solidFill>
                  <a:srgbClr val="B7C6CD"/>
                </a:solidFill>
                <a:latin typeface="Arial"/>
                <a:ea typeface="Arial"/>
                <a:cs typeface="Arial"/>
              </a:defRPr>
            </a:lvl6pPr>
            <a:lvl7pPr algn="l">
              <a:defRPr sz="1800" b="0">
                <a:solidFill>
                  <a:srgbClr val="B7C6CD"/>
                </a:solidFill>
                <a:latin typeface="Arial"/>
                <a:ea typeface="Arial"/>
                <a:cs typeface="Arial"/>
              </a:defRPr>
            </a:lvl7pPr>
            <a:lvl8pPr algn="l">
              <a:defRPr sz="1800" b="0">
                <a:solidFill>
                  <a:srgbClr val="B7C6CD"/>
                </a:solidFill>
                <a:latin typeface="Arial"/>
                <a:ea typeface="Arial"/>
                <a:cs typeface="Arial"/>
              </a:defRPr>
            </a:lvl8pPr>
            <a:lvl9pPr algn="l">
              <a:defRPr sz="1800" b="0">
                <a:solidFill>
                  <a:srgbClr val="B7C6CD"/>
                </a:solidFill>
                <a:latin typeface="Arial"/>
                <a:ea typeface="Arial"/>
                <a:cs typeface="Arial"/>
              </a:defRPr>
            </a:lvl9pPr>
          </a:lstStyle>
          <a:p xmlns:a="http://schemas.openxmlformats.org/drawingml/2006/main">
            <a:pPr algn="l">
              <a:defRPr sz="1800" b="0">
                <a:solidFill>
                  <a:srgbClr val="B7C6CD"/>
                </a:solidFill>
                <a:latin typeface="Arial"/>
                <a:ea typeface="Arial"/>
                <a:cs typeface="Arial"/>
              </a:defRPr>
            </a:pPr>
            <a:r>
              <a:rPr sz="1800" b="0">
                <a:solidFill>
                  <a:srgbClr val="B7C6CD"/>
                </a:solidFill>
                <a:latin typeface="Arial"/>
                <a:ea typeface="Arial"/>
                <a:cs typeface="Arial"/>
              </a:rPr>
              <a:t>Trao đổi và góp ý</a:t>
            </a:r>
          </a:p>
        </p:txBody>
      </p:sp>
    </p:spTree>
    <p:extLst>
      <p:ext uri="{BB962C8B-B14F-4D97-AF65-F5344CB8AC3E}">
        <p14:creationId xmlns:p14="http://schemas.microsoft.com/office/powerpoint/2010/main" val="6995872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2026-10-19T05:49:31.3050000Z</dcterms:created>
  <dcterms:modified xsi:type="dcterms:W3CDTF">2026-10-19T05:49:31.3050000Z</dcterms:modified>
</coreProperties>
</file>